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five answers, in the order the prompt asks them. The app's tabs run in the same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tabs in the app run in this order, so nothing has to be hunted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skills. The answer is not the list, it is which band you look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target is attached to a real business driver, not a guess about technology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person at Marshall knows frozen dough formulation. That is the slide judges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Frozen dough wins because it is the only skill held by one person and it scores 4 of 5 on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first steps and sixteen backups, covering every method the prompt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objection is always the data. Answer it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2E54"/>
          </a:solidFill>
          <a:ln w="12700">
            <a:solidFill>
              <a:srgbClr val="232E54"/>
            </a:solidFill>
            <a:prstDash val="solid"/>
          </a:ln>
        </p:spPr>
      </p:sp>
      <p:sp>
        <p:nvSpPr>
          <p:cNvPr id="3" name="Shape 1"/>
          <p:cNvSpPr/>
          <p:nvPr/>
        </p:nvSpPr>
        <p:spPr>
          <a:xfrm>
            <a:off x="-457200" y="6766560"/>
            <a:ext cx="8412480" cy="4023360"/>
          </a:xfrm>
          <a:prstGeom prst="rect">
            <a:avLst/>
          </a:prstGeom>
          <a:solidFill>
            <a:srgbClr val="324070"/>
          </a:solidFill>
          <a:ln w="12700">
            <a:solidFill>
              <a:srgbClr val="324070"/>
            </a:solidFill>
            <a:prstDash val="solid"/>
          </a:ln>
        </p:spPr>
      </p:sp>
      <p:sp>
        <p:nvSpPr>
          <p:cNvPr id="4" name="Text 2"/>
          <p:cNvSpPr txBox="1"/>
          <p:nvPr/>
        </p:nvSpPr>
        <p:spPr>
          <a:xfrm>
            <a:off x="1280160" y="2286000"/>
            <a:ext cx="8412480" cy="2011680"/>
          </a:xfrm>
          <a:prstGeom prst="rect">
            <a:avLst/>
          </a:prstGeom>
          <a:noFill/>
          <a:ln/>
        </p:spPr>
        <p:txBody>
          <a:bodyPr wrap="square" lIns="0" tIns="0" rIns="0" bIns="0" rtlCol="0" anchor="ctr"/>
          <a:lstStyle/>
          <a:p>
            <a:pPr indent="0" marL="0">
              <a:lnSpc>
                <a:spcPct val="90000"/>
              </a:lnSpc>
              <a:buNone/>
            </a:pPr>
            <a:r>
              <a:rPr lang="en-US" sz="11600" dirty="0">
                <a:solidFill>
                  <a:srgbClr val="FFFFFF"/>
                </a:solidFill>
                <a:latin typeface="Bahnschrift SemiBold" pitchFamily="34" charset="0"/>
                <a:ea typeface="Bahnschrift SemiBold" pitchFamily="34" charset="-122"/>
                <a:cs typeface="Bahnschrift SemiBold" pitchFamily="34" charset="-120"/>
              </a:rPr>
              <a:t>SkillSight</a:t>
            </a:r>
            <a:endParaRPr lang="en-US" sz="11600" dirty="0"/>
          </a:p>
        </p:txBody>
      </p:sp>
      <p:sp>
        <p:nvSpPr>
          <p:cNvPr id="5" name="Shape 3"/>
          <p:cNvSpPr/>
          <p:nvPr/>
        </p:nvSpPr>
        <p:spPr>
          <a:xfrm>
            <a:off x="1280160" y="4526280"/>
            <a:ext cx="5852160" cy="0"/>
          </a:xfrm>
          <a:prstGeom prst="line">
            <a:avLst/>
          </a:prstGeom>
          <a:noFill/>
          <a:ln w="25400">
            <a:solidFill>
              <a:srgbClr val="44528A"/>
            </a:solidFill>
            <a:prstDash val="solid"/>
          </a:ln>
        </p:spPr>
      </p:sp>
      <p:sp>
        <p:nvSpPr>
          <p:cNvPr id="6" name="Text 4"/>
          <p:cNvSpPr txBox="1"/>
          <p:nvPr/>
        </p:nvSpPr>
        <p:spPr>
          <a:xfrm>
            <a:off x="1280160" y="4754880"/>
            <a:ext cx="11887200" cy="548640"/>
          </a:xfrm>
          <a:prstGeom prst="rect">
            <a:avLst/>
          </a:prstGeom>
          <a:noFill/>
          <a:ln/>
        </p:spPr>
        <p:txBody>
          <a:bodyPr wrap="square" lIns="0" tIns="0" rIns="0" bIns="0" rtlCol="0" anchor="ctr"/>
          <a:lstStyle/>
          <a:p>
            <a:pPr indent="0" marL="0">
              <a:buNone/>
            </a:pPr>
            <a:r>
              <a:rPr lang="en-US" sz="2000" b="1" spc="600" kern="0" dirty="0">
                <a:solidFill>
                  <a:srgbClr val="FFFFFF"/>
                </a:solidFill>
                <a:latin typeface="Calibri" pitchFamily="34" charset="0"/>
                <a:ea typeface="Calibri" pitchFamily="34" charset="-122"/>
                <a:cs typeface="Calibri" pitchFamily="34" charset="-120"/>
              </a:rPr>
              <a:t>THE FIVE QUESTIONS, ANSWERED IN ORDER</a:t>
            </a:r>
            <a:endParaRPr lang="en-US" sz="2000" dirty="0"/>
          </a:p>
        </p:txBody>
      </p:sp>
      <p:sp>
        <p:nvSpPr>
          <p:cNvPr id="7" name="Text 5"/>
          <p:cNvSpPr txBox="1"/>
          <p:nvPr/>
        </p:nvSpPr>
        <p:spPr>
          <a:xfrm>
            <a:off x="1280160" y="5577840"/>
            <a:ext cx="10515600" cy="1280160"/>
          </a:xfrm>
          <a:prstGeom prst="rect">
            <a:avLst/>
          </a:prstGeom>
          <a:noFill/>
          <a:ln/>
        </p:spPr>
        <p:txBody>
          <a:bodyPr wrap="square" lIns="0" tIns="0" rIns="0" bIns="0" rtlCol="0" anchor="ctr"/>
          <a:lstStyle/>
          <a:p>
            <a:pPr indent="0" marL="0">
              <a:lnSpc>
                <a:spcPct val="135000"/>
              </a:lnSpc>
              <a:buNone/>
            </a:pPr>
            <a:r>
              <a:rPr lang="en-US" sz="2100" dirty="0">
                <a:solidFill>
                  <a:srgbClr val="B9C2D4"/>
                </a:solidFill>
                <a:latin typeface="Calibri" pitchFamily="34" charset="0"/>
                <a:ea typeface="Calibri" pitchFamily="34" charset="-122"/>
                <a:cs typeface="Calibri" pitchFamily="34" charset="-120"/>
              </a:rPr>
              <a:t>What skills Schwan's has, what it will need, who holds the rare ones,</a:t>
            </a:r>
            <a:endParaRPr lang="en-US" sz="2100" dirty="0"/>
          </a:p>
          <a:p>
            <a:pPr indent="0" marL="0">
              <a:lnSpc>
                <a:spcPct val="135000"/>
              </a:lnSpc>
              <a:buNone/>
            </a:pPr>
            <a:r>
              <a:rPr lang="en-US" sz="2100" dirty="0">
                <a:solidFill>
                  <a:srgbClr val="B9C2D4"/>
                </a:solidFill>
                <a:latin typeface="Calibri" pitchFamily="34" charset="0"/>
                <a:ea typeface="Calibri" pitchFamily="34" charset="-122"/>
                <a:cs typeface="Calibri" pitchFamily="34" charset="-120"/>
              </a:rPr>
              <a:t>what to fix first, and how one person closes a gap.</a:t>
            </a:r>
            <a:endParaRPr lang="en-US" sz="2100" dirty="0"/>
          </a:p>
        </p:txBody>
      </p:sp>
      <p:sp>
        <p:nvSpPr>
          <p:cNvPr id="8" name="Text 6"/>
          <p:cNvSpPr txBox="1"/>
          <p:nvPr/>
        </p:nvSpPr>
        <p:spPr>
          <a:xfrm>
            <a:off x="14996160" y="2194560"/>
            <a:ext cx="2011680" cy="1645920"/>
          </a:xfrm>
          <a:prstGeom prst="rect">
            <a:avLst/>
          </a:prstGeom>
          <a:noFill/>
          <a:ln/>
        </p:spPr>
        <p:txBody>
          <a:bodyPr wrap="square" lIns="0" tIns="0" rIns="0" bIns="0" rtlCol="0" anchor="ctr"/>
          <a:lstStyle/>
          <a:p>
            <a:pPr algn="r" indent="0" marL="0">
              <a:buNone/>
            </a:pPr>
            <a:r>
              <a:rPr lang="en-US" sz="9200" dirty="0">
                <a:solidFill>
                  <a:srgbClr val="324070"/>
                </a:solidFill>
                <a:latin typeface="Bahnschrift Light" pitchFamily="34" charset="0"/>
                <a:ea typeface="Bahnschrift Light" pitchFamily="34" charset="-122"/>
                <a:cs typeface="Bahnschrift Light" pitchFamily="34" charset="-120"/>
              </a:rPr>
              <a:t>01</a:t>
            </a:r>
            <a:endParaRPr lang="en-US" sz="9200" dirty="0"/>
          </a:p>
        </p:txBody>
      </p:sp>
      <p:sp>
        <p:nvSpPr>
          <p:cNvPr id="9" name="Shape 7"/>
          <p:cNvSpPr/>
          <p:nvPr/>
        </p:nvSpPr>
        <p:spPr>
          <a:xfrm>
            <a:off x="16047720" y="3749040"/>
            <a:ext cx="960120" cy="0"/>
          </a:xfrm>
          <a:prstGeom prst="line">
            <a:avLst/>
          </a:prstGeom>
          <a:noFill/>
          <a:ln w="25400">
            <a:solidFill>
              <a:srgbClr val="44528A"/>
            </a:solidFill>
            <a:prstDash val="solid"/>
          </a:ln>
        </p:spPr>
      </p:sp>
      <p:sp>
        <p:nvSpPr>
          <p:cNvPr id="10" name="Text 8"/>
          <p:cNvSpPr txBox="1"/>
          <p:nvPr/>
        </p:nvSpPr>
        <p:spPr>
          <a:xfrm>
            <a:off x="14996160" y="3931920"/>
            <a:ext cx="2011680" cy="1645920"/>
          </a:xfrm>
          <a:prstGeom prst="rect">
            <a:avLst/>
          </a:prstGeom>
          <a:noFill/>
          <a:ln/>
        </p:spPr>
        <p:txBody>
          <a:bodyPr wrap="square" lIns="0" tIns="0" rIns="0" bIns="0" rtlCol="0" anchor="ctr"/>
          <a:lstStyle/>
          <a:p>
            <a:pPr algn="r" indent="0" marL="0">
              <a:buNone/>
            </a:pPr>
            <a:r>
              <a:rPr lang="en-US" sz="9200" dirty="0">
                <a:solidFill>
                  <a:srgbClr val="324070"/>
                </a:solidFill>
                <a:latin typeface="Bahnschrift Light" pitchFamily="34" charset="0"/>
                <a:ea typeface="Bahnschrift Light" pitchFamily="34" charset="-122"/>
                <a:cs typeface="Bahnschrift Light" pitchFamily="34" charset="-120"/>
              </a:rPr>
              <a:t>05</a:t>
            </a:r>
            <a:endParaRPr lang="en-US" sz="9200" dirty="0"/>
          </a:p>
        </p:txBody>
      </p:sp>
      <p:sp>
        <p:nvSpPr>
          <p:cNvPr id="11" name="Text 9"/>
          <p:cNvSpPr txBox="1"/>
          <p:nvPr/>
        </p:nvSpPr>
        <p:spPr>
          <a:xfrm>
            <a:off x="1280160" y="8686800"/>
            <a:ext cx="8229600" cy="365760"/>
          </a:xfrm>
          <a:prstGeom prst="rect">
            <a:avLst/>
          </a:prstGeom>
          <a:noFill/>
          <a:ln/>
        </p:spPr>
        <p:txBody>
          <a:bodyPr wrap="square" lIns="0" tIns="0" rIns="0" bIns="0" rtlCol="0" anchor="ctr"/>
          <a:lstStyle/>
          <a:p>
            <a:pPr indent="0" marL="0">
              <a:buNone/>
            </a:pPr>
            <a:r>
              <a:rPr lang="en-US" sz="1300" b="1" spc="300" kern="0" dirty="0">
                <a:solidFill>
                  <a:srgbClr val="8E98AE"/>
                </a:solidFill>
                <a:latin typeface="Calibri" pitchFamily="34" charset="0"/>
                <a:ea typeface="Calibri" pitchFamily="34" charset="-122"/>
                <a:cs typeface="Calibri" pitchFamily="34" charset="-120"/>
              </a:rPr>
              <a:t>SOUTHWEST MN HACKS 2026</a:t>
            </a:r>
            <a:endParaRPr lang="en-US" sz="1300" dirty="0"/>
          </a:p>
        </p:txBody>
      </p:sp>
      <p:sp>
        <p:nvSpPr>
          <p:cNvPr id="12" name="Text 10"/>
          <p:cNvSpPr txBox="1"/>
          <p:nvPr/>
        </p:nvSpPr>
        <p:spPr>
          <a:xfrm>
            <a:off x="1280160" y="9098280"/>
            <a:ext cx="12801600" cy="4572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Schwan's Prompt 01  ·  Talent Readiness and Skills Intelligence  ·  Ajay Angdembe, solo</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6583680" cy="10287000"/>
          </a:xfrm>
          <a:prstGeom prst="rect">
            <a:avLst/>
          </a:prstGeom>
          <a:solidFill>
            <a:srgbClr val="EEF2F5"/>
          </a:solidFill>
          <a:ln w="12700">
            <a:solidFill>
              <a:srgbClr val="EEF2F5"/>
            </a:solidFill>
            <a:prstDash val="solid"/>
          </a:ln>
        </p:spPr>
      </p:sp>
      <p:sp>
        <p:nvSpPr>
          <p:cNvPr id="3" name="Text 1"/>
          <p:cNvSpPr txBox="1"/>
          <p:nvPr/>
        </p:nvSpPr>
        <p:spPr>
          <a:xfrm>
            <a:off x="1280160" y="914400"/>
            <a:ext cx="4572000" cy="365760"/>
          </a:xfrm>
          <a:prstGeom prst="rect">
            <a:avLst/>
          </a:prstGeom>
          <a:noFill/>
          <a:ln/>
        </p:spPr>
        <p:txBody>
          <a:bodyPr wrap="square" lIns="0" tIns="0" rIns="0" bIns="0" rtlCol="0" anchor="ctr"/>
          <a:lstStyle/>
          <a:p>
            <a:pPr indent="0" marL="0">
              <a:buNone/>
            </a:pPr>
            <a:r>
              <a:rPr lang="en-US" sz="1300" b="1" spc="300" kern="0" dirty="0">
                <a:solidFill>
                  <a:srgbClr val="6E7788"/>
                </a:solidFill>
                <a:latin typeface="Calibri" pitchFamily="34" charset="0"/>
                <a:ea typeface="Calibri" pitchFamily="34" charset="-122"/>
                <a:cs typeface="Calibri" pitchFamily="34" charset="-120"/>
              </a:rPr>
              <a:t>CONTENTS</a:t>
            </a:r>
            <a:endParaRPr lang="en-US" sz="1300" dirty="0"/>
          </a:p>
        </p:txBody>
      </p:sp>
      <p:sp>
        <p:nvSpPr>
          <p:cNvPr id="4" name="Text 2"/>
          <p:cNvSpPr txBox="1"/>
          <p:nvPr/>
        </p:nvSpPr>
        <p:spPr>
          <a:xfrm>
            <a:off x="1280160" y="1463040"/>
            <a:ext cx="4937760" cy="2377440"/>
          </a:xfrm>
          <a:prstGeom prst="rect">
            <a:avLst/>
          </a:prstGeom>
          <a:noFill/>
          <a:ln/>
        </p:spPr>
        <p:txBody>
          <a:bodyPr wrap="square" lIns="0" tIns="0" rIns="0" bIns="0" rtlCol="0" anchor="ctr"/>
          <a:lstStyle/>
          <a:p>
            <a:pPr indent="0" marL="0">
              <a:lnSpc>
                <a:spcPct val="105000"/>
              </a:lnSpc>
              <a:buNone/>
            </a:pPr>
            <a:r>
              <a:rPr lang="en-US" sz="4400" dirty="0">
                <a:solidFill>
                  <a:srgbClr val="232E54"/>
                </a:solidFill>
                <a:latin typeface="Bahnschrift SemiBold" pitchFamily="34" charset="0"/>
                <a:ea typeface="Bahnschrift SemiBold" pitchFamily="34" charset="-122"/>
                <a:cs typeface="Bahnschrift SemiBold" pitchFamily="34" charset="-120"/>
              </a:rPr>
              <a:t>Five questions,</a:t>
            </a:r>
            <a:endParaRPr lang="en-US" sz="4400" dirty="0"/>
          </a:p>
          <a:p>
            <a:pPr indent="0" marL="0">
              <a:lnSpc>
                <a:spcPct val="105000"/>
              </a:lnSpc>
              <a:buNone/>
            </a:pPr>
            <a:r>
              <a:rPr lang="en-US" sz="4400" dirty="0">
                <a:solidFill>
                  <a:srgbClr val="232E54"/>
                </a:solidFill>
                <a:latin typeface="Bahnschrift SemiBold" pitchFamily="34" charset="0"/>
                <a:ea typeface="Bahnschrift SemiBold" pitchFamily="34" charset="-122"/>
                <a:cs typeface="Bahnschrift SemiBold" pitchFamily="34" charset="-120"/>
              </a:rPr>
              <a:t>five answers.</a:t>
            </a:r>
            <a:endParaRPr lang="en-US" sz="4400" dirty="0"/>
          </a:p>
        </p:txBody>
      </p:sp>
      <p:sp>
        <p:nvSpPr>
          <p:cNvPr id="5" name="Text 3"/>
          <p:cNvSpPr txBox="1"/>
          <p:nvPr/>
        </p:nvSpPr>
        <p:spPr>
          <a:xfrm>
            <a:off x="1280160" y="4206240"/>
            <a:ext cx="4023360" cy="1828800"/>
          </a:xfrm>
          <a:prstGeom prst="rect">
            <a:avLst/>
          </a:prstGeom>
          <a:noFill/>
          <a:ln/>
        </p:spPr>
        <p:txBody>
          <a:bodyPr wrap="square" lIns="0" tIns="0" rIns="0" bIns="0" rtlCol="0" anchor="ctr"/>
          <a:lstStyle/>
          <a:p>
            <a:pPr indent="0" marL="0">
              <a:lnSpc>
                <a:spcPct val="135000"/>
              </a:lnSpc>
              <a:buNone/>
            </a:pPr>
            <a:r>
              <a:rPr lang="en-US" sz="1700" dirty="0">
                <a:solidFill>
                  <a:srgbClr val="6E7788"/>
                </a:solidFill>
                <a:latin typeface="Calibri" pitchFamily="34" charset="0"/>
                <a:ea typeface="Calibri" pitchFamily="34" charset="-122"/>
                <a:cs typeface="Calibri" pitchFamily="34" charset="-120"/>
              </a:rPr>
              <a:t>Each answer names the tab it lives on, and whether its numbers are demo data or a sourced fact.</a:t>
            </a:r>
            <a:endParaRPr lang="en-US" sz="1700" dirty="0"/>
          </a:p>
        </p:txBody>
      </p:sp>
      <p:sp>
        <p:nvSpPr>
          <p:cNvPr id="6" name="Text 4"/>
          <p:cNvSpPr txBox="1"/>
          <p:nvPr/>
        </p:nvSpPr>
        <p:spPr>
          <a:xfrm>
            <a:off x="7589520" y="1216152"/>
            <a:ext cx="1371600" cy="1005840"/>
          </a:xfrm>
          <a:prstGeom prst="rect">
            <a:avLst/>
          </a:prstGeom>
          <a:noFill/>
          <a:ln/>
        </p:spPr>
        <p:txBody>
          <a:bodyPr wrap="square" lIns="0" tIns="0" rIns="0" bIns="0" rtlCol="0" anchor="ctr"/>
          <a:lstStyle/>
          <a:p>
            <a:pPr indent="0" marL="0">
              <a:buNone/>
            </a:pPr>
            <a:r>
              <a:rPr lang="en-US" sz="5800" dirty="0">
                <a:solidFill>
                  <a:srgbClr val="324070"/>
                </a:solidFill>
                <a:latin typeface="Bahnschrift Light" pitchFamily="34" charset="0"/>
                <a:ea typeface="Bahnschrift Light" pitchFamily="34" charset="-122"/>
                <a:cs typeface="Bahnschrift Light" pitchFamily="34" charset="-120"/>
              </a:rPr>
              <a:t>01</a:t>
            </a:r>
            <a:endParaRPr lang="en-US" sz="5800" dirty="0"/>
          </a:p>
        </p:txBody>
      </p:sp>
      <p:sp>
        <p:nvSpPr>
          <p:cNvPr id="7" name="Text 5"/>
          <p:cNvSpPr txBox="1"/>
          <p:nvPr/>
        </p:nvSpPr>
        <p:spPr>
          <a:xfrm>
            <a:off x="9144000" y="1399032"/>
            <a:ext cx="5394960" cy="640080"/>
          </a:xfrm>
          <a:prstGeom prst="rect">
            <a:avLst/>
          </a:prstGeom>
          <a:noFill/>
          <a:ln/>
        </p:spPr>
        <p:txBody>
          <a:bodyPr wrap="square" lIns="0" tIns="0" rIns="0" bIns="0" rtlCol="0" anchor="ctr"/>
          <a:lstStyle/>
          <a:p>
            <a:pPr indent="0" marL="0">
              <a:buNone/>
            </a:pPr>
            <a:r>
              <a:rPr lang="en-US" sz="2600" dirty="0">
                <a:solidFill>
                  <a:srgbClr val="232E54"/>
                </a:solidFill>
                <a:latin typeface="Bahnschrift SemiBold" pitchFamily="34" charset="0"/>
                <a:ea typeface="Bahnschrift SemiBold" pitchFamily="34" charset="-122"/>
                <a:cs typeface="Bahnschrift SemiBold" pitchFamily="34" charset="-120"/>
              </a:rPr>
              <a:t>What skills exist today</a:t>
            </a:r>
            <a:endParaRPr lang="en-US" sz="2600" dirty="0"/>
          </a:p>
        </p:txBody>
      </p:sp>
      <p:sp>
        <p:nvSpPr>
          <p:cNvPr id="8" name="Text 6"/>
          <p:cNvSpPr txBox="1"/>
          <p:nvPr/>
        </p:nvSpPr>
        <p:spPr>
          <a:xfrm>
            <a:off x="14721840" y="1545336"/>
            <a:ext cx="2377440" cy="457200"/>
          </a:xfrm>
          <a:prstGeom prst="rect">
            <a:avLst/>
          </a:prstGeom>
          <a:noFill/>
          <a:ln/>
        </p:spPr>
        <p:txBody>
          <a:bodyPr wrap="square" lIns="0" tIns="0" rIns="0" bIns="0" rtlCol="0" anchor="ctr"/>
          <a:lstStyle/>
          <a:p>
            <a:pPr algn="r" indent="0" marL="0">
              <a:buNone/>
            </a:pPr>
            <a:r>
              <a:rPr lang="en-US" sz="1500" dirty="0">
                <a:solidFill>
                  <a:srgbClr val="6E7788"/>
                </a:solidFill>
                <a:latin typeface="Calibri" pitchFamily="34" charset="0"/>
                <a:ea typeface="Calibri" pitchFamily="34" charset="-122"/>
                <a:cs typeface="Calibri" pitchFamily="34" charset="-120"/>
              </a:rPr>
              <a:t>Skills tab</a:t>
            </a:r>
            <a:endParaRPr lang="en-US" sz="1500" dirty="0"/>
          </a:p>
        </p:txBody>
      </p:sp>
      <p:sp>
        <p:nvSpPr>
          <p:cNvPr id="9" name="Shape 7"/>
          <p:cNvSpPr/>
          <p:nvPr/>
        </p:nvSpPr>
        <p:spPr>
          <a:xfrm>
            <a:off x="7589520" y="2478024"/>
            <a:ext cx="9509760" cy="0"/>
          </a:xfrm>
          <a:prstGeom prst="line">
            <a:avLst/>
          </a:prstGeom>
          <a:noFill/>
          <a:ln w="12700">
            <a:solidFill>
              <a:srgbClr val="D9D9D9"/>
            </a:solidFill>
            <a:prstDash val="solid"/>
          </a:ln>
        </p:spPr>
      </p:sp>
      <p:sp>
        <p:nvSpPr>
          <p:cNvPr id="10" name="Text 8"/>
          <p:cNvSpPr txBox="1"/>
          <p:nvPr/>
        </p:nvSpPr>
        <p:spPr>
          <a:xfrm>
            <a:off x="7589520" y="2697480"/>
            <a:ext cx="1371600" cy="1005840"/>
          </a:xfrm>
          <a:prstGeom prst="rect">
            <a:avLst/>
          </a:prstGeom>
          <a:noFill/>
          <a:ln/>
        </p:spPr>
        <p:txBody>
          <a:bodyPr wrap="square" lIns="0" tIns="0" rIns="0" bIns="0" rtlCol="0" anchor="ctr"/>
          <a:lstStyle/>
          <a:p>
            <a:pPr indent="0" marL="0">
              <a:buNone/>
            </a:pPr>
            <a:r>
              <a:rPr lang="en-US" sz="5800" dirty="0">
                <a:solidFill>
                  <a:srgbClr val="324070"/>
                </a:solidFill>
                <a:latin typeface="Bahnschrift Light" pitchFamily="34" charset="0"/>
                <a:ea typeface="Bahnschrift Light" pitchFamily="34" charset="-122"/>
                <a:cs typeface="Bahnschrift Light" pitchFamily="34" charset="-120"/>
              </a:rPr>
              <a:t>02</a:t>
            </a:r>
            <a:endParaRPr lang="en-US" sz="5800" dirty="0"/>
          </a:p>
        </p:txBody>
      </p:sp>
      <p:sp>
        <p:nvSpPr>
          <p:cNvPr id="11" name="Text 9"/>
          <p:cNvSpPr txBox="1"/>
          <p:nvPr/>
        </p:nvSpPr>
        <p:spPr>
          <a:xfrm>
            <a:off x="9144000" y="2880360"/>
            <a:ext cx="5394960" cy="640080"/>
          </a:xfrm>
          <a:prstGeom prst="rect">
            <a:avLst/>
          </a:prstGeom>
          <a:noFill/>
          <a:ln/>
        </p:spPr>
        <p:txBody>
          <a:bodyPr wrap="square" lIns="0" tIns="0" rIns="0" bIns="0" rtlCol="0" anchor="ctr"/>
          <a:lstStyle/>
          <a:p>
            <a:pPr indent="0" marL="0">
              <a:buNone/>
            </a:pPr>
            <a:r>
              <a:rPr lang="en-US" sz="2600" dirty="0">
                <a:solidFill>
                  <a:srgbClr val="232E54"/>
                </a:solidFill>
                <a:latin typeface="Bahnschrift SemiBold" pitchFamily="34" charset="0"/>
                <a:ea typeface="Bahnschrift SemiBold" pitchFamily="34" charset="-122"/>
                <a:cs typeface="Bahnschrift SemiBold" pitchFamily="34" charset="-120"/>
              </a:rPr>
              <a:t>What will be needed next</a:t>
            </a:r>
            <a:endParaRPr lang="en-US" sz="2600" dirty="0"/>
          </a:p>
        </p:txBody>
      </p:sp>
      <p:sp>
        <p:nvSpPr>
          <p:cNvPr id="12" name="Text 10"/>
          <p:cNvSpPr txBox="1"/>
          <p:nvPr/>
        </p:nvSpPr>
        <p:spPr>
          <a:xfrm>
            <a:off x="14721840" y="3026664"/>
            <a:ext cx="2377440" cy="457200"/>
          </a:xfrm>
          <a:prstGeom prst="rect">
            <a:avLst/>
          </a:prstGeom>
          <a:noFill/>
          <a:ln/>
        </p:spPr>
        <p:txBody>
          <a:bodyPr wrap="square" lIns="0" tIns="0" rIns="0" bIns="0" rtlCol="0" anchor="ctr"/>
          <a:lstStyle/>
          <a:p>
            <a:pPr algn="r" indent="0" marL="0">
              <a:buNone/>
            </a:pPr>
            <a:r>
              <a:rPr lang="en-US" sz="1500" dirty="0">
                <a:solidFill>
                  <a:srgbClr val="6E7788"/>
                </a:solidFill>
                <a:latin typeface="Calibri" pitchFamily="34" charset="0"/>
                <a:ea typeface="Calibri" pitchFamily="34" charset="-122"/>
                <a:cs typeface="Calibri" pitchFamily="34" charset="-120"/>
              </a:rPr>
              <a:t>Future skills tab</a:t>
            </a:r>
            <a:endParaRPr lang="en-US" sz="1500" dirty="0"/>
          </a:p>
        </p:txBody>
      </p:sp>
      <p:sp>
        <p:nvSpPr>
          <p:cNvPr id="13" name="Shape 11"/>
          <p:cNvSpPr/>
          <p:nvPr/>
        </p:nvSpPr>
        <p:spPr>
          <a:xfrm>
            <a:off x="7589520" y="3959352"/>
            <a:ext cx="9509760" cy="0"/>
          </a:xfrm>
          <a:prstGeom prst="line">
            <a:avLst/>
          </a:prstGeom>
          <a:noFill/>
          <a:ln w="12700">
            <a:solidFill>
              <a:srgbClr val="D9D9D9"/>
            </a:solidFill>
            <a:prstDash val="solid"/>
          </a:ln>
        </p:spPr>
      </p:sp>
      <p:sp>
        <p:nvSpPr>
          <p:cNvPr id="14" name="Text 12"/>
          <p:cNvSpPr txBox="1"/>
          <p:nvPr/>
        </p:nvSpPr>
        <p:spPr>
          <a:xfrm>
            <a:off x="7589520" y="4178808"/>
            <a:ext cx="1371600" cy="1005840"/>
          </a:xfrm>
          <a:prstGeom prst="rect">
            <a:avLst/>
          </a:prstGeom>
          <a:noFill/>
          <a:ln/>
        </p:spPr>
        <p:txBody>
          <a:bodyPr wrap="square" lIns="0" tIns="0" rIns="0" bIns="0" rtlCol="0" anchor="ctr"/>
          <a:lstStyle/>
          <a:p>
            <a:pPr indent="0" marL="0">
              <a:buNone/>
            </a:pPr>
            <a:r>
              <a:rPr lang="en-US" sz="5800" dirty="0">
                <a:solidFill>
                  <a:srgbClr val="324070"/>
                </a:solidFill>
                <a:latin typeface="Bahnschrift Light" pitchFamily="34" charset="0"/>
                <a:ea typeface="Bahnschrift Light" pitchFamily="34" charset="-122"/>
                <a:cs typeface="Bahnschrift Light" pitchFamily="34" charset="-120"/>
              </a:rPr>
              <a:t>03</a:t>
            </a:r>
            <a:endParaRPr lang="en-US" sz="5800" dirty="0"/>
          </a:p>
        </p:txBody>
      </p:sp>
      <p:sp>
        <p:nvSpPr>
          <p:cNvPr id="15" name="Text 13"/>
          <p:cNvSpPr txBox="1"/>
          <p:nvPr/>
        </p:nvSpPr>
        <p:spPr>
          <a:xfrm>
            <a:off x="9144000" y="4361688"/>
            <a:ext cx="5394960" cy="640080"/>
          </a:xfrm>
          <a:prstGeom prst="rect">
            <a:avLst/>
          </a:prstGeom>
          <a:noFill/>
          <a:ln/>
        </p:spPr>
        <p:txBody>
          <a:bodyPr wrap="square" lIns="0" tIns="0" rIns="0" bIns="0" rtlCol="0" anchor="ctr"/>
          <a:lstStyle/>
          <a:p>
            <a:pPr indent="0" marL="0">
              <a:buNone/>
            </a:pPr>
            <a:r>
              <a:rPr lang="en-US" sz="2600" dirty="0">
                <a:solidFill>
                  <a:srgbClr val="232E54"/>
                </a:solidFill>
                <a:latin typeface="Bahnschrift SemiBold" pitchFamily="34" charset="0"/>
                <a:ea typeface="Bahnschrift SemiBold" pitchFamily="34" charset="-122"/>
                <a:cs typeface="Bahnschrift SemiBold" pitchFamily="34" charset="-120"/>
              </a:rPr>
              <a:t>Who holds the rare ones</a:t>
            </a:r>
            <a:endParaRPr lang="en-US" sz="2600" dirty="0"/>
          </a:p>
        </p:txBody>
      </p:sp>
      <p:sp>
        <p:nvSpPr>
          <p:cNvPr id="16" name="Text 14"/>
          <p:cNvSpPr txBox="1"/>
          <p:nvPr/>
        </p:nvSpPr>
        <p:spPr>
          <a:xfrm>
            <a:off x="14721840" y="4507992"/>
            <a:ext cx="2377440" cy="457200"/>
          </a:xfrm>
          <a:prstGeom prst="rect">
            <a:avLst/>
          </a:prstGeom>
          <a:noFill/>
          <a:ln/>
        </p:spPr>
        <p:txBody>
          <a:bodyPr wrap="square" lIns="0" tIns="0" rIns="0" bIns="0" rtlCol="0" anchor="ctr"/>
          <a:lstStyle/>
          <a:p>
            <a:pPr algn="r" indent="0" marL="0">
              <a:buNone/>
            </a:pPr>
            <a:r>
              <a:rPr lang="en-US" sz="1500" dirty="0">
                <a:solidFill>
                  <a:srgbClr val="6E7788"/>
                </a:solidFill>
                <a:latin typeface="Calibri" pitchFamily="34" charset="0"/>
                <a:ea typeface="Calibri" pitchFamily="34" charset="-122"/>
                <a:cs typeface="Calibri" pitchFamily="34" charset="-120"/>
              </a:rPr>
              <a:t>Succession risk tab</a:t>
            </a:r>
            <a:endParaRPr lang="en-US" sz="1500" dirty="0"/>
          </a:p>
        </p:txBody>
      </p:sp>
      <p:sp>
        <p:nvSpPr>
          <p:cNvPr id="17" name="Shape 15"/>
          <p:cNvSpPr/>
          <p:nvPr/>
        </p:nvSpPr>
        <p:spPr>
          <a:xfrm>
            <a:off x="7589520" y="5440680"/>
            <a:ext cx="9509760" cy="0"/>
          </a:xfrm>
          <a:prstGeom prst="line">
            <a:avLst/>
          </a:prstGeom>
          <a:noFill/>
          <a:ln w="12700">
            <a:solidFill>
              <a:srgbClr val="D9D9D9"/>
            </a:solidFill>
            <a:prstDash val="solid"/>
          </a:ln>
        </p:spPr>
      </p:sp>
      <p:sp>
        <p:nvSpPr>
          <p:cNvPr id="18" name="Text 16"/>
          <p:cNvSpPr txBox="1"/>
          <p:nvPr/>
        </p:nvSpPr>
        <p:spPr>
          <a:xfrm>
            <a:off x="7589520" y="5660136"/>
            <a:ext cx="1371600" cy="1005840"/>
          </a:xfrm>
          <a:prstGeom prst="rect">
            <a:avLst/>
          </a:prstGeom>
          <a:noFill/>
          <a:ln/>
        </p:spPr>
        <p:txBody>
          <a:bodyPr wrap="square" lIns="0" tIns="0" rIns="0" bIns="0" rtlCol="0" anchor="ctr"/>
          <a:lstStyle/>
          <a:p>
            <a:pPr indent="0" marL="0">
              <a:buNone/>
            </a:pPr>
            <a:r>
              <a:rPr lang="en-US" sz="5800" dirty="0">
                <a:solidFill>
                  <a:srgbClr val="324070"/>
                </a:solidFill>
                <a:latin typeface="Bahnschrift Light" pitchFamily="34" charset="0"/>
                <a:ea typeface="Bahnschrift Light" pitchFamily="34" charset="-122"/>
                <a:cs typeface="Bahnschrift Light" pitchFamily="34" charset="-120"/>
              </a:rPr>
              <a:t>04</a:t>
            </a:r>
            <a:endParaRPr lang="en-US" sz="5800" dirty="0"/>
          </a:p>
        </p:txBody>
      </p:sp>
      <p:sp>
        <p:nvSpPr>
          <p:cNvPr id="19" name="Text 17"/>
          <p:cNvSpPr txBox="1"/>
          <p:nvPr/>
        </p:nvSpPr>
        <p:spPr>
          <a:xfrm>
            <a:off x="9144000" y="5843016"/>
            <a:ext cx="5394960" cy="640080"/>
          </a:xfrm>
          <a:prstGeom prst="rect">
            <a:avLst/>
          </a:prstGeom>
          <a:noFill/>
          <a:ln/>
        </p:spPr>
        <p:txBody>
          <a:bodyPr wrap="square" lIns="0" tIns="0" rIns="0" bIns="0" rtlCol="0" anchor="ctr"/>
          <a:lstStyle/>
          <a:p>
            <a:pPr indent="0" marL="0">
              <a:buNone/>
            </a:pPr>
            <a:r>
              <a:rPr lang="en-US" sz="2600" dirty="0">
                <a:solidFill>
                  <a:srgbClr val="232E54"/>
                </a:solidFill>
                <a:latin typeface="Bahnschrift SemiBold" pitchFamily="34" charset="0"/>
                <a:ea typeface="Bahnschrift SemiBold" pitchFamily="34" charset="-122"/>
                <a:cs typeface="Bahnschrift SemiBold" pitchFamily="34" charset="-120"/>
              </a:rPr>
              <a:t>What to fix first</a:t>
            </a:r>
            <a:endParaRPr lang="en-US" sz="2600" dirty="0"/>
          </a:p>
        </p:txBody>
      </p:sp>
      <p:sp>
        <p:nvSpPr>
          <p:cNvPr id="20" name="Text 18"/>
          <p:cNvSpPr txBox="1"/>
          <p:nvPr/>
        </p:nvSpPr>
        <p:spPr>
          <a:xfrm>
            <a:off x="14721840" y="5989320"/>
            <a:ext cx="2377440" cy="457200"/>
          </a:xfrm>
          <a:prstGeom prst="rect">
            <a:avLst/>
          </a:prstGeom>
          <a:noFill/>
          <a:ln/>
        </p:spPr>
        <p:txBody>
          <a:bodyPr wrap="square" lIns="0" tIns="0" rIns="0" bIns="0" rtlCol="0" anchor="ctr"/>
          <a:lstStyle/>
          <a:p>
            <a:pPr algn="r" indent="0" marL="0">
              <a:buNone/>
            </a:pPr>
            <a:r>
              <a:rPr lang="en-US" sz="1500" dirty="0">
                <a:solidFill>
                  <a:srgbClr val="6E7788"/>
                </a:solidFill>
                <a:latin typeface="Calibri" pitchFamily="34" charset="0"/>
                <a:ea typeface="Calibri" pitchFamily="34" charset="-122"/>
                <a:cs typeface="Calibri" pitchFamily="34" charset="-120"/>
              </a:rPr>
              <a:t>Overview tab</a:t>
            </a:r>
            <a:endParaRPr lang="en-US" sz="1500" dirty="0"/>
          </a:p>
        </p:txBody>
      </p:sp>
      <p:sp>
        <p:nvSpPr>
          <p:cNvPr id="21" name="Shape 19"/>
          <p:cNvSpPr/>
          <p:nvPr/>
        </p:nvSpPr>
        <p:spPr>
          <a:xfrm>
            <a:off x="7589520" y="6922008"/>
            <a:ext cx="9509760" cy="0"/>
          </a:xfrm>
          <a:prstGeom prst="line">
            <a:avLst/>
          </a:prstGeom>
          <a:noFill/>
          <a:ln w="12700">
            <a:solidFill>
              <a:srgbClr val="D9D9D9"/>
            </a:solidFill>
            <a:prstDash val="solid"/>
          </a:ln>
        </p:spPr>
      </p:sp>
      <p:sp>
        <p:nvSpPr>
          <p:cNvPr id="22" name="Text 20"/>
          <p:cNvSpPr txBox="1"/>
          <p:nvPr/>
        </p:nvSpPr>
        <p:spPr>
          <a:xfrm>
            <a:off x="7589520" y="7141464"/>
            <a:ext cx="1371600" cy="1005840"/>
          </a:xfrm>
          <a:prstGeom prst="rect">
            <a:avLst/>
          </a:prstGeom>
          <a:noFill/>
          <a:ln/>
        </p:spPr>
        <p:txBody>
          <a:bodyPr wrap="square" lIns="0" tIns="0" rIns="0" bIns="0" rtlCol="0" anchor="ctr"/>
          <a:lstStyle/>
          <a:p>
            <a:pPr indent="0" marL="0">
              <a:buNone/>
            </a:pPr>
            <a:r>
              <a:rPr lang="en-US" sz="5800" dirty="0">
                <a:solidFill>
                  <a:srgbClr val="324070"/>
                </a:solidFill>
                <a:latin typeface="Bahnschrift Light" pitchFamily="34" charset="0"/>
                <a:ea typeface="Bahnschrift Light" pitchFamily="34" charset="-122"/>
                <a:cs typeface="Bahnschrift Light" pitchFamily="34" charset="-120"/>
              </a:rPr>
              <a:t>05</a:t>
            </a:r>
            <a:endParaRPr lang="en-US" sz="5800" dirty="0"/>
          </a:p>
        </p:txBody>
      </p:sp>
      <p:sp>
        <p:nvSpPr>
          <p:cNvPr id="23" name="Text 21"/>
          <p:cNvSpPr txBox="1"/>
          <p:nvPr/>
        </p:nvSpPr>
        <p:spPr>
          <a:xfrm>
            <a:off x="9144000" y="7324344"/>
            <a:ext cx="5394960" cy="640080"/>
          </a:xfrm>
          <a:prstGeom prst="rect">
            <a:avLst/>
          </a:prstGeom>
          <a:noFill/>
          <a:ln/>
        </p:spPr>
        <p:txBody>
          <a:bodyPr wrap="square" lIns="0" tIns="0" rIns="0" bIns="0" rtlCol="0" anchor="ctr"/>
          <a:lstStyle/>
          <a:p>
            <a:pPr indent="0" marL="0">
              <a:buNone/>
            </a:pPr>
            <a:r>
              <a:rPr lang="en-US" sz="2600" dirty="0">
                <a:solidFill>
                  <a:srgbClr val="232E54"/>
                </a:solidFill>
                <a:latin typeface="Bahnschrift SemiBold" pitchFamily="34" charset="0"/>
                <a:ea typeface="Bahnschrift SemiBold" pitchFamily="34" charset="-122"/>
                <a:cs typeface="Bahnschrift SemiBold" pitchFamily="34" charset="-120"/>
              </a:rPr>
              <a:t>How a person closes a gap</a:t>
            </a:r>
            <a:endParaRPr lang="en-US" sz="2600" dirty="0"/>
          </a:p>
        </p:txBody>
      </p:sp>
      <p:sp>
        <p:nvSpPr>
          <p:cNvPr id="24" name="Text 22"/>
          <p:cNvSpPr txBox="1"/>
          <p:nvPr/>
        </p:nvSpPr>
        <p:spPr>
          <a:xfrm>
            <a:off x="14721840" y="7470648"/>
            <a:ext cx="2377440" cy="457200"/>
          </a:xfrm>
          <a:prstGeom prst="rect">
            <a:avLst/>
          </a:prstGeom>
          <a:noFill/>
          <a:ln/>
        </p:spPr>
        <p:txBody>
          <a:bodyPr wrap="square" lIns="0" tIns="0" rIns="0" bIns="0" rtlCol="0" anchor="ctr"/>
          <a:lstStyle/>
          <a:p>
            <a:pPr algn="r" indent="0" marL="0">
              <a:buNone/>
            </a:pPr>
            <a:r>
              <a:rPr lang="en-US" sz="1500" dirty="0">
                <a:solidFill>
                  <a:srgbClr val="6E7788"/>
                </a:solidFill>
                <a:latin typeface="Calibri" pitchFamily="34" charset="0"/>
                <a:ea typeface="Calibri" pitchFamily="34" charset="-122"/>
                <a:cs typeface="Calibri" pitchFamily="34" charset="-120"/>
              </a:rPr>
              <a:t>Employee view tab</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170432" y="566928"/>
            <a:ext cx="2286000" cy="2194560"/>
          </a:xfrm>
          <a:prstGeom prst="rect">
            <a:avLst/>
          </a:prstGeom>
          <a:noFill/>
          <a:ln/>
        </p:spPr>
        <p:txBody>
          <a:bodyPr wrap="square" lIns="0" tIns="0" rIns="0" bIns="0" rtlCol="0" anchor="ctr"/>
          <a:lstStyle/>
          <a:p>
            <a:pPr indent="0" marL="0">
              <a:lnSpc>
                <a:spcPct val="82000"/>
              </a:lnSpc>
              <a:buNone/>
            </a:pPr>
            <a:r>
              <a:rPr lang="en-US" sz="14000" dirty="0">
                <a:solidFill>
                  <a:srgbClr val="EEF2F5"/>
                </a:solidFill>
                <a:latin typeface="Bahnschrift SemiBold" pitchFamily="34" charset="0"/>
                <a:ea typeface="Bahnschrift SemiBold" pitchFamily="34" charset="-122"/>
                <a:cs typeface="Bahnschrift SemiBold" pitchFamily="34" charset="-120"/>
              </a:rPr>
              <a:t>01</a:t>
            </a:r>
            <a:endParaRPr lang="en-US" sz="14000" dirty="0"/>
          </a:p>
        </p:txBody>
      </p:sp>
      <p:sp>
        <p:nvSpPr>
          <p:cNvPr id="3" name="Text 1"/>
          <p:cNvSpPr txBox="1"/>
          <p:nvPr/>
        </p:nvSpPr>
        <p:spPr>
          <a:xfrm>
            <a:off x="3931920" y="868680"/>
            <a:ext cx="13075920" cy="1463040"/>
          </a:xfrm>
          <a:prstGeom prst="rect">
            <a:avLst/>
          </a:prstGeom>
          <a:noFill/>
          <a:ln/>
        </p:spPr>
        <p:txBody>
          <a:bodyPr wrap="square" lIns="0" tIns="0" rIns="0" bIns="0" rtlCol="0" anchor="ctr"/>
          <a:lstStyle/>
          <a:p>
            <a:pPr indent="0" marL="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What skills and competencies exist</a:t>
            </a:r>
            <a:endParaRPr lang="en-US" sz="3000" dirty="0"/>
          </a:p>
          <a:p>
            <a:pPr indent="0" marL="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across our workforce today?</a:t>
            </a:r>
            <a:endParaRPr lang="en-US" sz="3000" dirty="0"/>
          </a:p>
        </p:txBody>
      </p:sp>
      <p:sp>
        <p:nvSpPr>
          <p:cNvPr id="4" name="Text 2"/>
          <p:cNvSpPr txBox="1"/>
          <p:nvPr/>
        </p:nvSpPr>
        <p:spPr>
          <a:xfrm>
            <a:off x="1280160" y="2743200"/>
            <a:ext cx="13716000" cy="1554480"/>
          </a:xfrm>
          <a:prstGeom prst="rect">
            <a:avLst/>
          </a:prstGeom>
          <a:noFill/>
          <a:ln/>
        </p:spPr>
        <p:txBody>
          <a:bodyPr wrap="square" lIns="0" tIns="0" rIns="0" bIns="0" rtlCol="0" anchor="ctr"/>
          <a:lstStyle/>
          <a:p>
            <a:pPr indent="0" marL="0">
              <a:lnSpc>
                <a:spcPct val="106000"/>
              </a:lnSpc>
              <a:buNone/>
            </a:pPr>
            <a:r>
              <a:rPr lang="en-US" sz="3800" dirty="0">
                <a:solidFill>
                  <a:srgbClr val="18212F"/>
                </a:solidFill>
                <a:latin typeface="Bahnschrift SemiBold" pitchFamily="34" charset="0"/>
                <a:ea typeface="Bahnschrift SemiBold" pitchFamily="34" charset="-122"/>
                <a:cs typeface="Bahnschrift SemiBold" pitchFamily="34" charset="-120"/>
              </a:rPr>
              <a:t>20 skills tracked across four job groups.</a:t>
            </a:r>
            <a:endParaRPr lang="en-US" sz="3800" dirty="0"/>
          </a:p>
          <a:p>
            <a:pPr indent="0" marL="0">
              <a:lnSpc>
                <a:spcPct val="106000"/>
              </a:lnSpc>
              <a:buNone/>
            </a:pPr>
            <a:r>
              <a:rPr lang="en-US" sz="3800" dirty="0">
                <a:solidFill>
                  <a:srgbClr val="18212F"/>
                </a:solidFill>
                <a:latin typeface="Bahnschrift SemiBold" pitchFamily="34" charset="0"/>
                <a:ea typeface="Bahnschrift SemiBold" pitchFamily="34" charset="-122"/>
                <a:cs typeface="Bahnschrift SemiBold" pitchFamily="34" charset="-120"/>
              </a:rPr>
              <a:t>Average coverage 50 percent.</a:t>
            </a:r>
            <a:endParaRPr lang="en-US" sz="3800" dirty="0"/>
          </a:p>
        </p:txBody>
      </p:sp>
      <p:sp>
        <p:nvSpPr>
          <p:cNvPr id="5" name="Text 3"/>
          <p:cNvSpPr txBox="1"/>
          <p:nvPr/>
        </p:nvSpPr>
        <p:spPr>
          <a:xfrm>
            <a:off x="1280160" y="4526280"/>
            <a:ext cx="12435840" cy="822960"/>
          </a:xfrm>
          <a:prstGeom prst="rect">
            <a:avLst/>
          </a:prstGeom>
          <a:noFill/>
          <a:ln/>
        </p:spPr>
        <p:txBody>
          <a:bodyPr wrap="square" lIns="0" tIns="0" rIns="0" bIns="0" rtlCol="0" anchor="ctr"/>
          <a:lstStyle/>
          <a:p>
            <a:pPr indent="0" marL="0">
              <a:lnSpc>
                <a:spcPct val="130000"/>
              </a:lnSpc>
              <a:buNone/>
            </a:pPr>
            <a:r>
              <a:rPr lang="en-US" sz="1800" dirty="0">
                <a:solidFill>
                  <a:srgbClr val="6E7788"/>
                </a:solidFill>
                <a:latin typeface="Calibri" pitchFamily="34" charset="0"/>
                <a:ea typeface="Calibri" pitchFamily="34" charset="-122"/>
                <a:cs typeface="Calibri" pitchFamily="34" charset="-120"/>
              </a:rPr>
              <a:t>Coverage is the share of a job group that holds the skill. The Skills tab sorts them into three bands and opens only the critical one, because twenty rows at once tells you nothing.</a:t>
            </a:r>
            <a:endParaRPr lang="en-US" sz="1800" dirty="0"/>
          </a:p>
        </p:txBody>
      </p:sp>
      <p:sp>
        <p:nvSpPr>
          <p:cNvPr id="6" name="Shape 4"/>
          <p:cNvSpPr/>
          <p:nvPr/>
        </p:nvSpPr>
        <p:spPr>
          <a:xfrm>
            <a:off x="1280160" y="5431536"/>
            <a:ext cx="15727680" cy="0"/>
          </a:xfrm>
          <a:prstGeom prst="line">
            <a:avLst/>
          </a:prstGeom>
          <a:noFill/>
          <a:ln w="12700">
            <a:solidFill>
              <a:srgbClr val="D9D9D9"/>
            </a:solidFill>
            <a:prstDash val="solid"/>
          </a:ln>
        </p:spPr>
      </p:sp>
      <p:sp>
        <p:nvSpPr>
          <p:cNvPr id="7" name="Text 5"/>
          <p:cNvSpPr txBox="1"/>
          <p:nvPr/>
        </p:nvSpPr>
        <p:spPr>
          <a:xfrm>
            <a:off x="1280160" y="5522976"/>
            <a:ext cx="1005840" cy="777240"/>
          </a:xfrm>
          <a:prstGeom prst="rect">
            <a:avLst/>
          </a:prstGeom>
          <a:noFill/>
          <a:ln/>
        </p:spPr>
        <p:txBody>
          <a:bodyPr wrap="square" lIns="0" tIns="0" rIns="0" bIns="0" rtlCol="0" anchor="ctr"/>
          <a:lstStyle/>
          <a:p>
            <a:pPr indent="0" marL="0">
              <a:buNone/>
            </a:pPr>
            <a:r>
              <a:rPr lang="en-US" sz="4200" dirty="0">
                <a:solidFill>
                  <a:srgbClr val="232E54"/>
                </a:solidFill>
                <a:latin typeface="Bahnschrift SemiBold" pitchFamily="34" charset="0"/>
                <a:ea typeface="Bahnschrift SemiBold" pitchFamily="34" charset="-122"/>
                <a:cs typeface="Bahnschrift SemiBold" pitchFamily="34" charset="-120"/>
              </a:rPr>
              <a:t>7</a:t>
            </a:r>
            <a:endParaRPr lang="en-US" sz="4200" dirty="0"/>
          </a:p>
        </p:txBody>
      </p:sp>
      <p:sp>
        <p:nvSpPr>
          <p:cNvPr id="8" name="Text 6"/>
          <p:cNvSpPr txBox="1"/>
          <p:nvPr/>
        </p:nvSpPr>
        <p:spPr>
          <a:xfrm>
            <a:off x="2377440" y="5650992"/>
            <a:ext cx="3017520" cy="411480"/>
          </a:xfrm>
          <a:prstGeom prst="rect">
            <a:avLst/>
          </a:prstGeom>
          <a:noFill/>
          <a:ln/>
        </p:spPr>
        <p:txBody>
          <a:bodyPr wrap="square" lIns="0" tIns="0" rIns="0" bIns="0" rtlCol="0" anchor="ctr"/>
          <a:lstStyle/>
          <a:p>
            <a:pPr indent="0" marL="0">
              <a:buNone/>
            </a:pPr>
            <a:r>
              <a:rPr lang="en-US" sz="2100" dirty="0">
                <a:solidFill>
                  <a:srgbClr val="18212F"/>
                </a:solidFill>
                <a:latin typeface="Bahnschrift SemiBold" pitchFamily="34" charset="0"/>
                <a:ea typeface="Bahnschrift SemiBold" pitchFamily="34" charset="-122"/>
                <a:cs typeface="Bahnschrift SemiBold" pitchFamily="34" charset="-120"/>
              </a:rPr>
              <a:t>Critical gap</a:t>
            </a:r>
            <a:endParaRPr lang="en-US" sz="2100" dirty="0"/>
          </a:p>
        </p:txBody>
      </p:sp>
      <p:sp>
        <p:nvSpPr>
          <p:cNvPr id="9" name="Text 7"/>
          <p:cNvSpPr txBox="1"/>
          <p:nvPr/>
        </p:nvSpPr>
        <p:spPr>
          <a:xfrm>
            <a:off x="2377440" y="6053328"/>
            <a:ext cx="3017520" cy="320040"/>
          </a:xfrm>
          <a:prstGeom prst="rect">
            <a:avLst/>
          </a:prstGeom>
          <a:noFill/>
          <a:ln/>
        </p:spPr>
        <p:txBody>
          <a:bodyPr wrap="square" lIns="0" tIns="0" rIns="0" bIns="0" rtlCol="0" anchor="ctr"/>
          <a:lstStyle/>
          <a:p>
            <a:pPr indent="0" marL="0">
              <a:buNone/>
            </a:pPr>
            <a:r>
              <a:rPr lang="en-US" sz="1400" dirty="0">
                <a:solidFill>
                  <a:srgbClr val="6E7788"/>
                </a:solidFill>
                <a:latin typeface="Calibri" pitchFamily="34" charset="0"/>
                <a:ea typeface="Calibri" pitchFamily="34" charset="-122"/>
                <a:cs typeface="Calibri" pitchFamily="34" charset="-120"/>
              </a:rPr>
              <a:t>under 40 percent</a:t>
            </a:r>
            <a:endParaRPr lang="en-US" sz="1400" dirty="0"/>
          </a:p>
        </p:txBody>
      </p:sp>
      <p:sp>
        <p:nvSpPr>
          <p:cNvPr id="10" name="Shape 8"/>
          <p:cNvSpPr/>
          <p:nvPr/>
        </p:nvSpPr>
        <p:spPr>
          <a:xfrm>
            <a:off x="5760720" y="5815584"/>
            <a:ext cx="5852160" cy="237744"/>
          </a:xfrm>
          <a:prstGeom prst="roundRect">
            <a:avLst>
              <a:gd name="adj" fmla="val 192308"/>
            </a:avLst>
          </a:prstGeom>
          <a:solidFill>
            <a:srgbClr val="EEF2F5"/>
          </a:solidFill>
          <a:ln w="12700">
            <a:solidFill>
              <a:srgbClr val="EEF2F5"/>
            </a:solidFill>
            <a:prstDash val="solid"/>
          </a:ln>
        </p:spPr>
      </p:sp>
      <p:sp>
        <p:nvSpPr>
          <p:cNvPr id="11" name="Shape 9"/>
          <p:cNvSpPr/>
          <p:nvPr/>
        </p:nvSpPr>
        <p:spPr>
          <a:xfrm>
            <a:off x="5760720" y="5815584"/>
            <a:ext cx="1053389" cy="237744"/>
          </a:xfrm>
          <a:prstGeom prst="roundRect">
            <a:avLst>
              <a:gd name="adj" fmla="val 192308"/>
            </a:avLst>
          </a:prstGeom>
          <a:solidFill>
            <a:srgbClr val="232E54"/>
          </a:solidFill>
          <a:ln w="12700">
            <a:solidFill>
              <a:srgbClr val="232E54"/>
            </a:solidFill>
            <a:prstDash val="solid"/>
          </a:ln>
        </p:spPr>
      </p:sp>
      <p:sp>
        <p:nvSpPr>
          <p:cNvPr id="12" name="Text 10"/>
          <p:cNvSpPr txBox="1"/>
          <p:nvPr/>
        </p:nvSpPr>
        <p:spPr>
          <a:xfrm>
            <a:off x="11887200" y="5705856"/>
            <a:ext cx="5120640" cy="457200"/>
          </a:xfrm>
          <a:prstGeom prst="rect">
            <a:avLst/>
          </a:prstGeom>
          <a:noFill/>
          <a:ln/>
        </p:spPr>
        <p:txBody>
          <a:bodyPr wrap="square" lIns="0" tIns="0" rIns="0" bIns="0" rtlCol="0" anchor="ctr"/>
          <a:lstStyle/>
          <a:p>
            <a:pPr indent="0" marL="0">
              <a:buNone/>
            </a:pPr>
            <a:r>
              <a:rPr lang="en-US" sz="1600" dirty="0">
                <a:solidFill>
                  <a:srgbClr val="6E7788"/>
                </a:solidFill>
                <a:latin typeface="Calibri" pitchFamily="34" charset="0"/>
                <a:ea typeface="Calibri" pitchFamily="34" charset="-122"/>
                <a:cs typeface="Calibri" pitchFamily="34" charset="-120"/>
              </a:rPr>
              <a:t>Worst: Salina line setup, 12 percent</a:t>
            </a:r>
            <a:endParaRPr lang="en-US" sz="1600" dirty="0"/>
          </a:p>
        </p:txBody>
      </p:sp>
      <p:sp>
        <p:nvSpPr>
          <p:cNvPr id="13" name="Shape 11"/>
          <p:cNvSpPr/>
          <p:nvPr/>
        </p:nvSpPr>
        <p:spPr>
          <a:xfrm>
            <a:off x="1280160" y="6601968"/>
            <a:ext cx="15727680" cy="0"/>
          </a:xfrm>
          <a:prstGeom prst="line">
            <a:avLst/>
          </a:prstGeom>
          <a:noFill/>
          <a:ln w="12700">
            <a:solidFill>
              <a:srgbClr val="D9D9D9"/>
            </a:solidFill>
            <a:prstDash val="solid"/>
          </a:ln>
        </p:spPr>
      </p:sp>
      <p:sp>
        <p:nvSpPr>
          <p:cNvPr id="14" name="Text 12"/>
          <p:cNvSpPr txBox="1"/>
          <p:nvPr/>
        </p:nvSpPr>
        <p:spPr>
          <a:xfrm>
            <a:off x="1280160" y="6693408"/>
            <a:ext cx="1005840" cy="777240"/>
          </a:xfrm>
          <a:prstGeom prst="rect">
            <a:avLst/>
          </a:prstGeom>
          <a:noFill/>
          <a:ln/>
        </p:spPr>
        <p:txBody>
          <a:bodyPr wrap="square" lIns="0" tIns="0" rIns="0" bIns="0" rtlCol="0" anchor="ctr"/>
          <a:lstStyle/>
          <a:p>
            <a:pPr indent="0" marL="0">
              <a:buNone/>
            </a:pPr>
            <a:r>
              <a:rPr lang="en-US" sz="4200" dirty="0">
                <a:solidFill>
                  <a:srgbClr val="232E54"/>
                </a:solidFill>
                <a:latin typeface="Bahnschrift SemiBold" pitchFamily="34" charset="0"/>
                <a:ea typeface="Bahnschrift SemiBold" pitchFamily="34" charset="-122"/>
                <a:cs typeface="Bahnschrift SemiBold" pitchFamily="34" charset="-120"/>
              </a:rPr>
              <a:t>6</a:t>
            </a:r>
            <a:endParaRPr lang="en-US" sz="4200" dirty="0"/>
          </a:p>
        </p:txBody>
      </p:sp>
      <p:sp>
        <p:nvSpPr>
          <p:cNvPr id="15" name="Text 13"/>
          <p:cNvSpPr txBox="1"/>
          <p:nvPr/>
        </p:nvSpPr>
        <p:spPr>
          <a:xfrm>
            <a:off x="2377440" y="6821424"/>
            <a:ext cx="3017520" cy="411480"/>
          </a:xfrm>
          <a:prstGeom prst="rect">
            <a:avLst/>
          </a:prstGeom>
          <a:noFill/>
          <a:ln/>
        </p:spPr>
        <p:txBody>
          <a:bodyPr wrap="square" lIns="0" tIns="0" rIns="0" bIns="0" rtlCol="0" anchor="ctr"/>
          <a:lstStyle/>
          <a:p>
            <a:pPr indent="0" marL="0">
              <a:buNone/>
            </a:pPr>
            <a:r>
              <a:rPr lang="en-US" sz="2100" dirty="0">
                <a:solidFill>
                  <a:srgbClr val="18212F"/>
                </a:solidFill>
                <a:latin typeface="Bahnschrift SemiBold" pitchFamily="34" charset="0"/>
                <a:ea typeface="Bahnschrift SemiBold" pitchFamily="34" charset="-122"/>
                <a:cs typeface="Bahnschrift SemiBold" pitchFamily="34" charset="-120"/>
              </a:rPr>
              <a:t>Needs attention</a:t>
            </a:r>
            <a:endParaRPr lang="en-US" sz="2100" dirty="0"/>
          </a:p>
        </p:txBody>
      </p:sp>
      <p:sp>
        <p:nvSpPr>
          <p:cNvPr id="16" name="Text 14"/>
          <p:cNvSpPr txBox="1"/>
          <p:nvPr/>
        </p:nvSpPr>
        <p:spPr>
          <a:xfrm>
            <a:off x="2377440" y="7223760"/>
            <a:ext cx="3017520" cy="320040"/>
          </a:xfrm>
          <a:prstGeom prst="rect">
            <a:avLst/>
          </a:prstGeom>
          <a:noFill/>
          <a:ln/>
        </p:spPr>
        <p:txBody>
          <a:bodyPr wrap="square" lIns="0" tIns="0" rIns="0" bIns="0" rtlCol="0" anchor="ctr"/>
          <a:lstStyle/>
          <a:p>
            <a:pPr indent="0" marL="0">
              <a:buNone/>
            </a:pPr>
            <a:r>
              <a:rPr lang="en-US" sz="1400" dirty="0">
                <a:solidFill>
                  <a:srgbClr val="6E7788"/>
                </a:solidFill>
                <a:latin typeface="Calibri" pitchFamily="34" charset="0"/>
                <a:ea typeface="Calibri" pitchFamily="34" charset="-122"/>
                <a:cs typeface="Calibri" pitchFamily="34" charset="-120"/>
              </a:rPr>
              <a:t>40 to 59 percent</a:t>
            </a:r>
            <a:endParaRPr lang="en-US" sz="1400" dirty="0"/>
          </a:p>
        </p:txBody>
      </p:sp>
      <p:sp>
        <p:nvSpPr>
          <p:cNvPr id="17" name="Shape 15"/>
          <p:cNvSpPr/>
          <p:nvPr/>
        </p:nvSpPr>
        <p:spPr>
          <a:xfrm>
            <a:off x="5760720" y="6986016"/>
            <a:ext cx="5852160" cy="237744"/>
          </a:xfrm>
          <a:prstGeom prst="roundRect">
            <a:avLst>
              <a:gd name="adj" fmla="val 192308"/>
            </a:avLst>
          </a:prstGeom>
          <a:solidFill>
            <a:srgbClr val="EEF2F5"/>
          </a:solidFill>
          <a:ln w="12700">
            <a:solidFill>
              <a:srgbClr val="EEF2F5"/>
            </a:solidFill>
            <a:prstDash val="solid"/>
          </a:ln>
        </p:spPr>
      </p:sp>
      <p:sp>
        <p:nvSpPr>
          <p:cNvPr id="18" name="Shape 16"/>
          <p:cNvSpPr/>
          <p:nvPr/>
        </p:nvSpPr>
        <p:spPr>
          <a:xfrm>
            <a:off x="5760720" y="6986016"/>
            <a:ext cx="2867558" cy="237744"/>
          </a:xfrm>
          <a:prstGeom prst="roundRect">
            <a:avLst>
              <a:gd name="adj" fmla="val 192308"/>
            </a:avLst>
          </a:prstGeom>
          <a:solidFill>
            <a:srgbClr val="C3CCDA"/>
          </a:solidFill>
          <a:ln w="12700">
            <a:solidFill>
              <a:srgbClr val="C3CCDA"/>
            </a:solidFill>
            <a:prstDash val="solid"/>
          </a:ln>
        </p:spPr>
      </p:sp>
      <p:sp>
        <p:nvSpPr>
          <p:cNvPr id="19" name="Text 17"/>
          <p:cNvSpPr txBox="1"/>
          <p:nvPr/>
        </p:nvSpPr>
        <p:spPr>
          <a:xfrm>
            <a:off x="11887200" y="6876288"/>
            <a:ext cx="5120640" cy="457200"/>
          </a:xfrm>
          <a:prstGeom prst="rect">
            <a:avLst/>
          </a:prstGeom>
          <a:noFill/>
          <a:ln/>
        </p:spPr>
        <p:txBody>
          <a:bodyPr wrap="square" lIns="0" tIns="0" rIns="0" bIns="0" rtlCol="0" anchor="ctr"/>
          <a:lstStyle/>
          <a:p>
            <a:pPr indent="0" marL="0">
              <a:buNone/>
            </a:pPr>
            <a:r>
              <a:rPr lang="en-US" sz="1600" dirty="0">
                <a:solidFill>
                  <a:srgbClr val="6E7788"/>
                </a:solidFill>
                <a:latin typeface="Calibri" pitchFamily="34" charset="0"/>
                <a:ea typeface="Calibri" pitchFamily="34" charset="-122"/>
                <a:cs typeface="Calibri" pitchFamily="34" charset="-120"/>
              </a:rPr>
              <a:t>Analytics, supply chain, packaging</a:t>
            </a:r>
            <a:endParaRPr lang="en-US" sz="1600" dirty="0"/>
          </a:p>
        </p:txBody>
      </p:sp>
      <p:sp>
        <p:nvSpPr>
          <p:cNvPr id="20" name="Shape 18"/>
          <p:cNvSpPr/>
          <p:nvPr/>
        </p:nvSpPr>
        <p:spPr>
          <a:xfrm>
            <a:off x="1280160" y="7772400"/>
            <a:ext cx="15727680" cy="0"/>
          </a:xfrm>
          <a:prstGeom prst="line">
            <a:avLst/>
          </a:prstGeom>
          <a:noFill/>
          <a:ln w="12700">
            <a:solidFill>
              <a:srgbClr val="D9D9D9"/>
            </a:solidFill>
            <a:prstDash val="solid"/>
          </a:ln>
        </p:spPr>
      </p:sp>
      <p:sp>
        <p:nvSpPr>
          <p:cNvPr id="21" name="Text 19"/>
          <p:cNvSpPr txBox="1"/>
          <p:nvPr/>
        </p:nvSpPr>
        <p:spPr>
          <a:xfrm>
            <a:off x="1280160" y="7863840"/>
            <a:ext cx="1005840" cy="777240"/>
          </a:xfrm>
          <a:prstGeom prst="rect">
            <a:avLst/>
          </a:prstGeom>
          <a:noFill/>
          <a:ln/>
        </p:spPr>
        <p:txBody>
          <a:bodyPr wrap="square" lIns="0" tIns="0" rIns="0" bIns="0" rtlCol="0" anchor="ctr"/>
          <a:lstStyle/>
          <a:p>
            <a:pPr indent="0" marL="0">
              <a:buNone/>
            </a:pPr>
            <a:r>
              <a:rPr lang="en-US" sz="4200" dirty="0">
                <a:solidFill>
                  <a:srgbClr val="232E54"/>
                </a:solidFill>
                <a:latin typeface="Bahnschrift SemiBold" pitchFamily="34" charset="0"/>
                <a:ea typeface="Bahnschrift SemiBold" pitchFamily="34" charset="-122"/>
                <a:cs typeface="Bahnschrift SemiBold" pitchFamily="34" charset="-120"/>
              </a:rPr>
              <a:t>7</a:t>
            </a:r>
            <a:endParaRPr lang="en-US" sz="4200" dirty="0"/>
          </a:p>
        </p:txBody>
      </p:sp>
      <p:sp>
        <p:nvSpPr>
          <p:cNvPr id="22" name="Text 20"/>
          <p:cNvSpPr txBox="1"/>
          <p:nvPr/>
        </p:nvSpPr>
        <p:spPr>
          <a:xfrm>
            <a:off x="2377440" y="7991856"/>
            <a:ext cx="3017520" cy="411480"/>
          </a:xfrm>
          <a:prstGeom prst="rect">
            <a:avLst/>
          </a:prstGeom>
          <a:noFill/>
          <a:ln/>
        </p:spPr>
        <p:txBody>
          <a:bodyPr wrap="square" lIns="0" tIns="0" rIns="0" bIns="0" rtlCol="0" anchor="ctr"/>
          <a:lstStyle/>
          <a:p>
            <a:pPr indent="0" marL="0">
              <a:buNone/>
            </a:pPr>
            <a:r>
              <a:rPr lang="en-US" sz="2100" dirty="0">
                <a:solidFill>
                  <a:srgbClr val="18212F"/>
                </a:solidFill>
                <a:latin typeface="Bahnschrift SemiBold" pitchFamily="34" charset="0"/>
                <a:ea typeface="Bahnschrift SemiBold" pitchFamily="34" charset="-122"/>
                <a:cs typeface="Bahnschrift SemiBold" pitchFamily="34" charset="-120"/>
              </a:rPr>
              <a:t>Well covered</a:t>
            </a:r>
            <a:endParaRPr lang="en-US" sz="2100" dirty="0"/>
          </a:p>
        </p:txBody>
      </p:sp>
      <p:sp>
        <p:nvSpPr>
          <p:cNvPr id="23" name="Text 21"/>
          <p:cNvSpPr txBox="1"/>
          <p:nvPr/>
        </p:nvSpPr>
        <p:spPr>
          <a:xfrm>
            <a:off x="2377440" y="8394192"/>
            <a:ext cx="3017520" cy="320040"/>
          </a:xfrm>
          <a:prstGeom prst="rect">
            <a:avLst/>
          </a:prstGeom>
          <a:noFill/>
          <a:ln/>
        </p:spPr>
        <p:txBody>
          <a:bodyPr wrap="square" lIns="0" tIns="0" rIns="0" bIns="0" rtlCol="0" anchor="ctr"/>
          <a:lstStyle/>
          <a:p>
            <a:pPr indent="0" marL="0">
              <a:buNone/>
            </a:pPr>
            <a:r>
              <a:rPr lang="en-US" sz="1400" dirty="0">
                <a:solidFill>
                  <a:srgbClr val="6E7788"/>
                </a:solidFill>
                <a:latin typeface="Calibri" pitchFamily="34" charset="0"/>
                <a:ea typeface="Calibri" pitchFamily="34" charset="-122"/>
                <a:cs typeface="Calibri" pitchFamily="34" charset="-120"/>
              </a:rPr>
              <a:t>60 percent and up</a:t>
            </a:r>
            <a:endParaRPr lang="en-US" sz="1400" dirty="0"/>
          </a:p>
        </p:txBody>
      </p:sp>
      <p:sp>
        <p:nvSpPr>
          <p:cNvPr id="24" name="Shape 22"/>
          <p:cNvSpPr/>
          <p:nvPr/>
        </p:nvSpPr>
        <p:spPr>
          <a:xfrm>
            <a:off x="5760720" y="8156448"/>
            <a:ext cx="5852160" cy="237744"/>
          </a:xfrm>
          <a:prstGeom prst="roundRect">
            <a:avLst>
              <a:gd name="adj" fmla="val 192308"/>
            </a:avLst>
          </a:prstGeom>
          <a:solidFill>
            <a:srgbClr val="EEF2F5"/>
          </a:solidFill>
          <a:ln w="12700">
            <a:solidFill>
              <a:srgbClr val="EEF2F5"/>
            </a:solidFill>
            <a:prstDash val="solid"/>
          </a:ln>
        </p:spPr>
      </p:sp>
      <p:sp>
        <p:nvSpPr>
          <p:cNvPr id="25" name="Shape 23"/>
          <p:cNvSpPr/>
          <p:nvPr/>
        </p:nvSpPr>
        <p:spPr>
          <a:xfrm>
            <a:off x="5760720" y="8156448"/>
            <a:ext cx="4681728" cy="237744"/>
          </a:xfrm>
          <a:prstGeom prst="roundRect">
            <a:avLst>
              <a:gd name="adj" fmla="val 192308"/>
            </a:avLst>
          </a:prstGeom>
          <a:solidFill>
            <a:srgbClr val="C3CCDA"/>
          </a:solidFill>
          <a:ln w="12700">
            <a:solidFill>
              <a:srgbClr val="C3CCDA"/>
            </a:solidFill>
            <a:prstDash val="solid"/>
          </a:ln>
        </p:spPr>
      </p:sp>
      <p:sp>
        <p:nvSpPr>
          <p:cNvPr id="26" name="Text 24"/>
          <p:cNvSpPr txBox="1"/>
          <p:nvPr/>
        </p:nvSpPr>
        <p:spPr>
          <a:xfrm>
            <a:off x="11887200" y="8046720"/>
            <a:ext cx="5120640" cy="457200"/>
          </a:xfrm>
          <a:prstGeom prst="rect">
            <a:avLst/>
          </a:prstGeom>
          <a:noFill/>
          <a:ln/>
        </p:spPr>
        <p:txBody>
          <a:bodyPr wrap="square" lIns="0" tIns="0" rIns="0" bIns="0" rtlCol="0" anchor="ctr"/>
          <a:lstStyle/>
          <a:p>
            <a:pPr indent="0" marL="0">
              <a:buNone/>
            </a:pPr>
            <a:r>
              <a:rPr lang="en-US" sz="1600" dirty="0">
                <a:solidFill>
                  <a:srgbClr val="6E7788"/>
                </a:solidFill>
                <a:latin typeface="Calibri" pitchFamily="34" charset="0"/>
                <a:ea typeface="Calibri" pitchFamily="34" charset="-122"/>
                <a:cs typeface="Calibri" pitchFamily="34" charset="-120"/>
              </a:rPr>
              <a:t>Food safety 91, route sales 88</a:t>
            </a:r>
            <a:endParaRPr lang="en-US" sz="1600" dirty="0"/>
          </a:p>
        </p:txBody>
      </p:sp>
      <p:sp>
        <p:nvSpPr>
          <p:cNvPr id="27" name="Shape 25"/>
          <p:cNvSpPr/>
          <p:nvPr/>
        </p:nvSpPr>
        <p:spPr>
          <a:xfrm>
            <a:off x="1280160" y="9189720"/>
            <a:ext cx="15727680" cy="0"/>
          </a:xfrm>
          <a:prstGeom prst="line">
            <a:avLst/>
          </a:prstGeom>
          <a:noFill/>
          <a:ln w="12700">
            <a:solidFill>
              <a:srgbClr val="D9D9D9"/>
            </a:solidFill>
            <a:prstDash val="solid"/>
          </a:ln>
        </p:spPr>
      </p:sp>
      <p:sp>
        <p:nvSpPr>
          <p:cNvPr id="28" name="Text 26"/>
          <p:cNvSpPr txBox="1"/>
          <p:nvPr/>
        </p:nvSpPr>
        <p:spPr>
          <a:xfrm>
            <a:off x="1280160" y="9372600"/>
            <a:ext cx="813816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IN THE APP   </a:t>
            </a:r>
            <a:pPr indent="0" marL="0">
              <a:buNone/>
            </a:pPr>
            <a:r>
              <a:rPr lang="en-US" sz="1400" dirty="0">
                <a:solidFill>
                  <a:srgbClr val="18212F"/>
                </a:solidFill>
                <a:latin typeface="Calibri" pitchFamily="34" charset="0"/>
                <a:ea typeface="Calibri" pitchFamily="34" charset="-122"/>
                <a:cs typeface="Calibri" pitchFamily="34" charset="-120"/>
              </a:rPr>
              <a:t>Skills tab</a:t>
            </a:r>
            <a:endParaRPr lang="en-US" sz="1400" dirty="0"/>
          </a:p>
        </p:txBody>
      </p:sp>
      <p:sp>
        <p:nvSpPr>
          <p:cNvPr id="29" name="Text 27"/>
          <p:cNvSpPr txBox="1"/>
          <p:nvPr/>
        </p:nvSpPr>
        <p:spPr>
          <a:xfrm>
            <a:off x="9418320" y="9372600"/>
            <a:ext cx="758952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NUMBERS FROM   </a:t>
            </a:r>
            <a:pPr indent="0" marL="0">
              <a:buNone/>
            </a:pPr>
            <a:r>
              <a:rPr lang="en-US" sz="1400" dirty="0">
                <a:solidFill>
                  <a:srgbClr val="18212F"/>
                </a:solidFill>
                <a:latin typeface="Calibri" pitchFamily="34" charset="0"/>
                <a:ea typeface="Calibri" pitchFamily="34" charset="-122"/>
                <a:cs typeface="Calibri" pitchFamily="34" charset="-120"/>
              </a:rPr>
              <a:t>Demo coverage. Job groups are Schwan's own career areas.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EF2F5"/>
          </a:solidFill>
          <a:ln w="12700">
            <a:solidFill>
              <a:srgbClr val="EEF2F5"/>
            </a:solidFill>
            <a:prstDash val="solid"/>
          </a:ln>
        </p:spPr>
      </p:sp>
      <p:sp>
        <p:nvSpPr>
          <p:cNvPr id="3" name="Text 1"/>
          <p:cNvSpPr txBox="1"/>
          <p:nvPr/>
        </p:nvSpPr>
        <p:spPr>
          <a:xfrm>
            <a:off x="1170432" y="566928"/>
            <a:ext cx="2286000" cy="2194560"/>
          </a:xfrm>
          <a:prstGeom prst="rect">
            <a:avLst/>
          </a:prstGeom>
          <a:noFill/>
          <a:ln/>
        </p:spPr>
        <p:txBody>
          <a:bodyPr wrap="square" lIns="0" tIns="0" rIns="0" bIns="0" rtlCol="0" anchor="ctr"/>
          <a:lstStyle/>
          <a:p>
            <a:pPr indent="0" marL="0">
              <a:lnSpc>
                <a:spcPct val="82000"/>
              </a:lnSpc>
              <a:buNone/>
            </a:pPr>
            <a:r>
              <a:rPr lang="en-US" sz="14000" dirty="0">
                <a:solidFill>
                  <a:srgbClr val="DCE3EA"/>
                </a:solidFill>
                <a:latin typeface="Bahnschrift SemiBold" pitchFamily="34" charset="0"/>
                <a:ea typeface="Bahnschrift SemiBold" pitchFamily="34" charset="-122"/>
                <a:cs typeface="Bahnschrift SemiBold" pitchFamily="34" charset="-120"/>
              </a:rPr>
              <a:t>02</a:t>
            </a:r>
            <a:endParaRPr lang="en-US" sz="14000" dirty="0"/>
          </a:p>
        </p:txBody>
      </p:sp>
      <p:sp>
        <p:nvSpPr>
          <p:cNvPr id="4" name="Text 2"/>
          <p:cNvSpPr txBox="1"/>
          <p:nvPr/>
        </p:nvSpPr>
        <p:spPr>
          <a:xfrm>
            <a:off x="3931920" y="868680"/>
            <a:ext cx="13075920" cy="1463040"/>
          </a:xfrm>
          <a:prstGeom prst="rect">
            <a:avLst/>
          </a:prstGeom>
          <a:noFill/>
          <a:ln/>
        </p:spPr>
        <p:txBody>
          <a:bodyPr wrap="square" lIns="0" tIns="0" rIns="0" bIns="0" rtlCol="0" anchor="ctr"/>
          <a:lstStyle/>
          <a:p>
            <a:pPr indent="0" marL="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What skills will be needed to support</a:t>
            </a:r>
            <a:endParaRPr lang="en-US" sz="3000" dirty="0"/>
          </a:p>
          <a:p>
            <a:pPr indent="0" marL="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future business and technology strategies?</a:t>
            </a:r>
            <a:endParaRPr lang="en-US" sz="3000" dirty="0"/>
          </a:p>
        </p:txBody>
      </p:sp>
      <p:sp>
        <p:nvSpPr>
          <p:cNvPr id="5" name="Text 3"/>
          <p:cNvSpPr txBox="1"/>
          <p:nvPr/>
        </p:nvSpPr>
        <p:spPr>
          <a:xfrm>
            <a:off x="1280160" y="2743200"/>
            <a:ext cx="14081760" cy="1554480"/>
          </a:xfrm>
          <a:prstGeom prst="rect">
            <a:avLst/>
          </a:prstGeom>
          <a:noFill/>
          <a:ln/>
        </p:spPr>
        <p:txBody>
          <a:bodyPr wrap="square" lIns="0" tIns="0" rIns="0" bIns="0" rtlCol="0" anchor="ctr"/>
          <a:lstStyle/>
          <a:p>
            <a:pPr indent="0" marL="0">
              <a:lnSpc>
                <a:spcPct val="106000"/>
              </a:lnSpc>
              <a:buNone/>
            </a:pPr>
            <a:r>
              <a:rPr lang="en-US" sz="3600" dirty="0">
                <a:solidFill>
                  <a:srgbClr val="18212F"/>
                </a:solidFill>
                <a:latin typeface="Bahnschrift SemiBold" pitchFamily="34" charset="0"/>
                <a:ea typeface="Bahnschrift SemiBold" pitchFamily="34" charset="-122"/>
                <a:cs typeface="Bahnschrift SemiBold" pitchFamily="34" charset="-120"/>
              </a:rPr>
              <a:t>Five skills carry a 2027 target, each tied</a:t>
            </a:r>
            <a:endParaRPr lang="en-US" sz="3600" dirty="0"/>
          </a:p>
          <a:p>
            <a:pPr indent="0" marL="0">
              <a:lnSpc>
                <a:spcPct val="106000"/>
              </a:lnSpc>
              <a:buNone/>
            </a:pPr>
            <a:r>
              <a:rPr lang="en-US" sz="3600" dirty="0">
                <a:solidFill>
                  <a:srgbClr val="18212F"/>
                </a:solidFill>
                <a:latin typeface="Bahnschrift SemiBold" pitchFamily="34" charset="0"/>
                <a:ea typeface="Bahnschrift SemiBold" pitchFamily="34" charset="-122"/>
                <a:cs typeface="Bahnschrift SemiBold" pitchFamily="34" charset="-120"/>
              </a:rPr>
              <a:t>to something the company is already doing.</a:t>
            </a:r>
            <a:endParaRPr lang="en-US" sz="3600" dirty="0"/>
          </a:p>
        </p:txBody>
      </p:sp>
      <p:sp>
        <p:nvSpPr>
          <p:cNvPr id="6" name="Text 4"/>
          <p:cNvSpPr txBox="1"/>
          <p:nvPr/>
        </p:nvSpPr>
        <p:spPr>
          <a:xfrm>
            <a:off x="1280160" y="4754880"/>
            <a:ext cx="402336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Legal and compliance</a:t>
            </a:r>
            <a:endParaRPr lang="en-US" sz="1900" dirty="0"/>
          </a:p>
        </p:txBody>
      </p:sp>
      <p:sp>
        <p:nvSpPr>
          <p:cNvPr id="7" name="Shape 5"/>
          <p:cNvSpPr/>
          <p:nvPr/>
        </p:nvSpPr>
        <p:spPr>
          <a:xfrm>
            <a:off x="5669280" y="4846320"/>
            <a:ext cx="4572000" cy="237744"/>
          </a:xfrm>
          <a:prstGeom prst="roundRect">
            <a:avLst>
              <a:gd name="adj" fmla="val 192308"/>
            </a:avLst>
          </a:prstGeom>
          <a:solidFill>
            <a:srgbClr val="FFFFFF"/>
          </a:solidFill>
          <a:ln w="12700">
            <a:solidFill>
              <a:srgbClr val="FFFFFF"/>
            </a:solidFill>
            <a:prstDash val="solid"/>
          </a:ln>
        </p:spPr>
      </p:sp>
      <p:sp>
        <p:nvSpPr>
          <p:cNvPr id="8" name="Shape 6"/>
          <p:cNvSpPr/>
          <p:nvPr/>
        </p:nvSpPr>
        <p:spPr>
          <a:xfrm>
            <a:off x="5669280" y="4846320"/>
            <a:ext cx="2514600" cy="237744"/>
          </a:xfrm>
          <a:prstGeom prst="roundRect">
            <a:avLst>
              <a:gd name="adj" fmla="val 192308"/>
            </a:avLst>
          </a:prstGeom>
          <a:solidFill>
            <a:srgbClr val="C3CCDA"/>
          </a:solidFill>
          <a:ln w="12700">
            <a:solidFill>
              <a:srgbClr val="C3CCDA"/>
            </a:solidFill>
            <a:prstDash val="solid"/>
          </a:ln>
        </p:spPr>
      </p:sp>
      <p:sp>
        <p:nvSpPr>
          <p:cNvPr id="9" name="Shape 7"/>
          <p:cNvSpPr/>
          <p:nvPr/>
        </p:nvSpPr>
        <p:spPr>
          <a:xfrm>
            <a:off x="5669280" y="4846320"/>
            <a:ext cx="914400" cy="237744"/>
          </a:xfrm>
          <a:prstGeom prst="roundRect">
            <a:avLst>
              <a:gd name="adj" fmla="val 192308"/>
            </a:avLst>
          </a:prstGeom>
          <a:solidFill>
            <a:srgbClr val="232E54"/>
          </a:solidFill>
          <a:ln w="12700">
            <a:solidFill>
              <a:srgbClr val="232E54"/>
            </a:solidFill>
            <a:prstDash val="solid"/>
          </a:ln>
        </p:spPr>
      </p:sp>
      <p:sp>
        <p:nvSpPr>
          <p:cNvPr id="10" name="Text 8"/>
          <p:cNvSpPr txBox="1"/>
          <p:nvPr/>
        </p:nvSpPr>
        <p:spPr>
          <a:xfrm>
            <a:off x="10469880" y="4773168"/>
            <a:ext cx="1645920" cy="411480"/>
          </a:xfrm>
          <a:prstGeom prst="rect">
            <a:avLst/>
          </a:prstGeom>
          <a:noFill/>
          <a:ln/>
        </p:spPr>
        <p:txBody>
          <a:bodyPr wrap="square" lIns="0" tIns="0" rIns="0" bIns="0" rtlCol="0" anchor="ctr"/>
          <a:lstStyle/>
          <a:p>
            <a:pPr indent="0" marL="0">
              <a:buNone/>
            </a:pPr>
            <a:r>
              <a:rPr lang="en-US" sz="1500" dirty="0">
                <a:solidFill>
                  <a:srgbClr val="18212F"/>
                </a:solidFill>
                <a:latin typeface="Consolas" pitchFamily="34" charset="0"/>
                <a:ea typeface="Consolas" pitchFamily="34" charset="-122"/>
                <a:cs typeface="Consolas" pitchFamily="34" charset="-120"/>
              </a:rPr>
              <a:t>20 to 55</a:t>
            </a:r>
            <a:endParaRPr lang="en-US" sz="1500" dirty="0"/>
          </a:p>
        </p:txBody>
      </p:sp>
      <p:sp>
        <p:nvSpPr>
          <p:cNvPr id="11" name="Text 9"/>
          <p:cNvSpPr txBox="1"/>
          <p:nvPr/>
        </p:nvSpPr>
        <p:spPr>
          <a:xfrm>
            <a:off x="12115800" y="4764024"/>
            <a:ext cx="777240" cy="411480"/>
          </a:xfrm>
          <a:prstGeom prst="rect">
            <a:avLst/>
          </a:prstGeom>
          <a:noFill/>
          <a:ln/>
        </p:spPr>
        <p:txBody>
          <a:bodyPr wrap="square" lIns="0" tIns="0" rIns="0" bIns="0" rtlCol="0" anchor="ctr"/>
          <a:lstStyle/>
          <a:p>
            <a:pPr indent="0" marL="0">
              <a:buNone/>
            </a:pPr>
            <a:r>
              <a:rPr lang="en-US" sz="1900" dirty="0">
                <a:solidFill>
                  <a:srgbClr val="232E54"/>
                </a:solidFill>
                <a:latin typeface="Bahnschrift SemiBold" pitchFamily="34" charset="0"/>
                <a:ea typeface="Bahnschrift SemiBold" pitchFamily="34" charset="-122"/>
                <a:cs typeface="Bahnschrift SemiBold" pitchFamily="34" charset="-120"/>
              </a:rPr>
              <a:t>+35</a:t>
            </a:r>
            <a:endParaRPr lang="en-US" sz="1900" dirty="0"/>
          </a:p>
        </p:txBody>
      </p:sp>
      <p:sp>
        <p:nvSpPr>
          <p:cNvPr id="12" name="Text 10"/>
          <p:cNvSpPr txBox="1"/>
          <p:nvPr/>
        </p:nvSpPr>
        <p:spPr>
          <a:xfrm>
            <a:off x="13075920" y="4791456"/>
            <a:ext cx="3931920" cy="45720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CJ CheilJedang integration</a:t>
            </a:r>
            <a:endParaRPr lang="en-US" sz="1500" dirty="0"/>
          </a:p>
        </p:txBody>
      </p:sp>
      <p:sp>
        <p:nvSpPr>
          <p:cNvPr id="13" name="Shape 11"/>
          <p:cNvSpPr/>
          <p:nvPr/>
        </p:nvSpPr>
        <p:spPr>
          <a:xfrm>
            <a:off x="1280160" y="5449824"/>
            <a:ext cx="15727680" cy="0"/>
          </a:xfrm>
          <a:prstGeom prst="line">
            <a:avLst/>
          </a:prstGeom>
          <a:noFill/>
          <a:ln w="12700">
            <a:solidFill>
              <a:srgbClr val="DCE3EA"/>
            </a:solidFill>
            <a:prstDash val="solid"/>
          </a:ln>
        </p:spPr>
      </p:sp>
      <p:sp>
        <p:nvSpPr>
          <p:cNvPr id="14" name="Text 12"/>
          <p:cNvSpPr txBox="1"/>
          <p:nvPr/>
        </p:nvSpPr>
        <p:spPr>
          <a:xfrm>
            <a:off x="1280160" y="5623560"/>
            <a:ext cx="402336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PLC and automation</a:t>
            </a:r>
            <a:endParaRPr lang="en-US" sz="1900" dirty="0"/>
          </a:p>
        </p:txBody>
      </p:sp>
      <p:sp>
        <p:nvSpPr>
          <p:cNvPr id="15" name="Shape 13"/>
          <p:cNvSpPr/>
          <p:nvPr/>
        </p:nvSpPr>
        <p:spPr>
          <a:xfrm>
            <a:off x="5669280" y="5715000"/>
            <a:ext cx="4572000" cy="237744"/>
          </a:xfrm>
          <a:prstGeom prst="roundRect">
            <a:avLst>
              <a:gd name="adj" fmla="val 192308"/>
            </a:avLst>
          </a:prstGeom>
          <a:solidFill>
            <a:srgbClr val="FFFFFF"/>
          </a:solidFill>
          <a:ln w="12700">
            <a:solidFill>
              <a:srgbClr val="FFFFFF"/>
            </a:solidFill>
            <a:prstDash val="solid"/>
          </a:ln>
        </p:spPr>
      </p:sp>
      <p:sp>
        <p:nvSpPr>
          <p:cNvPr id="16" name="Shape 14"/>
          <p:cNvSpPr/>
          <p:nvPr/>
        </p:nvSpPr>
        <p:spPr>
          <a:xfrm>
            <a:off x="5669280" y="5715000"/>
            <a:ext cx="2971800" cy="237744"/>
          </a:xfrm>
          <a:prstGeom prst="roundRect">
            <a:avLst>
              <a:gd name="adj" fmla="val 192308"/>
            </a:avLst>
          </a:prstGeom>
          <a:solidFill>
            <a:srgbClr val="C3CCDA"/>
          </a:solidFill>
          <a:ln w="12700">
            <a:solidFill>
              <a:srgbClr val="C3CCDA"/>
            </a:solidFill>
            <a:prstDash val="solid"/>
          </a:ln>
        </p:spPr>
      </p:sp>
      <p:sp>
        <p:nvSpPr>
          <p:cNvPr id="17" name="Shape 15"/>
          <p:cNvSpPr/>
          <p:nvPr/>
        </p:nvSpPr>
        <p:spPr>
          <a:xfrm>
            <a:off x="5669280" y="5715000"/>
            <a:ext cx="1554480" cy="237744"/>
          </a:xfrm>
          <a:prstGeom prst="roundRect">
            <a:avLst>
              <a:gd name="adj" fmla="val 192308"/>
            </a:avLst>
          </a:prstGeom>
          <a:solidFill>
            <a:srgbClr val="232E54"/>
          </a:solidFill>
          <a:ln w="12700">
            <a:solidFill>
              <a:srgbClr val="232E54"/>
            </a:solidFill>
            <a:prstDash val="solid"/>
          </a:ln>
        </p:spPr>
      </p:sp>
      <p:sp>
        <p:nvSpPr>
          <p:cNvPr id="18" name="Text 16"/>
          <p:cNvSpPr txBox="1"/>
          <p:nvPr/>
        </p:nvSpPr>
        <p:spPr>
          <a:xfrm>
            <a:off x="10469880" y="5641848"/>
            <a:ext cx="1645920" cy="411480"/>
          </a:xfrm>
          <a:prstGeom prst="rect">
            <a:avLst/>
          </a:prstGeom>
          <a:noFill/>
          <a:ln/>
        </p:spPr>
        <p:txBody>
          <a:bodyPr wrap="square" lIns="0" tIns="0" rIns="0" bIns="0" rtlCol="0" anchor="ctr"/>
          <a:lstStyle/>
          <a:p>
            <a:pPr indent="0" marL="0">
              <a:buNone/>
            </a:pPr>
            <a:r>
              <a:rPr lang="en-US" sz="1500" dirty="0">
                <a:solidFill>
                  <a:srgbClr val="18212F"/>
                </a:solidFill>
                <a:latin typeface="Consolas" pitchFamily="34" charset="0"/>
                <a:ea typeface="Consolas" pitchFamily="34" charset="-122"/>
                <a:cs typeface="Consolas" pitchFamily="34" charset="-120"/>
              </a:rPr>
              <a:t>34 to 65</a:t>
            </a:r>
            <a:endParaRPr lang="en-US" sz="1500" dirty="0"/>
          </a:p>
        </p:txBody>
      </p:sp>
      <p:sp>
        <p:nvSpPr>
          <p:cNvPr id="19" name="Text 17"/>
          <p:cNvSpPr txBox="1"/>
          <p:nvPr/>
        </p:nvSpPr>
        <p:spPr>
          <a:xfrm>
            <a:off x="12115800" y="5632704"/>
            <a:ext cx="777240" cy="411480"/>
          </a:xfrm>
          <a:prstGeom prst="rect">
            <a:avLst/>
          </a:prstGeom>
          <a:noFill/>
          <a:ln/>
        </p:spPr>
        <p:txBody>
          <a:bodyPr wrap="square" lIns="0" tIns="0" rIns="0" bIns="0" rtlCol="0" anchor="ctr"/>
          <a:lstStyle/>
          <a:p>
            <a:pPr indent="0" marL="0">
              <a:buNone/>
            </a:pPr>
            <a:r>
              <a:rPr lang="en-US" sz="1900" dirty="0">
                <a:solidFill>
                  <a:srgbClr val="232E54"/>
                </a:solidFill>
                <a:latin typeface="Bahnschrift SemiBold" pitchFamily="34" charset="0"/>
                <a:ea typeface="Bahnschrift SemiBold" pitchFamily="34" charset="-122"/>
                <a:cs typeface="Bahnschrift SemiBold" pitchFamily="34" charset="-120"/>
              </a:rPr>
              <a:t>+31</a:t>
            </a:r>
            <a:endParaRPr lang="en-US" sz="1900" dirty="0"/>
          </a:p>
        </p:txBody>
      </p:sp>
      <p:sp>
        <p:nvSpPr>
          <p:cNvPr id="20" name="Text 18"/>
          <p:cNvSpPr txBox="1"/>
          <p:nvPr/>
        </p:nvSpPr>
        <p:spPr>
          <a:xfrm>
            <a:off x="13075920" y="5660136"/>
            <a:ext cx="3931920" cy="45720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Sioux Falls plant opens 2027</a:t>
            </a:r>
            <a:endParaRPr lang="en-US" sz="1500" dirty="0"/>
          </a:p>
        </p:txBody>
      </p:sp>
      <p:sp>
        <p:nvSpPr>
          <p:cNvPr id="21" name="Shape 19"/>
          <p:cNvSpPr/>
          <p:nvPr/>
        </p:nvSpPr>
        <p:spPr>
          <a:xfrm>
            <a:off x="1280160" y="6318504"/>
            <a:ext cx="15727680" cy="0"/>
          </a:xfrm>
          <a:prstGeom prst="line">
            <a:avLst/>
          </a:prstGeom>
          <a:noFill/>
          <a:ln w="12700">
            <a:solidFill>
              <a:srgbClr val="DCE3EA"/>
            </a:solidFill>
            <a:prstDash val="solid"/>
          </a:ln>
        </p:spPr>
      </p:sp>
      <p:sp>
        <p:nvSpPr>
          <p:cNvPr id="22" name="Text 20"/>
          <p:cNvSpPr txBox="1"/>
          <p:nvPr/>
        </p:nvSpPr>
        <p:spPr>
          <a:xfrm>
            <a:off x="1280160" y="6492240"/>
            <a:ext cx="402336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Data analytics</a:t>
            </a:r>
            <a:endParaRPr lang="en-US" sz="1900" dirty="0"/>
          </a:p>
        </p:txBody>
      </p:sp>
      <p:sp>
        <p:nvSpPr>
          <p:cNvPr id="23" name="Shape 21"/>
          <p:cNvSpPr/>
          <p:nvPr/>
        </p:nvSpPr>
        <p:spPr>
          <a:xfrm>
            <a:off x="5669280" y="6583680"/>
            <a:ext cx="4572000" cy="237744"/>
          </a:xfrm>
          <a:prstGeom prst="roundRect">
            <a:avLst>
              <a:gd name="adj" fmla="val 192308"/>
            </a:avLst>
          </a:prstGeom>
          <a:solidFill>
            <a:srgbClr val="FFFFFF"/>
          </a:solidFill>
          <a:ln w="12700">
            <a:solidFill>
              <a:srgbClr val="FFFFFF"/>
            </a:solidFill>
            <a:prstDash val="solid"/>
          </a:ln>
        </p:spPr>
      </p:sp>
      <p:sp>
        <p:nvSpPr>
          <p:cNvPr id="24" name="Shape 22"/>
          <p:cNvSpPr/>
          <p:nvPr/>
        </p:nvSpPr>
        <p:spPr>
          <a:xfrm>
            <a:off x="5669280" y="6583680"/>
            <a:ext cx="3200400" cy="237744"/>
          </a:xfrm>
          <a:prstGeom prst="roundRect">
            <a:avLst>
              <a:gd name="adj" fmla="val 192308"/>
            </a:avLst>
          </a:prstGeom>
          <a:solidFill>
            <a:srgbClr val="C3CCDA"/>
          </a:solidFill>
          <a:ln w="12700">
            <a:solidFill>
              <a:srgbClr val="C3CCDA"/>
            </a:solidFill>
            <a:prstDash val="solid"/>
          </a:ln>
        </p:spPr>
      </p:sp>
      <p:sp>
        <p:nvSpPr>
          <p:cNvPr id="25" name="Shape 23"/>
          <p:cNvSpPr/>
          <p:nvPr/>
        </p:nvSpPr>
        <p:spPr>
          <a:xfrm>
            <a:off x="5669280" y="6583680"/>
            <a:ext cx="1874520" cy="237744"/>
          </a:xfrm>
          <a:prstGeom prst="roundRect">
            <a:avLst>
              <a:gd name="adj" fmla="val 192308"/>
            </a:avLst>
          </a:prstGeom>
          <a:solidFill>
            <a:srgbClr val="232E54"/>
          </a:solidFill>
          <a:ln w="12700">
            <a:solidFill>
              <a:srgbClr val="232E54"/>
            </a:solidFill>
            <a:prstDash val="solid"/>
          </a:ln>
        </p:spPr>
      </p:sp>
      <p:sp>
        <p:nvSpPr>
          <p:cNvPr id="26" name="Text 24"/>
          <p:cNvSpPr txBox="1"/>
          <p:nvPr/>
        </p:nvSpPr>
        <p:spPr>
          <a:xfrm>
            <a:off x="10469880" y="6510528"/>
            <a:ext cx="1645920" cy="411480"/>
          </a:xfrm>
          <a:prstGeom prst="rect">
            <a:avLst/>
          </a:prstGeom>
          <a:noFill/>
          <a:ln/>
        </p:spPr>
        <p:txBody>
          <a:bodyPr wrap="square" lIns="0" tIns="0" rIns="0" bIns="0" rtlCol="0" anchor="ctr"/>
          <a:lstStyle/>
          <a:p>
            <a:pPr indent="0" marL="0">
              <a:buNone/>
            </a:pPr>
            <a:r>
              <a:rPr lang="en-US" sz="1500" dirty="0">
                <a:solidFill>
                  <a:srgbClr val="18212F"/>
                </a:solidFill>
                <a:latin typeface="Consolas" pitchFamily="34" charset="0"/>
                <a:ea typeface="Consolas" pitchFamily="34" charset="-122"/>
                <a:cs typeface="Consolas" pitchFamily="34" charset="-120"/>
              </a:rPr>
              <a:t>41 to 70</a:t>
            </a:r>
            <a:endParaRPr lang="en-US" sz="1500" dirty="0"/>
          </a:p>
        </p:txBody>
      </p:sp>
      <p:sp>
        <p:nvSpPr>
          <p:cNvPr id="27" name="Text 25"/>
          <p:cNvSpPr txBox="1"/>
          <p:nvPr/>
        </p:nvSpPr>
        <p:spPr>
          <a:xfrm>
            <a:off x="12115800" y="6501384"/>
            <a:ext cx="777240" cy="411480"/>
          </a:xfrm>
          <a:prstGeom prst="rect">
            <a:avLst/>
          </a:prstGeom>
          <a:noFill/>
          <a:ln/>
        </p:spPr>
        <p:txBody>
          <a:bodyPr wrap="square" lIns="0" tIns="0" rIns="0" bIns="0" rtlCol="0" anchor="ctr"/>
          <a:lstStyle/>
          <a:p>
            <a:pPr indent="0" marL="0">
              <a:buNone/>
            </a:pPr>
            <a:r>
              <a:rPr lang="en-US" sz="1900" dirty="0">
                <a:solidFill>
                  <a:srgbClr val="232E54"/>
                </a:solidFill>
                <a:latin typeface="Bahnschrift SemiBold" pitchFamily="34" charset="0"/>
                <a:ea typeface="Bahnschrift SemiBold" pitchFamily="34" charset="-122"/>
                <a:cs typeface="Bahnschrift SemiBold" pitchFamily="34" charset="-120"/>
              </a:rPr>
              <a:t>+29</a:t>
            </a:r>
            <a:endParaRPr lang="en-US" sz="1900" dirty="0"/>
          </a:p>
        </p:txBody>
      </p:sp>
      <p:sp>
        <p:nvSpPr>
          <p:cNvPr id="28" name="Text 26"/>
          <p:cNvSpPr txBox="1"/>
          <p:nvPr/>
        </p:nvSpPr>
        <p:spPr>
          <a:xfrm>
            <a:off x="13075920" y="6528816"/>
            <a:ext cx="3931920" cy="45720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Demand forecasting rollout</a:t>
            </a:r>
            <a:endParaRPr lang="en-US" sz="1500" dirty="0"/>
          </a:p>
        </p:txBody>
      </p:sp>
      <p:sp>
        <p:nvSpPr>
          <p:cNvPr id="29" name="Shape 27"/>
          <p:cNvSpPr/>
          <p:nvPr/>
        </p:nvSpPr>
        <p:spPr>
          <a:xfrm>
            <a:off x="1280160" y="7187184"/>
            <a:ext cx="15727680" cy="0"/>
          </a:xfrm>
          <a:prstGeom prst="line">
            <a:avLst/>
          </a:prstGeom>
          <a:noFill/>
          <a:ln w="12700">
            <a:solidFill>
              <a:srgbClr val="DCE3EA"/>
            </a:solidFill>
            <a:prstDash val="solid"/>
          </a:ln>
        </p:spPr>
      </p:sp>
      <p:sp>
        <p:nvSpPr>
          <p:cNvPr id="30" name="Text 28"/>
          <p:cNvSpPr txBox="1"/>
          <p:nvPr/>
        </p:nvSpPr>
        <p:spPr>
          <a:xfrm>
            <a:off x="1280160" y="7360920"/>
            <a:ext cx="402336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Refrigeration and ammonia</a:t>
            </a:r>
            <a:endParaRPr lang="en-US" sz="1900" dirty="0"/>
          </a:p>
        </p:txBody>
      </p:sp>
      <p:sp>
        <p:nvSpPr>
          <p:cNvPr id="31" name="Shape 29"/>
          <p:cNvSpPr/>
          <p:nvPr/>
        </p:nvSpPr>
        <p:spPr>
          <a:xfrm>
            <a:off x="5669280" y="7452360"/>
            <a:ext cx="4572000" cy="237744"/>
          </a:xfrm>
          <a:prstGeom prst="roundRect">
            <a:avLst>
              <a:gd name="adj" fmla="val 192308"/>
            </a:avLst>
          </a:prstGeom>
          <a:solidFill>
            <a:srgbClr val="FFFFFF"/>
          </a:solidFill>
          <a:ln w="12700">
            <a:solidFill>
              <a:srgbClr val="FFFFFF"/>
            </a:solidFill>
            <a:prstDash val="solid"/>
          </a:ln>
        </p:spPr>
      </p:sp>
      <p:sp>
        <p:nvSpPr>
          <p:cNvPr id="32" name="Shape 30"/>
          <p:cNvSpPr/>
          <p:nvPr/>
        </p:nvSpPr>
        <p:spPr>
          <a:xfrm>
            <a:off x="5669280" y="7452360"/>
            <a:ext cx="2286000" cy="237744"/>
          </a:xfrm>
          <a:prstGeom prst="roundRect">
            <a:avLst>
              <a:gd name="adj" fmla="val 192308"/>
            </a:avLst>
          </a:prstGeom>
          <a:solidFill>
            <a:srgbClr val="C3CCDA"/>
          </a:solidFill>
          <a:ln w="12700">
            <a:solidFill>
              <a:srgbClr val="C3CCDA"/>
            </a:solidFill>
            <a:prstDash val="solid"/>
          </a:ln>
        </p:spPr>
      </p:sp>
      <p:sp>
        <p:nvSpPr>
          <p:cNvPr id="33" name="Shape 31"/>
          <p:cNvSpPr/>
          <p:nvPr/>
        </p:nvSpPr>
        <p:spPr>
          <a:xfrm>
            <a:off x="5669280" y="7452360"/>
            <a:ext cx="1005840" cy="237744"/>
          </a:xfrm>
          <a:prstGeom prst="roundRect">
            <a:avLst>
              <a:gd name="adj" fmla="val 192308"/>
            </a:avLst>
          </a:prstGeom>
          <a:solidFill>
            <a:srgbClr val="232E54"/>
          </a:solidFill>
          <a:ln w="12700">
            <a:solidFill>
              <a:srgbClr val="232E54"/>
            </a:solidFill>
            <a:prstDash val="solid"/>
          </a:ln>
        </p:spPr>
      </p:sp>
      <p:sp>
        <p:nvSpPr>
          <p:cNvPr id="34" name="Text 32"/>
          <p:cNvSpPr txBox="1"/>
          <p:nvPr/>
        </p:nvSpPr>
        <p:spPr>
          <a:xfrm>
            <a:off x="10469880" y="7379208"/>
            <a:ext cx="1645920" cy="411480"/>
          </a:xfrm>
          <a:prstGeom prst="rect">
            <a:avLst/>
          </a:prstGeom>
          <a:noFill/>
          <a:ln/>
        </p:spPr>
        <p:txBody>
          <a:bodyPr wrap="square" lIns="0" tIns="0" rIns="0" bIns="0" rtlCol="0" anchor="ctr"/>
          <a:lstStyle/>
          <a:p>
            <a:pPr indent="0" marL="0">
              <a:buNone/>
            </a:pPr>
            <a:r>
              <a:rPr lang="en-US" sz="1500" dirty="0">
                <a:solidFill>
                  <a:srgbClr val="18212F"/>
                </a:solidFill>
                <a:latin typeface="Consolas" pitchFamily="34" charset="0"/>
                <a:ea typeface="Consolas" pitchFamily="34" charset="-122"/>
                <a:cs typeface="Consolas" pitchFamily="34" charset="-120"/>
              </a:rPr>
              <a:t>22 to 50</a:t>
            </a:r>
            <a:endParaRPr lang="en-US" sz="1500" dirty="0"/>
          </a:p>
        </p:txBody>
      </p:sp>
      <p:sp>
        <p:nvSpPr>
          <p:cNvPr id="35" name="Text 33"/>
          <p:cNvSpPr txBox="1"/>
          <p:nvPr/>
        </p:nvSpPr>
        <p:spPr>
          <a:xfrm>
            <a:off x="12115800" y="7370064"/>
            <a:ext cx="777240" cy="411480"/>
          </a:xfrm>
          <a:prstGeom prst="rect">
            <a:avLst/>
          </a:prstGeom>
          <a:noFill/>
          <a:ln/>
        </p:spPr>
        <p:txBody>
          <a:bodyPr wrap="square" lIns="0" tIns="0" rIns="0" bIns="0" rtlCol="0" anchor="ctr"/>
          <a:lstStyle/>
          <a:p>
            <a:pPr indent="0" marL="0">
              <a:buNone/>
            </a:pPr>
            <a:r>
              <a:rPr lang="en-US" sz="1900" dirty="0">
                <a:solidFill>
                  <a:srgbClr val="232E54"/>
                </a:solidFill>
                <a:latin typeface="Bahnschrift SemiBold" pitchFamily="34" charset="0"/>
                <a:ea typeface="Bahnschrift SemiBold" pitchFamily="34" charset="-122"/>
                <a:cs typeface="Bahnschrift SemiBold" pitchFamily="34" charset="-120"/>
              </a:rPr>
              <a:t>+28</a:t>
            </a:r>
            <a:endParaRPr lang="en-US" sz="1900" dirty="0"/>
          </a:p>
        </p:txBody>
      </p:sp>
      <p:sp>
        <p:nvSpPr>
          <p:cNvPr id="36" name="Text 34"/>
          <p:cNvSpPr txBox="1"/>
          <p:nvPr/>
        </p:nvSpPr>
        <p:spPr>
          <a:xfrm>
            <a:off x="13075920" y="7397496"/>
            <a:ext cx="3931920" cy="45720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Frozen capacity expansion</a:t>
            </a:r>
            <a:endParaRPr lang="en-US" sz="1500" dirty="0"/>
          </a:p>
        </p:txBody>
      </p:sp>
      <p:sp>
        <p:nvSpPr>
          <p:cNvPr id="37" name="Shape 35"/>
          <p:cNvSpPr/>
          <p:nvPr/>
        </p:nvSpPr>
        <p:spPr>
          <a:xfrm>
            <a:off x="1280160" y="8055864"/>
            <a:ext cx="15727680" cy="0"/>
          </a:xfrm>
          <a:prstGeom prst="line">
            <a:avLst/>
          </a:prstGeom>
          <a:noFill/>
          <a:ln w="12700">
            <a:solidFill>
              <a:srgbClr val="DCE3EA"/>
            </a:solidFill>
            <a:prstDash val="solid"/>
          </a:ln>
        </p:spPr>
      </p:sp>
      <p:sp>
        <p:nvSpPr>
          <p:cNvPr id="38" name="Text 36"/>
          <p:cNvSpPr txBox="1"/>
          <p:nvPr/>
        </p:nvSpPr>
        <p:spPr>
          <a:xfrm>
            <a:off x="1280160" y="8229600"/>
            <a:ext cx="402336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Menu and culinary consulting</a:t>
            </a:r>
            <a:endParaRPr lang="en-US" sz="1900" dirty="0"/>
          </a:p>
        </p:txBody>
      </p:sp>
      <p:sp>
        <p:nvSpPr>
          <p:cNvPr id="39" name="Shape 37"/>
          <p:cNvSpPr/>
          <p:nvPr/>
        </p:nvSpPr>
        <p:spPr>
          <a:xfrm>
            <a:off x="5669280" y="8321040"/>
            <a:ext cx="4572000" cy="237744"/>
          </a:xfrm>
          <a:prstGeom prst="roundRect">
            <a:avLst>
              <a:gd name="adj" fmla="val 192308"/>
            </a:avLst>
          </a:prstGeom>
          <a:solidFill>
            <a:srgbClr val="FFFFFF"/>
          </a:solidFill>
          <a:ln w="12700">
            <a:solidFill>
              <a:srgbClr val="FFFFFF"/>
            </a:solidFill>
            <a:prstDash val="solid"/>
          </a:ln>
        </p:spPr>
      </p:sp>
      <p:sp>
        <p:nvSpPr>
          <p:cNvPr id="40" name="Shape 38"/>
          <p:cNvSpPr/>
          <p:nvPr/>
        </p:nvSpPr>
        <p:spPr>
          <a:xfrm>
            <a:off x="5669280" y="8321040"/>
            <a:ext cx="2514600" cy="237744"/>
          </a:xfrm>
          <a:prstGeom prst="roundRect">
            <a:avLst>
              <a:gd name="adj" fmla="val 192308"/>
            </a:avLst>
          </a:prstGeom>
          <a:solidFill>
            <a:srgbClr val="C3CCDA"/>
          </a:solidFill>
          <a:ln w="12700">
            <a:solidFill>
              <a:srgbClr val="C3CCDA"/>
            </a:solidFill>
            <a:prstDash val="solid"/>
          </a:ln>
        </p:spPr>
      </p:sp>
      <p:sp>
        <p:nvSpPr>
          <p:cNvPr id="41" name="Shape 39"/>
          <p:cNvSpPr/>
          <p:nvPr/>
        </p:nvSpPr>
        <p:spPr>
          <a:xfrm>
            <a:off x="5669280" y="8321040"/>
            <a:ext cx="1325880" cy="237744"/>
          </a:xfrm>
          <a:prstGeom prst="roundRect">
            <a:avLst>
              <a:gd name="adj" fmla="val 192308"/>
            </a:avLst>
          </a:prstGeom>
          <a:solidFill>
            <a:srgbClr val="232E54"/>
          </a:solidFill>
          <a:ln w="12700">
            <a:solidFill>
              <a:srgbClr val="232E54"/>
            </a:solidFill>
            <a:prstDash val="solid"/>
          </a:ln>
        </p:spPr>
      </p:sp>
      <p:sp>
        <p:nvSpPr>
          <p:cNvPr id="42" name="Text 40"/>
          <p:cNvSpPr txBox="1"/>
          <p:nvPr/>
        </p:nvSpPr>
        <p:spPr>
          <a:xfrm>
            <a:off x="10469880" y="8247888"/>
            <a:ext cx="1645920" cy="411480"/>
          </a:xfrm>
          <a:prstGeom prst="rect">
            <a:avLst/>
          </a:prstGeom>
          <a:noFill/>
          <a:ln/>
        </p:spPr>
        <p:txBody>
          <a:bodyPr wrap="square" lIns="0" tIns="0" rIns="0" bIns="0" rtlCol="0" anchor="ctr"/>
          <a:lstStyle/>
          <a:p>
            <a:pPr indent="0" marL="0">
              <a:buNone/>
            </a:pPr>
            <a:r>
              <a:rPr lang="en-US" sz="1500" dirty="0">
                <a:solidFill>
                  <a:srgbClr val="18212F"/>
                </a:solidFill>
                <a:latin typeface="Consolas" pitchFamily="34" charset="0"/>
                <a:ea typeface="Consolas" pitchFamily="34" charset="-122"/>
                <a:cs typeface="Consolas" pitchFamily="34" charset="-120"/>
              </a:rPr>
              <a:t>29 to 55</a:t>
            </a:r>
            <a:endParaRPr lang="en-US" sz="1500" dirty="0"/>
          </a:p>
        </p:txBody>
      </p:sp>
      <p:sp>
        <p:nvSpPr>
          <p:cNvPr id="43" name="Text 41"/>
          <p:cNvSpPr txBox="1"/>
          <p:nvPr/>
        </p:nvSpPr>
        <p:spPr>
          <a:xfrm>
            <a:off x="12115800" y="8238744"/>
            <a:ext cx="777240" cy="411480"/>
          </a:xfrm>
          <a:prstGeom prst="rect">
            <a:avLst/>
          </a:prstGeom>
          <a:noFill/>
          <a:ln/>
        </p:spPr>
        <p:txBody>
          <a:bodyPr wrap="square" lIns="0" tIns="0" rIns="0" bIns="0" rtlCol="0" anchor="ctr"/>
          <a:lstStyle/>
          <a:p>
            <a:pPr indent="0" marL="0">
              <a:buNone/>
            </a:pPr>
            <a:r>
              <a:rPr lang="en-US" sz="1900" dirty="0">
                <a:solidFill>
                  <a:srgbClr val="232E54"/>
                </a:solidFill>
                <a:latin typeface="Bahnschrift SemiBold" pitchFamily="34" charset="0"/>
                <a:ea typeface="Bahnschrift SemiBold" pitchFamily="34" charset="-122"/>
                <a:cs typeface="Bahnschrift SemiBold" pitchFamily="34" charset="-120"/>
              </a:rPr>
              <a:t>+26</a:t>
            </a:r>
            <a:endParaRPr lang="en-US" sz="1900" dirty="0"/>
          </a:p>
        </p:txBody>
      </p:sp>
      <p:sp>
        <p:nvSpPr>
          <p:cNvPr id="44" name="Text 42"/>
          <p:cNvSpPr txBox="1"/>
          <p:nvPr/>
        </p:nvSpPr>
        <p:spPr>
          <a:xfrm>
            <a:off x="13075920" y="8266176"/>
            <a:ext cx="3931920" cy="45720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K-12 and healthcare accounts</a:t>
            </a:r>
            <a:endParaRPr lang="en-US" sz="1500" dirty="0"/>
          </a:p>
        </p:txBody>
      </p:sp>
      <p:sp>
        <p:nvSpPr>
          <p:cNvPr id="45" name="Text 43"/>
          <p:cNvSpPr txBox="1"/>
          <p:nvPr/>
        </p:nvSpPr>
        <p:spPr>
          <a:xfrm>
            <a:off x="5669280" y="4315968"/>
            <a:ext cx="6858000" cy="365760"/>
          </a:xfrm>
          <a:prstGeom prst="rect">
            <a:avLst/>
          </a:prstGeom>
          <a:noFill/>
          <a:ln/>
        </p:spPr>
        <p:txBody>
          <a:bodyPr wrap="square" lIns="0" tIns="0" rIns="0" bIns="0" rtlCol="0" anchor="ctr"/>
          <a:lstStyle/>
          <a:p>
            <a:pPr indent="0" marL="0">
              <a:buNone/>
            </a:pPr>
            <a:r>
              <a:rPr lang="en-US" sz="1400" dirty="0">
                <a:solidFill>
                  <a:srgbClr val="6E7788"/>
                </a:solidFill>
                <a:latin typeface="Calibri" pitchFamily="34" charset="0"/>
                <a:ea typeface="Calibri" pitchFamily="34" charset="-122"/>
                <a:cs typeface="Calibri" pitchFamily="34" charset="-120"/>
              </a:rPr>
              <a:t>Dark bar is coverage today. Light bar is what 2027 needs.</a:t>
            </a:r>
            <a:endParaRPr lang="en-US" sz="1400" dirty="0"/>
          </a:p>
        </p:txBody>
      </p:sp>
      <p:sp>
        <p:nvSpPr>
          <p:cNvPr id="46" name="Shape 44"/>
          <p:cNvSpPr/>
          <p:nvPr/>
        </p:nvSpPr>
        <p:spPr>
          <a:xfrm>
            <a:off x="1280160" y="9189720"/>
            <a:ext cx="15727680" cy="0"/>
          </a:xfrm>
          <a:prstGeom prst="line">
            <a:avLst/>
          </a:prstGeom>
          <a:noFill/>
          <a:ln w="12700">
            <a:solidFill>
              <a:srgbClr val="D9D9D9"/>
            </a:solidFill>
            <a:prstDash val="solid"/>
          </a:ln>
        </p:spPr>
      </p:sp>
      <p:sp>
        <p:nvSpPr>
          <p:cNvPr id="47" name="Text 45"/>
          <p:cNvSpPr txBox="1"/>
          <p:nvPr/>
        </p:nvSpPr>
        <p:spPr>
          <a:xfrm>
            <a:off x="1280160" y="9372600"/>
            <a:ext cx="813816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IN THE APP   </a:t>
            </a:r>
            <a:pPr indent="0" marL="0">
              <a:buNone/>
            </a:pPr>
            <a:r>
              <a:rPr lang="en-US" sz="1400" dirty="0">
                <a:solidFill>
                  <a:srgbClr val="18212F"/>
                </a:solidFill>
                <a:latin typeface="Calibri" pitchFamily="34" charset="0"/>
                <a:ea typeface="Calibri" pitchFamily="34" charset="-122"/>
                <a:cs typeface="Calibri" pitchFamily="34" charset="-120"/>
              </a:rPr>
              <a:t>Future skills tab</a:t>
            </a:r>
            <a:endParaRPr lang="en-US" sz="1400" dirty="0"/>
          </a:p>
        </p:txBody>
      </p:sp>
      <p:sp>
        <p:nvSpPr>
          <p:cNvPr id="48" name="Text 46"/>
          <p:cNvSpPr txBox="1"/>
          <p:nvPr/>
        </p:nvSpPr>
        <p:spPr>
          <a:xfrm>
            <a:off x="9418320" y="9372600"/>
            <a:ext cx="758952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NUMBERS FROM   </a:t>
            </a:r>
            <a:pPr indent="0" marL="0">
              <a:buNone/>
            </a:pPr>
            <a:r>
              <a:rPr lang="en-US" sz="1400" dirty="0">
                <a:solidFill>
                  <a:srgbClr val="18212F"/>
                </a:solidFill>
                <a:latin typeface="Calibri" pitchFamily="34" charset="0"/>
                <a:ea typeface="Calibri" pitchFamily="34" charset="-122"/>
                <a:cs typeface="Calibri" pitchFamily="34" charset="-120"/>
              </a:rPr>
              <a:t>Demo targets. Drivers sourced: company release, CJ CheilJedang.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2E54"/>
          </a:solidFill>
          <a:ln w="12700">
            <a:solidFill>
              <a:srgbClr val="232E54"/>
            </a:solidFill>
            <a:prstDash val="solid"/>
          </a:ln>
        </p:spPr>
      </p:sp>
      <p:sp>
        <p:nvSpPr>
          <p:cNvPr id="3" name="Shape 1"/>
          <p:cNvSpPr/>
          <p:nvPr/>
        </p:nvSpPr>
        <p:spPr>
          <a:xfrm>
            <a:off x="10607040" y="-365760"/>
            <a:ext cx="8229600" cy="10972800"/>
          </a:xfrm>
          <a:prstGeom prst="rect">
            <a:avLst/>
          </a:prstGeom>
          <a:solidFill>
            <a:srgbClr val="324070"/>
          </a:solidFill>
          <a:ln w="12700">
            <a:solidFill>
              <a:srgbClr val="324070"/>
            </a:solidFill>
            <a:prstDash val="solid"/>
          </a:ln>
        </p:spPr>
      </p:sp>
      <p:sp>
        <p:nvSpPr>
          <p:cNvPr id="4" name="Text 2"/>
          <p:cNvSpPr txBox="1"/>
          <p:nvPr/>
        </p:nvSpPr>
        <p:spPr>
          <a:xfrm>
            <a:off x="1170432" y="566928"/>
            <a:ext cx="2286000" cy="2194560"/>
          </a:xfrm>
          <a:prstGeom prst="rect">
            <a:avLst/>
          </a:prstGeom>
          <a:noFill/>
          <a:ln/>
        </p:spPr>
        <p:txBody>
          <a:bodyPr wrap="square" lIns="0" tIns="0" rIns="0" bIns="0" rtlCol="0" anchor="ctr"/>
          <a:lstStyle/>
          <a:p>
            <a:pPr indent="0" marL="0">
              <a:lnSpc>
                <a:spcPct val="82000"/>
              </a:lnSpc>
              <a:buNone/>
            </a:pPr>
            <a:r>
              <a:rPr lang="en-US" sz="14000" dirty="0">
                <a:solidFill>
                  <a:srgbClr val="44528A"/>
                </a:solidFill>
                <a:latin typeface="Bahnschrift SemiBold" pitchFamily="34" charset="0"/>
                <a:ea typeface="Bahnschrift SemiBold" pitchFamily="34" charset="-122"/>
                <a:cs typeface="Bahnschrift SemiBold" pitchFamily="34" charset="-120"/>
              </a:rPr>
              <a:t>03</a:t>
            </a:r>
            <a:endParaRPr lang="en-US" sz="14000" dirty="0"/>
          </a:p>
        </p:txBody>
      </p:sp>
      <p:sp>
        <p:nvSpPr>
          <p:cNvPr id="5" name="Text 3"/>
          <p:cNvSpPr txBox="1"/>
          <p:nvPr/>
        </p:nvSpPr>
        <p:spPr>
          <a:xfrm>
            <a:off x="3931920" y="868680"/>
            <a:ext cx="6675120" cy="2011680"/>
          </a:xfrm>
          <a:prstGeom prst="rect">
            <a:avLst/>
          </a:prstGeom>
          <a:noFill/>
          <a:ln/>
        </p:spPr>
        <p:txBody>
          <a:bodyPr wrap="square" lIns="0" tIns="0" rIns="0" bIns="0" rtlCol="0" anchor="ctr"/>
          <a:lstStyle/>
          <a:p>
            <a:pPr indent="0" marL="0">
              <a:lnSpc>
                <a:spcPct val="108000"/>
              </a:lnSpc>
              <a:buNone/>
            </a:pPr>
            <a:r>
              <a:rPr lang="en-US" sz="2600" dirty="0">
                <a:solidFill>
                  <a:srgbClr val="FFFFFF"/>
                </a:solidFill>
                <a:latin typeface="Bahnschrift SemiBold" pitchFamily="34" charset="0"/>
                <a:ea typeface="Bahnschrift SemiBold" pitchFamily="34" charset="-122"/>
                <a:cs typeface="Bahnschrift SemiBold" pitchFamily="34" charset="-120"/>
              </a:rPr>
              <a:t>Which critical skills are</a:t>
            </a:r>
            <a:endParaRPr lang="en-US" sz="2600" dirty="0"/>
          </a:p>
          <a:p>
            <a:pPr indent="0" marL="0">
              <a:lnSpc>
                <a:spcPct val="108000"/>
              </a:lnSpc>
              <a:buNone/>
            </a:pPr>
            <a:r>
              <a:rPr lang="en-US" sz="2600" dirty="0">
                <a:solidFill>
                  <a:srgbClr val="FFFFFF"/>
                </a:solidFill>
                <a:latin typeface="Bahnschrift SemiBold" pitchFamily="34" charset="0"/>
                <a:ea typeface="Bahnschrift SemiBold" pitchFamily="34" charset="-122"/>
                <a:cs typeface="Bahnschrift SemiBold" pitchFamily="34" charset="-120"/>
              </a:rPr>
              <a:t>concentrated in only a</a:t>
            </a:r>
            <a:endParaRPr lang="en-US" sz="2600" dirty="0"/>
          </a:p>
          <a:p>
            <a:pPr indent="0" marL="0">
              <a:lnSpc>
                <a:spcPct val="108000"/>
              </a:lnSpc>
              <a:buNone/>
            </a:pPr>
            <a:r>
              <a:rPr lang="en-US" sz="2600" dirty="0">
                <a:solidFill>
                  <a:srgbClr val="FFFFFF"/>
                </a:solidFill>
                <a:latin typeface="Bahnschrift SemiBold" pitchFamily="34" charset="0"/>
                <a:ea typeface="Bahnschrift SemiBold" pitchFamily="34" charset="-122"/>
                <a:cs typeface="Bahnschrift SemiBold" pitchFamily="34" charset="-120"/>
              </a:rPr>
              <a:t>few individuals?</a:t>
            </a:r>
            <a:endParaRPr lang="en-US" sz="2600" dirty="0"/>
          </a:p>
        </p:txBody>
      </p:sp>
      <p:sp>
        <p:nvSpPr>
          <p:cNvPr id="6" name="Text 4"/>
          <p:cNvSpPr txBox="1"/>
          <p:nvPr/>
        </p:nvSpPr>
        <p:spPr>
          <a:xfrm>
            <a:off x="1280160" y="3566160"/>
            <a:ext cx="8412480" cy="2743200"/>
          </a:xfrm>
          <a:prstGeom prst="rect">
            <a:avLst/>
          </a:prstGeom>
          <a:noFill/>
          <a:ln/>
        </p:spPr>
        <p:txBody>
          <a:bodyPr wrap="square" lIns="0" tIns="0" rIns="0" bIns="0" rtlCol="0" anchor="ctr"/>
          <a:lstStyle/>
          <a:p>
            <a:pPr indent="0" marL="0">
              <a:lnSpc>
                <a:spcPct val="106000"/>
              </a:lnSpc>
              <a:buNone/>
            </a:pPr>
            <a:r>
              <a:rPr lang="en-US" sz="3600" dirty="0">
                <a:solidFill>
                  <a:srgbClr val="FFFFFF"/>
                </a:solidFill>
                <a:latin typeface="Bahnschrift SemiBold" pitchFamily="34" charset="0"/>
                <a:ea typeface="Bahnschrift SemiBold" pitchFamily="34" charset="-122"/>
                <a:cs typeface="Bahnschrift SemiBold" pitchFamily="34" charset="-120"/>
              </a:rPr>
              <a:t>Six skills sit with three</a:t>
            </a:r>
            <a:endParaRPr lang="en-US" sz="3600" dirty="0"/>
          </a:p>
          <a:p>
            <a:pPr indent="0" marL="0">
              <a:lnSpc>
                <a:spcPct val="106000"/>
              </a:lnSpc>
              <a:buNone/>
            </a:pPr>
            <a:r>
              <a:rPr lang="en-US" sz="3600" dirty="0">
                <a:solidFill>
                  <a:srgbClr val="FFFFFF"/>
                </a:solidFill>
                <a:latin typeface="Bahnschrift SemiBold" pitchFamily="34" charset="0"/>
                <a:ea typeface="Bahnschrift SemiBold" pitchFamily="34" charset="-122"/>
                <a:cs typeface="Bahnschrift SemiBold" pitchFamily="34" charset="-120"/>
              </a:rPr>
              <a:t>people or fewer. One sits</a:t>
            </a:r>
            <a:endParaRPr lang="en-US" sz="3600" dirty="0"/>
          </a:p>
          <a:p>
            <a:pPr indent="0" marL="0">
              <a:lnSpc>
                <a:spcPct val="106000"/>
              </a:lnSpc>
              <a:buNone/>
            </a:pPr>
            <a:r>
              <a:rPr lang="en-US" sz="3600" dirty="0">
                <a:solidFill>
                  <a:srgbClr val="FFFFFF"/>
                </a:solidFill>
                <a:latin typeface="Bahnschrift SemiBold" pitchFamily="34" charset="0"/>
                <a:ea typeface="Bahnschrift SemiBold" pitchFamily="34" charset="-122"/>
                <a:cs typeface="Bahnschrift SemiBold" pitchFamily="34" charset="-120"/>
              </a:rPr>
              <a:t>with a single person.</a:t>
            </a:r>
            <a:endParaRPr lang="en-US" sz="3600" dirty="0"/>
          </a:p>
        </p:txBody>
      </p:sp>
      <p:sp>
        <p:nvSpPr>
          <p:cNvPr id="7" name="Text 5"/>
          <p:cNvSpPr txBox="1"/>
          <p:nvPr/>
        </p:nvSpPr>
        <p:spPr>
          <a:xfrm>
            <a:off x="1280160" y="6766560"/>
            <a:ext cx="8412480" cy="1463040"/>
          </a:xfrm>
          <a:prstGeom prst="rect">
            <a:avLst/>
          </a:prstGeom>
          <a:noFill/>
          <a:ln/>
        </p:spPr>
        <p:txBody>
          <a:bodyPr wrap="square" lIns="0" tIns="0" rIns="0" bIns="0" rtlCol="0" anchor="ctr"/>
          <a:lstStyle/>
          <a:p>
            <a:pPr indent="0" marL="0">
              <a:lnSpc>
                <a:spcPct val="135000"/>
              </a:lnSpc>
              <a:buNone/>
            </a:pPr>
            <a:r>
              <a:rPr lang="en-US" sz="1900" dirty="0">
                <a:solidFill>
                  <a:srgbClr val="B9C2D4"/>
                </a:solidFill>
                <a:latin typeface="Calibri" pitchFamily="34" charset="0"/>
                <a:ea typeface="Calibri" pitchFamily="34" charset="-122"/>
                <a:cs typeface="Calibri" pitchFamily="34" charset="-120"/>
              </a:rPr>
              <a:t>A skill known by one person is not a statistic. It is a production risk with a name on it.</a:t>
            </a:r>
            <a:endParaRPr lang="en-US" sz="1900" dirty="0"/>
          </a:p>
        </p:txBody>
      </p:sp>
      <p:sp>
        <p:nvSpPr>
          <p:cNvPr id="8" name="Text 6"/>
          <p:cNvSpPr txBox="1"/>
          <p:nvPr/>
        </p:nvSpPr>
        <p:spPr>
          <a:xfrm>
            <a:off x="11064240" y="941832"/>
            <a:ext cx="914400" cy="914400"/>
          </a:xfrm>
          <a:prstGeom prst="rect">
            <a:avLst/>
          </a:prstGeom>
          <a:noFill/>
          <a:ln/>
        </p:spPr>
        <p:txBody>
          <a:bodyPr wrap="square" lIns="0" tIns="0" rIns="0" bIns="0" rtlCol="0" anchor="ctr"/>
          <a:lstStyle/>
          <a:p>
            <a:pPr indent="0" marL="0">
              <a:buNone/>
            </a:pPr>
            <a:r>
              <a:rPr lang="en-US" sz="4600" dirty="0">
                <a:solidFill>
                  <a:srgbClr val="FFFFFF"/>
                </a:solidFill>
                <a:latin typeface="Bahnschrift SemiBold" pitchFamily="34" charset="0"/>
                <a:ea typeface="Bahnschrift SemiBold" pitchFamily="34" charset="-122"/>
                <a:cs typeface="Bahnschrift SemiBold" pitchFamily="34" charset="-120"/>
              </a:rPr>
              <a:t>1</a:t>
            </a:r>
            <a:endParaRPr lang="en-US" sz="4600" dirty="0"/>
          </a:p>
        </p:txBody>
      </p:sp>
      <p:sp>
        <p:nvSpPr>
          <p:cNvPr id="9" name="Text 7"/>
          <p:cNvSpPr txBox="1"/>
          <p:nvPr/>
        </p:nvSpPr>
        <p:spPr>
          <a:xfrm>
            <a:off x="12070080" y="1069848"/>
            <a:ext cx="4572000" cy="411480"/>
          </a:xfrm>
          <a:prstGeom prst="rect">
            <a:avLst/>
          </a:prstGeom>
          <a:noFill/>
          <a:ln/>
        </p:spPr>
        <p:txBody>
          <a:bodyPr wrap="square" lIns="0" tIns="0" rIns="0" bIns="0" rtlCol="0" anchor="ctr"/>
          <a:lstStyle/>
          <a:p>
            <a:pPr indent="0" marL="0">
              <a:buNone/>
            </a:pPr>
            <a:r>
              <a:rPr lang="en-US" sz="1900" dirty="0">
                <a:solidFill>
                  <a:srgbClr val="FFFFFF"/>
                </a:solidFill>
                <a:latin typeface="Bahnschrift SemiBold" pitchFamily="34" charset="0"/>
                <a:ea typeface="Bahnschrift SemiBold" pitchFamily="34" charset="-122"/>
                <a:cs typeface="Bahnschrift SemiBold" pitchFamily="34" charset="-120"/>
              </a:rPr>
              <a:t>R&amp;D, frozen dough</a:t>
            </a:r>
            <a:endParaRPr lang="en-US" sz="1900" dirty="0"/>
          </a:p>
        </p:txBody>
      </p:sp>
      <p:sp>
        <p:nvSpPr>
          <p:cNvPr id="10" name="Text 8"/>
          <p:cNvSpPr txBox="1"/>
          <p:nvPr/>
        </p:nvSpPr>
        <p:spPr>
          <a:xfrm>
            <a:off x="12070080" y="1508760"/>
            <a:ext cx="4754880" cy="365760"/>
          </a:xfrm>
          <a:prstGeom prst="rect">
            <a:avLst/>
          </a:prstGeom>
          <a:noFill/>
          <a:ln/>
        </p:spPr>
        <p:txBody>
          <a:bodyPr wrap="square" lIns="0" tIns="0" rIns="0" bIns="0" rtlCol="0" anchor="ctr"/>
          <a:lstStyle/>
          <a:p>
            <a:pPr indent="0" marL="0">
              <a:buNone/>
            </a:pPr>
            <a:r>
              <a:rPr lang="en-US" sz="1400" dirty="0">
                <a:solidFill>
                  <a:srgbClr val="B9C2D4"/>
                </a:solidFill>
                <a:latin typeface="Calibri" pitchFamily="34" charset="0"/>
                <a:ea typeface="Calibri" pitchFamily="34" charset="-122"/>
                <a:cs typeface="Calibri" pitchFamily="34" charset="-120"/>
              </a:rPr>
              <a:t>Marshall, MN R&amp;D centre  ·  impact 4</a:t>
            </a:r>
            <a:endParaRPr lang="en-US" sz="1400" dirty="0"/>
          </a:p>
        </p:txBody>
      </p:sp>
      <p:sp>
        <p:nvSpPr>
          <p:cNvPr id="11" name="Shape 9"/>
          <p:cNvSpPr/>
          <p:nvPr/>
        </p:nvSpPr>
        <p:spPr>
          <a:xfrm>
            <a:off x="11064240" y="2039112"/>
            <a:ext cx="5760720" cy="0"/>
          </a:xfrm>
          <a:prstGeom prst="line">
            <a:avLst/>
          </a:prstGeom>
          <a:noFill/>
          <a:ln w="12700">
            <a:solidFill>
              <a:srgbClr val="44528A"/>
            </a:solidFill>
            <a:prstDash val="solid"/>
          </a:ln>
        </p:spPr>
      </p:sp>
      <p:sp>
        <p:nvSpPr>
          <p:cNvPr id="12" name="Text 10"/>
          <p:cNvSpPr txBox="1"/>
          <p:nvPr/>
        </p:nvSpPr>
        <p:spPr>
          <a:xfrm>
            <a:off x="11064240" y="2258568"/>
            <a:ext cx="914400" cy="914400"/>
          </a:xfrm>
          <a:prstGeom prst="rect">
            <a:avLst/>
          </a:prstGeom>
          <a:noFill/>
          <a:ln/>
        </p:spPr>
        <p:txBody>
          <a:bodyPr wrap="square" lIns="0" tIns="0" rIns="0" bIns="0" rtlCol="0" anchor="ctr"/>
          <a:lstStyle/>
          <a:p>
            <a:pPr indent="0" marL="0">
              <a:buNone/>
            </a:pPr>
            <a:r>
              <a:rPr lang="en-US" sz="4600" dirty="0">
                <a:solidFill>
                  <a:srgbClr val="FFFFFF"/>
                </a:solidFill>
                <a:latin typeface="Bahnschrift SemiBold" pitchFamily="34" charset="0"/>
                <a:ea typeface="Bahnschrift SemiBold" pitchFamily="34" charset="-122"/>
                <a:cs typeface="Bahnschrift SemiBold" pitchFamily="34" charset="-120"/>
              </a:rPr>
              <a:t>2</a:t>
            </a:r>
            <a:endParaRPr lang="en-US" sz="4600" dirty="0"/>
          </a:p>
        </p:txBody>
      </p:sp>
      <p:sp>
        <p:nvSpPr>
          <p:cNvPr id="13" name="Text 11"/>
          <p:cNvSpPr txBox="1"/>
          <p:nvPr/>
        </p:nvSpPr>
        <p:spPr>
          <a:xfrm>
            <a:off x="12070080" y="2386584"/>
            <a:ext cx="4572000" cy="411480"/>
          </a:xfrm>
          <a:prstGeom prst="rect">
            <a:avLst/>
          </a:prstGeom>
          <a:noFill/>
          <a:ln/>
        </p:spPr>
        <p:txBody>
          <a:bodyPr wrap="square" lIns="0" tIns="0" rIns="0" bIns="0" rtlCol="0" anchor="ctr"/>
          <a:lstStyle/>
          <a:p>
            <a:pPr indent="0" marL="0">
              <a:buNone/>
            </a:pPr>
            <a:r>
              <a:rPr lang="en-US" sz="1900" dirty="0">
                <a:solidFill>
                  <a:srgbClr val="FFFFFF"/>
                </a:solidFill>
                <a:latin typeface="Bahnschrift SemiBold" pitchFamily="34" charset="0"/>
                <a:ea typeface="Bahnschrift SemiBold" pitchFamily="34" charset="-122"/>
                <a:cs typeface="Bahnschrift SemiBold" pitchFamily="34" charset="-120"/>
              </a:rPr>
              <a:t>Ammonia refrigeration</a:t>
            </a:r>
            <a:endParaRPr lang="en-US" sz="1900" dirty="0"/>
          </a:p>
        </p:txBody>
      </p:sp>
      <p:sp>
        <p:nvSpPr>
          <p:cNvPr id="14" name="Text 12"/>
          <p:cNvSpPr txBox="1"/>
          <p:nvPr/>
        </p:nvSpPr>
        <p:spPr>
          <a:xfrm>
            <a:off x="12070080" y="2825496"/>
            <a:ext cx="4754880" cy="365760"/>
          </a:xfrm>
          <a:prstGeom prst="rect">
            <a:avLst/>
          </a:prstGeom>
          <a:noFill/>
          <a:ln/>
        </p:spPr>
        <p:txBody>
          <a:bodyPr wrap="square" lIns="0" tIns="0" rIns="0" bIns="0" rtlCol="0" anchor="ctr"/>
          <a:lstStyle/>
          <a:p>
            <a:pPr indent="0" marL="0">
              <a:buNone/>
            </a:pPr>
            <a:r>
              <a:rPr lang="en-US" sz="1400" dirty="0">
                <a:solidFill>
                  <a:srgbClr val="B9C2D4"/>
                </a:solidFill>
                <a:latin typeface="Calibri" pitchFamily="34" charset="0"/>
                <a:ea typeface="Calibri" pitchFamily="34" charset="-122"/>
                <a:cs typeface="Calibri" pitchFamily="34" charset="-120"/>
              </a:rPr>
              <a:t>Marshall, MN ice cream  ·  impact 5</a:t>
            </a:r>
            <a:endParaRPr lang="en-US" sz="1400" dirty="0"/>
          </a:p>
        </p:txBody>
      </p:sp>
      <p:sp>
        <p:nvSpPr>
          <p:cNvPr id="15" name="Shape 13"/>
          <p:cNvSpPr/>
          <p:nvPr/>
        </p:nvSpPr>
        <p:spPr>
          <a:xfrm>
            <a:off x="11064240" y="3355848"/>
            <a:ext cx="5760720" cy="0"/>
          </a:xfrm>
          <a:prstGeom prst="line">
            <a:avLst/>
          </a:prstGeom>
          <a:noFill/>
          <a:ln w="12700">
            <a:solidFill>
              <a:srgbClr val="44528A"/>
            </a:solidFill>
            <a:prstDash val="solid"/>
          </a:ln>
        </p:spPr>
      </p:sp>
      <p:sp>
        <p:nvSpPr>
          <p:cNvPr id="16" name="Text 14"/>
          <p:cNvSpPr txBox="1"/>
          <p:nvPr/>
        </p:nvSpPr>
        <p:spPr>
          <a:xfrm>
            <a:off x="11064240" y="3575304"/>
            <a:ext cx="914400" cy="914400"/>
          </a:xfrm>
          <a:prstGeom prst="rect">
            <a:avLst/>
          </a:prstGeom>
          <a:noFill/>
          <a:ln/>
        </p:spPr>
        <p:txBody>
          <a:bodyPr wrap="square" lIns="0" tIns="0" rIns="0" bIns="0" rtlCol="0" anchor="ctr"/>
          <a:lstStyle/>
          <a:p>
            <a:pPr indent="0" marL="0">
              <a:buNone/>
            </a:pPr>
            <a:r>
              <a:rPr lang="en-US" sz="4600" dirty="0">
                <a:solidFill>
                  <a:srgbClr val="FFFFFF"/>
                </a:solidFill>
                <a:latin typeface="Bahnschrift SemiBold" pitchFamily="34" charset="0"/>
                <a:ea typeface="Bahnschrift SemiBold" pitchFamily="34" charset="-122"/>
                <a:cs typeface="Bahnschrift SemiBold" pitchFamily="34" charset="-120"/>
              </a:rPr>
              <a:t>2</a:t>
            </a:r>
            <a:endParaRPr lang="en-US" sz="4600" dirty="0"/>
          </a:p>
        </p:txBody>
      </p:sp>
      <p:sp>
        <p:nvSpPr>
          <p:cNvPr id="17" name="Text 15"/>
          <p:cNvSpPr txBox="1"/>
          <p:nvPr/>
        </p:nvSpPr>
        <p:spPr>
          <a:xfrm>
            <a:off x="12070080" y="3703320"/>
            <a:ext cx="4572000" cy="411480"/>
          </a:xfrm>
          <a:prstGeom prst="rect">
            <a:avLst/>
          </a:prstGeom>
          <a:noFill/>
          <a:ln/>
        </p:spPr>
        <p:txBody>
          <a:bodyPr wrap="square" lIns="0" tIns="0" rIns="0" bIns="0" rtlCol="0" anchor="ctr"/>
          <a:lstStyle/>
          <a:p>
            <a:pPr indent="0" marL="0">
              <a:buNone/>
            </a:pPr>
            <a:r>
              <a:rPr lang="en-US" sz="1900" dirty="0">
                <a:solidFill>
                  <a:srgbClr val="FFFFFF"/>
                </a:solidFill>
                <a:latin typeface="Bahnschrift SemiBold" pitchFamily="34" charset="0"/>
                <a:ea typeface="Bahnschrift SemiBold" pitchFamily="34" charset="-122"/>
                <a:cs typeface="Bahnschrift SemiBold" pitchFamily="34" charset="-120"/>
              </a:rPr>
              <a:t>Food labeling rules</a:t>
            </a:r>
            <a:endParaRPr lang="en-US" sz="1900" dirty="0"/>
          </a:p>
        </p:txBody>
      </p:sp>
      <p:sp>
        <p:nvSpPr>
          <p:cNvPr id="18" name="Text 16"/>
          <p:cNvSpPr txBox="1"/>
          <p:nvPr/>
        </p:nvSpPr>
        <p:spPr>
          <a:xfrm>
            <a:off x="12070080" y="4142232"/>
            <a:ext cx="4754880" cy="365760"/>
          </a:xfrm>
          <a:prstGeom prst="rect">
            <a:avLst/>
          </a:prstGeom>
          <a:noFill/>
          <a:ln/>
        </p:spPr>
        <p:txBody>
          <a:bodyPr wrap="square" lIns="0" tIns="0" rIns="0" bIns="0" rtlCol="0" anchor="ctr"/>
          <a:lstStyle/>
          <a:p>
            <a:pPr indent="0" marL="0">
              <a:buNone/>
            </a:pPr>
            <a:r>
              <a:rPr lang="en-US" sz="1400" dirty="0">
                <a:solidFill>
                  <a:srgbClr val="B9C2D4"/>
                </a:solidFill>
                <a:latin typeface="Calibri" pitchFamily="34" charset="0"/>
                <a:ea typeface="Calibri" pitchFamily="34" charset="-122"/>
                <a:cs typeface="Calibri" pitchFamily="34" charset="-120"/>
              </a:rPr>
              <a:t>Hopkins, MN corporate  ·  impact 5</a:t>
            </a:r>
            <a:endParaRPr lang="en-US" sz="1400" dirty="0"/>
          </a:p>
        </p:txBody>
      </p:sp>
      <p:sp>
        <p:nvSpPr>
          <p:cNvPr id="19" name="Shape 17"/>
          <p:cNvSpPr/>
          <p:nvPr/>
        </p:nvSpPr>
        <p:spPr>
          <a:xfrm>
            <a:off x="11064240" y="4672584"/>
            <a:ext cx="5760720" cy="0"/>
          </a:xfrm>
          <a:prstGeom prst="line">
            <a:avLst/>
          </a:prstGeom>
          <a:noFill/>
          <a:ln w="12700">
            <a:solidFill>
              <a:srgbClr val="44528A"/>
            </a:solidFill>
            <a:prstDash val="solid"/>
          </a:ln>
        </p:spPr>
      </p:sp>
      <p:sp>
        <p:nvSpPr>
          <p:cNvPr id="20" name="Text 18"/>
          <p:cNvSpPr txBox="1"/>
          <p:nvPr/>
        </p:nvSpPr>
        <p:spPr>
          <a:xfrm>
            <a:off x="11064240" y="4892040"/>
            <a:ext cx="914400" cy="914400"/>
          </a:xfrm>
          <a:prstGeom prst="rect">
            <a:avLst/>
          </a:prstGeom>
          <a:noFill/>
          <a:ln/>
        </p:spPr>
        <p:txBody>
          <a:bodyPr wrap="square" lIns="0" tIns="0" rIns="0" bIns="0" rtlCol="0" anchor="ctr"/>
          <a:lstStyle/>
          <a:p>
            <a:pPr indent="0" marL="0">
              <a:buNone/>
            </a:pPr>
            <a:r>
              <a:rPr lang="en-US" sz="4600" dirty="0">
                <a:solidFill>
                  <a:srgbClr val="FFFFFF"/>
                </a:solidFill>
                <a:latin typeface="Bahnschrift SemiBold" pitchFamily="34" charset="0"/>
                <a:ea typeface="Bahnschrift SemiBold" pitchFamily="34" charset="-122"/>
                <a:cs typeface="Bahnschrift SemiBold" pitchFamily="34" charset="-120"/>
              </a:rPr>
              <a:t>2</a:t>
            </a:r>
            <a:endParaRPr lang="en-US" sz="4600" dirty="0"/>
          </a:p>
        </p:txBody>
      </p:sp>
      <p:sp>
        <p:nvSpPr>
          <p:cNvPr id="21" name="Text 19"/>
          <p:cNvSpPr txBox="1"/>
          <p:nvPr/>
        </p:nvSpPr>
        <p:spPr>
          <a:xfrm>
            <a:off x="12070080" y="5020056"/>
            <a:ext cx="4572000" cy="411480"/>
          </a:xfrm>
          <a:prstGeom prst="rect">
            <a:avLst/>
          </a:prstGeom>
          <a:noFill/>
          <a:ln/>
        </p:spPr>
        <p:txBody>
          <a:bodyPr wrap="square" lIns="0" tIns="0" rIns="0" bIns="0" rtlCol="0" anchor="ctr"/>
          <a:lstStyle/>
          <a:p>
            <a:pPr indent="0" marL="0">
              <a:buNone/>
            </a:pPr>
            <a:r>
              <a:rPr lang="en-US" sz="1900" dirty="0">
                <a:solidFill>
                  <a:srgbClr val="FFFFFF"/>
                </a:solidFill>
                <a:latin typeface="Bahnschrift SemiBold" pitchFamily="34" charset="0"/>
                <a:ea typeface="Bahnschrift SemiBold" pitchFamily="34" charset="-122"/>
                <a:cs typeface="Bahnschrift SemiBold" pitchFamily="34" charset="-120"/>
              </a:rPr>
              <a:t>Salina line setup</a:t>
            </a:r>
            <a:endParaRPr lang="en-US" sz="1900" dirty="0"/>
          </a:p>
        </p:txBody>
      </p:sp>
      <p:sp>
        <p:nvSpPr>
          <p:cNvPr id="22" name="Text 20"/>
          <p:cNvSpPr txBox="1"/>
          <p:nvPr/>
        </p:nvSpPr>
        <p:spPr>
          <a:xfrm>
            <a:off x="12070080" y="5458968"/>
            <a:ext cx="4754880" cy="365760"/>
          </a:xfrm>
          <a:prstGeom prst="rect">
            <a:avLst/>
          </a:prstGeom>
          <a:noFill/>
          <a:ln/>
        </p:spPr>
        <p:txBody>
          <a:bodyPr wrap="square" lIns="0" tIns="0" rIns="0" bIns="0" rtlCol="0" anchor="ctr"/>
          <a:lstStyle/>
          <a:p>
            <a:pPr indent="0" marL="0">
              <a:buNone/>
            </a:pPr>
            <a:r>
              <a:rPr lang="en-US" sz="1400" dirty="0">
                <a:solidFill>
                  <a:srgbClr val="B9C2D4"/>
                </a:solidFill>
                <a:latin typeface="Calibri" pitchFamily="34" charset="0"/>
                <a:ea typeface="Calibri" pitchFamily="34" charset="-122"/>
                <a:cs typeface="Calibri" pitchFamily="34" charset="-120"/>
              </a:rPr>
              <a:t>Salina, KS pizza  ·  impact 4</a:t>
            </a:r>
            <a:endParaRPr lang="en-US" sz="1400" dirty="0"/>
          </a:p>
        </p:txBody>
      </p:sp>
      <p:sp>
        <p:nvSpPr>
          <p:cNvPr id="23" name="Shape 21"/>
          <p:cNvSpPr/>
          <p:nvPr/>
        </p:nvSpPr>
        <p:spPr>
          <a:xfrm>
            <a:off x="11064240" y="5989320"/>
            <a:ext cx="5760720" cy="0"/>
          </a:xfrm>
          <a:prstGeom prst="line">
            <a:avLst/>
          </a:prstGeom>
          <a:noFill/>
          <a:ln w="12700">
            <a:solidFill>
              <a:srgbClr val="44528A"/>
            </a:solidFill>
            <a:prstDash val="solid"/>
          </a:ln>
        </p:spPr>
      </p:sp>
      <p:sp>
        <p:nvSpPr>
          <p:cNvPr id="24" name="Text 22"/>
          <p:cNvSpPr txBox="1"/>
          <p:nvPr/>
        </p:nvSpPr>
        <p:spPr>
          <a:xfrm>
            <a:off x="11064240" y="6208776"/>
            <a:ext cx="914400" cy="914400"/>
          </a:xfrm>
          <a:prstGeom prst="rect">
            <a:avLst/>
          </a:prstGeom>
          <a:noFill/>
          <a:ln/>
        </p:spPr>
        <p:txBody>
          <a:bodyPr wrap="square" lIns="0" tIns="0" rIns="0" bIns="0" rtlCol="0" anchor="ctr"/>
          <a:lstStyle/>
          <a:p>
            <a:pPr indent="0" marL="0">
              <a:buNone/>
            </a:pPr>
            <a:r>
              <a:rPr lang="en-US" sz="4600" dirty="0">
                <a:solidFill>
                  <a:srgbClr val="FFFFFF"/>
                </a:solidFill>
                <a:latin typeface="Bahnschrift SemiBold" pitchFamily="34" charset="0"/>
                <a:ea typeface="Bahnschrift SemiBold" pitchFamily="34" charset="-122"/>
                <a:cs typeface="Bahnschrift SemiBold" pitchFamily="34" charset="-120"/>
              </a:rPr>
              <a:t>3</a:t>
            </a:r>
            <a:endParaRPr lang="en-US" sz="4600" dirty="0"/>
          </a:p>
        </p:txBody>
      </p:sp>
      <p:sp>
        <p:nvSpPr>
          <p:cNvPr id="25" name="Text 23"/>
          <p:cNvSpPr txBox="1"/>
          <p:nvPr/>
        </p:nvSpPr>
        <p:spPr>
          <a:xfrm>
            <a:off x="12070080" y="6336792"/>
            <a:ext cx="4572000" cy="411480"/>
          </a:xfrm>
          <a:prstGeom prst="rect">
            <a:avLst/>
          </a:prstGeom>
          <a:noFill/>
          <a:ln/>
        </p:spPr>
        <p:txBody>
          <a:bodyPr wrap="square" lIns="0" tIns="0" rIns="0" bIns="0" rtlCol="0" anchor="ctr"/>
          <a:lstStyle/>
          <a:p>
            <a:pPr indent="0" marL="0">
              <a:buNone/>
            </a:pPr>
            <a:r>
              <a:rPr lang="en-US" sz="1900" dirty="0">
                <a:solidFill>
                  <a:srgbClr val="FFFFFF"/>
                </a:solidFill>
                <a:latin typeface="Bahnschrift SemiBold" pitchFamily="34" charset="0"/>
                <a:ea typeface="Bahnschrift SemiBold" pitchFamily="34" charset="-122"/>
                <a:cs typeface="Bahnschrift SemiBold" pitchFamily="34" charset="-120"/>
              </a:rPr>
              <a:t>PLC automation</a:t>
            </a:r>
            <a:endParaRPr lang="en-US" sz="1900" dirty="0"/>
          </a:p>
        </p:txBody>
      </p:sp>
      <p:sp>
        <p:nvSpPr>
          <p:cNvPr id="26" name="Text 24"/>
          <p:cNvSpPr txBox="1"/>
          <p:nvPr/>
        </p:nvSpPr>
        <p:spPr>
          <a:xfrm>
            <a:off x="12070080" y="6775704"/>
            <a:ext cx="4754880" cy="365760"/>
          </a:xfrm>
          <a:prstGeom prst="rect">
            <a:avLst/>
          </a:prstGeom>
          <a:noFill/>
          <a:ln/>
        </p:spPr>
        <p:txBody>
          <a:bodyPr wrap="square" lIns="0" tIns="0" rIns="0" bIns="0" rtlCol="0" anchor="ctr"/>
          <a:lstStyle/>
          <a:p>
            <a:pPr indent="0" marL="0">
              <a:buNone/>
            </a:pPr>
            <a:r>
              <a:rPr lang="en-US" sz="1400" dirty="0">
                <a:solidFill>
                  <a:srgbClr val="B9C2D4"/>
                </a:solidFill>
                <a:latin typeface="Calibri" pitchFamily="34" charset="0"/>
                <a:ea typeface="Calibri" pitchFamily="34" charset="-122"/>
                <a:cs typeface="Calibri" pitchFamily="34" charset="-120"/>
              </a:rPr>
              <a:t>Salina, KS pizza  ·  impact 4</a:t>
            </a:r>
            <a:endParaRPr lang="en-US" sz="1400" dirty="0"/>
          </a:p>
        </p:txBody>
      </p:sp>
      <p:sp>
        <p:nvSpPr>
          <p:cNvPr id="27" name="Shape 25"/>
          <p:cNvSpPr/>
          <p:nvPr/>
        </p:nvSpPr>
        <p:spPr>
          <a:xfrm>
            <a:off x="11064240" y="7306056"/>
            <a:ext cx="5760720" cy="0"/>
          </a:xfrm>
          <a:prstGeom prst="line">
            <a:avLst/>
          </a:prstGeom>
          <a:noFill/>
          <a:ln w="12700">
            <a:solidFill>
              <a:srgbClr val="44528A"/>
            </a:solidFill>
            <a:prstDash val="solid"/>
          </a:ln>
        </p:spPr>
      </p:sp>
      <p:sp>
        <p:nvSpPr>
          <p:cNvPr id="28" name="Text 26"/>
          <p:cNvSpPr txBox="1"/>
          <p:nvPr/>
        </p:nvSpPr>
        <p:spPr>
          <a:xfrm>
            <a:off x="11064240" y="7525512"/>
            <a:ext cx="914400" cy="914400"/>
          </a:xfrm>
          <a:prstGeom prst="rect">
            <a:avLst/>
          </a:prstGeom>
          <a:noFill/>
          <a:ln/>
        </p:spPr>
        <p:txBody>
          <a:bodyPr wrap="square" lIns="0" tIns="0" rIns="0" bIns="0" rtlCol="0" anchor="ctr"/>
          <a:lstStyle/>
          <a:p>
            <a:pPr indent="0" marL="0">
              <a:buNone/>
            </a:pPr>
            <a:r>
              <a:rPr lang="en-US" sz="4600" dirty="0">
                <a:solidFill>
                  <a:srgbClr val="FFFFFF"/>
                </a:solidFill>
                <a:latin typeface="Bahnschrift SemiBold" pitchFamily="34" charset="0"/>
                <a:ea typeface="Bahnschrift SemiBold" pitchFamily="34" charset="-122"/>
                <a:cs typeface="Bahnschrift SemiBold" pitchFamily="34" charset="-120"/>
              </a:rPr>
              <a:t>3</a:t>
            </a:r>
            <a:endParaRPr lang="en-US" sz="4600" dirty="0"/>
          </a:p>
        </p:txBody>
      </p:sp>
      <p:sp>
        <p:nvSpPr>
          <p:cNvPr id="29" name="Text 27"/>
          <p:cNvSpPr txBox="1"/>
          <p:nvPr/>
        </p:nvSpPr>
        <p:spPr>
          <a:xfrm>
            <a:off x="12070080" y="7653528"/>
            <a:ext cx="4572000" cy="411480"/>
          </a:xfrm>
          <a:prstGeom prst="rect">
            <a:avLst/>
          </a:prstGeom>
          <a:noFill/>
          <a:ln/>
        </p:spPr>
        <p:txBody>
          <a:bodyPr wrap="square" lIns="0" tIns="0" rIns="0" bIns="0" rtlCol="0" anchor="ctr"/>
          <a:lstStyle/>
          <a:p>
            <a:pPr indent="0" marL="0">
              <a:buNone/>
            </a:pPr>
            <a:r>
              <a:rPr lang="en-US" sz="1900" dirty="0">
                <a:solidFill>
                  <a:srgbClr val="FFFFFF"/>
                </a:solidFill>
                <a:latin typeface="Bahnschrift SemiBold" pitchFamily="34" charset="0"/>
                <a:ea typeface="Bahnschrift SemiBold" pitchFamily="34" charset="-122"/>
                <a:cs typeface="Bahnschrift SemiBold" pitchFamily="34" charset="-120"/>
              </a:rPr>
              <a:t>Culinary consulting</a:t>
            </a:r>
            <a:endParaRPr lang="en-US" sz="1900" dirty="0"/>
          </a:p>
        </p:txBody>
      </p:sp>
      <p:sp>
        <p:nvSpPr>
          <p:cNvPr id="30" name="Text 28"/>
          <p:cNvSpPr txBox="1"/>
          <p:nvPr/>
        </p:nvSpPr>
        <p:spPr>
          <a:xfrm>
            <a:off x="12070080" y="8092440"/>
            <a:ext cx="4754880" cy="365760"/>
          </a:xfrm>
          <a:prstGeom prst="rect">
            <a:avLst/>
          </a:prstGeom>
          <a:noFill/>
          <a:ln/>
        </p:spPr>
        <p:txBody>
          <a:bodyPr wrap="square" lIns="0" tIns="0" rIns="0" bIns="0" rtlCol="0" anchor="ctr"/>
          <a:lstStyle/>
          <a:p>
            <a:pPr indent="0" marL="0">
              <a:buNone/>
            </a:pPr>
            <a:r>
              <a:rPr lang="en-US" sz="1400" dirty="0">
                <a:solidFill>
                  <a:srgbClr val="B9C2D4"/>
                </a:solidFill>
                <a:latin typeface="Calibri" pitchFamily="34" charset="0"/>
                <a:ea typeface="Calibri" pitchFamily="34" charset="-122"/>
                <a:cs typeface="Calibri" pitchFamily="34" charset="-120"/>
              </a:rPr>
              <a:t>Field, national  ·  impact 3</a:t>
            </a:r>
            <a:endParaRPr lang="en-US" sz="1400" dirty="0"/>
          </a:p>
        </p:txBody>
      </p:sp>
      <p:sp>
        <p:nvSpPr>
          <p:cNvPr id="31" name="Shape 29"/>
          <p:cNvSpPr/>
          <p:nvPr/>
        </p:nvSpPr>
        <p:spPr>
          <a:xfrm>
            <a:off x="1280160" y="9189720"/>
            <a:ext cx="15727680" cy="0"/>
          </a:xfrm>
          <a:prstGeom prst="line">
            <a:avLst/>
          </a:prstGeom>
          <a:noFill/>
          <a:ln w="12700">
            <a:solidFill>
              <a:srgbClr val="324070"/>
            </a:solidFill>
            <a:prstDash val="solid"/>
          </a:ln>
        </p:spPr>
      </p:sp>
      <p:sp>
        <p:nvSpPr>
          <p:cNvPr id="32" name="Text 30"/>
          <p:cNvSpPr txBox="1"/>
          <p:nvPr/>
        </p:nvSpPr>
        <p:spPr>
          <a:xfrm>
            <a:off x="1280160" y="9372600"/>
            <a:ext cx="8138160" cy="411480"/>
          </a:xfrm>
          <a:prstGeom prst="rect">
            <a:avLst/>
          </a:prstGeom>
          <a:noFill/>
          <a:ln/>
        </p:spPr>
        <p:txBody>
          <a:bodyPr wrap="square" lIns="0" tIns="0" rIns="0" bIns="0" rtlCol="0" anchor="ctr"/>
          <a:lstStyle/>
          <a:p>
            <a:pPr indent="0" marL="0">
              <a:buNone/>
            </a:pPr>
            <a:r>
              <a:rPr lang="en-US" sz="1400" b="1" spc="200" kern="0" dirty="0">
                <a:solidFill>
                  <a:srgbClr val="8E98AE"/>
                </a:solidFill>
                <a:latin typeface="Calibri" pitchFamily="34" charset="0"/>
                <a:ea typeface="Calibri" pitchFamily="34" charset="-122"/>
                <a:cs typeface="Calibri" pitchFamily="34" charset="-120"/>
              </a:rPr>
              <a:t>IN THE APP   </a:t>
            </a:r>
            <a:pPr indent="0" marL="0">
              <a:buNone/>
            </a:pPr>
            <a:r>
              <a:rPr lang="en-US" sz="1400" dirty="0">
                <a:solidFill>
                  <a:srgbClr val="FFFFFF"/>
                </a:solidFill>
                <a:latin typeface="Calibri" pitchFamily="34" charset="0"/>
                <a:ea typeface="Calibri" pitchFamily="34" charset="-122"/>
                <a:cs typeface="Calibri" pitchFamily="34" charset="-120"/>
              </a:rPr>
              <a:t>Succession risk tab</a:t>
            </a:r>
            <a:endParaRPr lang="en-US" sz="1400" dirty="0"/>
          </a:p>
        </p:txBody>
      </p:sp>
      <p:sp>
        <p:nvSpPr>
          <p:cNvPr id="33" name="Text 31"/>
          <p:cNvSpPr txBox="1"/>
          <p:nvPr/>
        </p:nvSpPr>
        <p:spPr>
          <a:xfrm>
            <a:off x="9418320" y="9372600"/>
            <a:ext cx="7589520" cy="411480"/>
          </a:xfrm>
          <a:prstGeom prst="rect">
            <a:avLst/>
          </a:prstGeom>
          <a:noFill/>
          <a:ln/>
        </p:spPr>
        <p:txBody>
          <a:bodyPr wrap="square" lIns="0" tIns="0" rIns="0" bIns="0" rtlCol="0" anchor="ctr"/>
          <a:lstStyle/>
          <a:p>
            <a:pPr indent="0" marL="0">
              <a:buNone/>
            </a:pPr>
            <a:r>
              <a:rPr lang="en-US" sz="1400" b="1" spc="200" kern="0" dirty="0">
                <a:solidFill>
                  <a:srgbClr val="8E98AE"/>
                </a:solidFill>
                <a:latin typeface="Calibri" pitchFamily="34" charset="0"/>
                <a:ea typeface="Calibri" pitchFamily="34" charset="-122"/>
                <a:cs typeface="Calibri" pitchFamily="34" charset="-120"/>
              </a:rPr>
              <a:t>NUMBERS FROM   </a:t>
            </a:r>
            <a:pPr indent="0" marL="0">
              <a:buNone/>
            </a:pPr>
            <a:r>
              <a:rPr lang="en-US" sz="1400" dirty="0">
                <a:solidFill>
                  <a:srgbClr val="FFFFFF"/>
                </a:solidFill>
                <a:latin typeface="Calibri" pitchFamily="34" charset="0"/>
                <a:ea typeface="Calibri" pitchFamily="34" charset="-122"/>
                <a:cs typeface="Calibri" pitchFamily="34" charset="-120"/>
              </a:rPr>
              <a:t>Demo headcounts. The ammonia roster exists by law: OSHA 1910.119.</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170432" y="566928"/>
            <a:ext cx="2286000" cy="2194560"/>
          </a:xfrm>
          <a:prstGeom prst="rect">
            <a:avLst/>
          </a:prstGeom>
          <a:noFill/>
          <a:ln/>
        </p:spPr>
        <p:txBody>
          <a:bodyPr wrap="square" lIns="0" tIns="0" rIns="0" bIns="0" rtlCol="0" anchor="ctr"/>
          <a:lstStyle/>
          <a:p>
            <a:pPr indent="0" marL="0">
              <a:lnSpc>
                <a:spcPct val="82000"/>
              </a:lnSpc>
              <a:buNone/>
            </a:pPr>
            <a:r>
              <a:rPr lang="en-US" sz="14000" dirty="0">
                <a:solidFill>
                  <a:srgbClr val="EEF2F5"/>
                </a:solidFill>
                <a:latin typeface="Bahnschrift SemiBold" pitchFamily="34" charset="0"/>
                <a:ea typeface="Bahnschrift SemiBold" pitchFamily="34" charset="-122"/>
                <a:cs typeface="Bahnschrift SemiBold" pitchFamily="34" charset="-120"/>
              </a:rPr>
              <a:t>04</a:t>
            </a:r>
            <a:endParaRPr lang="en-US" sz="14000" dirty="0"/>
          </a:p>
        </p:txBody>
      </p:sp>
      <p:sp>
        <p:nvSpPr>
          <p:cNvPr id="3" name="Text 1"/>
          <p:cNvSpPr txBox="1"/>
          <p:nvPr/>
        </p:nvSpPr>
        <p:spPr>
          <a:xfrm>
            <a:off x="3931920" y="868680"/>
            <a:ext cx="13075920" cy="1463040"/>
          </a:xfrm>
          <a:prstGeom prst="rect">
            <a:avLst/>
          </a:prstGeom>
          <a:noFill/>
          <a:ln/>
        </p:spPr>
        <p:txBody>
          <a:bodyPr wrap="square" lIns="0" tIns="0" rIns="0" bIns="0" rtlCol="0" anchor="ctr"/>
          <a:lstStyle/>
          <a:p>
            <a:pPr indent="0" marL="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Where are our greatest capability gaps</a:t>
            </a:r>
            <a:endParaRPr lang="en-US" sz="3000" dirty="0"/>
          </a:p>
          <a:p>
            <a:pPr indent="0" marL="0">
              <a:lnSpc>
                <a:spcPct val="108000"/>
              </a:lnSpc>
              <a:buNone/>
            </a:pPr>
            <a:r>
              <a:rPr lang="en-US" sz="3000" dirty="0">
                <a:solidFill>
                  <a:srgbClr val="232E54"/>
                </a:solidFill>
                <a:latin typeface="Bahnschrift SemiBold" pitchFamily="34" charset="0"/>
                <a:ea typeface="Bahnschrift SemiBold" pitchFamily="34" charset="-122"/>
                <a:cs typeface="Bahnschrift SemiBold" pitchFamily="34" charset="-120"/>
              </a:rPr>
              <a:t>and succession risks?</a:t>
            </a:r>
            <a:endParaRPr lang="en-US" sz="3000" dirty="0"/>
          </a:p>
        </p:txBody>
      </p:sp>
      <p:sp>
        <p:nvSpPr>
          <p:cNvPr id="4" name="Text 2"/>
          <p:cNvSpPr txBox="1"/>
          <p:nvPr/>
        </p:nvSpPr>
        <p:spPr>
          <a:xfrm>
            <a:off x="1280160" y="2743200"/>
            <a:ext cx="14081760" cy="1554480"/>
          </a:xfrm>
          <a:prstGeom prst="rect">
            <a:avLst/>
          </a:prstGeom>
          <a:noFill/>
          <a:ln/>
        </p:spPr>
        <p:txBody>
          <a:bodyPr wrap="square" lIns="0" tIns="0" rIns="0" bIns="0" rtlCol="0" anchor="ctr"/>
          <a:lstStyle/>
          <a:p>
            <a:pPr indent="0" marL="0">
              <a:lnSpc>
                <a:spcPct val="106000"/>
              </a:lnSpc>
              <a:buNone/>
            </a:pPr>
            <a:r>
              <a:rPr lang="en-US" sz="3800" dirty="0">
                <a:solidFill>
                  <a:srgbClr val="18212F"/>
                </a:solidFill>
                <a:latin typeface="Bahnschrift SemiBold" pitchFamily="34" charset="0"/>
                <a:ea typeface="Bahnschrift SemiBold" pitchFamily="34" charset="-122"/>
                <a:cs typeface="Bahnschrift SemiBold" pitchFamily="34" charset="-120"/>
              </a:rPr>
              <a:t>Seven skills under 40 percent, and one</a:t>
            </a:r>
            <a:endParaRPr lang="en-US" sz="3800" dirty="0"/>
          </a:p>
          <a:p>
            <a:pPr indent="0" marL="0">
              <a:lnSpc>
                <a:spcPct val="106000"/>
              </a:lnSpc>
              <a:buNone/>
            </a:pPr>
            <a:r>
              <a:rPr lang="en-US" sz="3800" dirty="0">
                <a:solidFill>
                  <a:srgbClr val="18212F"/>
                </a:solidFill>
                <a:latin typeface="Bahnschrift SemiBold" pitchFamily="34" charset="0"/>
                <a:ea typeface="Bahnschrift SemiBold" pitchFamily="34" charset="-122"/>
                <a:cs typeface="Bahnschrift SemiBold" pitchFamily="34" charset="-120"/>
              </a:rPr>
              <a:t>ranked order of work across both.</a:t>
            </a:r>
            <a:endParaRPr lang="en-US" sz="3800" dirty="0"/>
          </a:p>
        </p:txBody>
      </p:sp>
      <p:sp>
        <p:nvSpPr>
          <p:cNvPr id="5" name="Text 3"/>
          <p:cNvSpPr txBox="1"/>
          <p:nvPr/>
        </p:nvSpPr>
        <p:spPr>
          <a:xfrm>
            <a:off x="1280160" y="4526280"/>
            <a:ext cx="12344400" cy="548640"/>
          </a:xfrm>
          <a:prstGeom prst="rect">
            <a:avLst/>
          </a:prstGeom>
          <a:noFill/>
          <a:ln/>
        </p:spPr>
        <p:txBody>
          <a:bodyPr wrap="square" lIns="0" tIns="0" rIns="0" bIns="0" rtlCol="0" anchor="ctr"/>
          <a:lstStyle/>
          <a:p>
            <a:pPr indent="0" marL="0">
              <a:buNone/>
            </a:pPr>
            <a:r>
              <a:rPr lang="en-US" sz="1800" dirty="0">
                <a:solidFill>
                  <a:srgbClr val="6E7788"/>
                </a:solidFill>
                <a:latin typeface="Calibri" pitchFamily="34" charset="0"/>
                <a:ea typeface="Calibri" pitchFamily="34" charset="-122"/>
                <a:cs typeface="Calibri" pitchFamily="34" charset="-120"/>
              </a:rPr>
              <a:t>Most dashboards stop at the numbers. This one sorts them, so a manager gets a list instead of a puzzle.</a:t>
            </a:r>
            <a:endParaRPr lang="en-US" sz="1800" dirty="0"/>
          </a:p>
        </p:txBody>
      </p:sp>
      <p:sp>
        <p:nvSpPr>
          <p:cNvPr id="6" name="Shape 4"/>
          <p:cNvSpPr/>
          <p:nvPr/>
        </p:nvSpPr>
        <p:spPr>
          <a:xfrm>
            <a:off x="960120" y="5166360"/>
            <a:ext cx="4846320" cy="1463040"/>
          </a:xfrm>
          <a:prstGeom prst="rect">
            <a:avLst/>
          </a:prstGeom>
          <a:solidFill>
            <a:srgbClr val="232E54"/>
          </a:solidFill>
          <a:ln w="12700">
            <a:solidFill>
              <a:srgbClr val="232E54"/>
            </a:solidFill>
            <a:prstDash val="solid"/>
          </a:ln>
        </p:spPr>
      </p:sp>
      <p:sp>
        <p:nvSpPr>
          <p:cNvPr id="7" name="Text 5"/>
          <p:cNvSpPr txBox="1"/>
          <p:nvPr/>
        </p:nvSpPr>
        <p:spPr>
          <a:xfrm>
            <a:off x="1280160" y="5303520"/>
            <a:ext cx="1188720" cy="731520"/>
          </a:xfrm>
          <a:prstGeom prst="rect">
            <a:avLst/>
          </a:prstGeom>
          <a:noFill/>
          <a:ln/>
        </p:spPr>
        <p:txBody>
          <a:bodyPr wrap="square" lIns="0" tIns="0" rIns="0" bIns="0" rtlCol="0" anchor="ctr"/>
          <a:lstStyle/>
          <a:p>
            <a:pPr indent="0" marL="0">
              <a:buNone/>
            </a:pPr>
            <a:r>
              <a:rPr lang="en-US" sz="4200" dirty="0">
                <a:solidFill>
                  <a:srgbClr val="8E98AE"/>
                </a:solidFill>
                <a:latin typeface="Bahnschrift Light" pitchFamily="34" charset="0"/>
                <a:ea typeface="Bahnschrift Light" pitchFamily="34" charset="-122"/>
                <a:cs typeface="Bahnschrift Light" pitchFamily="34" charset="-120"/>
              </a:rPr>
              <a:t>01</a:t>
            </a:r>
            <a:endParaRPr lang="en-US" sz="4200" dirty="0"/>
          </a:p>
        </p:txBody>
      </p:sp>
      <p:sp>
        <p:nvSpPr>
          <p:cNvPr id="8" name="Text 6"/>
          <p:cNvSpPr txBox="1"/>
          <p:nvPr/>
        </p:nvSpPr>
        <p:spPr>
          <a:xfrm>
            <a:off x="2468880" y="5376672"/>
            <a:ext cx="3200400" cy="457200"/>
          </a:xfrm>
          <a:prstGeom prst="rect">
            <a:avLst/>
          </a:prstGeom>
          <a:noFill/>
          <a:ln/>
        </p:spPr>
        <p:txBody>
          <a:bodyPr wrap="square" lIns="0" tIns="0" rIns="0" bIns="0" rtlCol="0" anchor="ctr"/>
          <a:lstStyle/>
          <a:p>
            <a:pPr indent="0" marL="0">
              <a:buNone/>
            </a:pPr>
            <a:r>
              <a:rPr lang="en-US" sz="2000" dirty="0">
                <a:solidFill>
                  <a:srgbClr val="FFFFFF"/>
                </a:solidFill>
                <a:latin typeface="Bahnschrift SemiBold" pitchFamily="34" charset="0"/>
                <a:ea typeface="Bahnschrift SemiBold" pitchFamily="34" charset="-122"/>
                <a:cs typeface="Bahnschrift SemiBold" pitchFamily="34" charset="-120"/>
              </a:rPr>
              <a:t>R&amp;D, frozen dough</a:t>
            </a:r>
            <a:endParaRPr lang="en-US" sz="2000" dirty="0"/>
          </a:p>
        </p:txBody>
      </p:sp>
      <p:sp>
        <p:nvSpPr>
          <p:cNvPr id="9" name="Text 7"/>
          <p:cNvSpPr txBox="1"/>
          <p:nvPr/>
        </p:nvSpPr>
        <p:spPr>
          <a:xfrm>
            <a:off x="2468880" y="5852160"/>
            <a:ext cx="3200400" cy="365760"/>
          </a:xfrm>
          <a:prstGeom prst="rect">
            <a:avLst/>
          </a:prstGeom>
          <a:noFill/>
          <a:ln/>
        </p:spPr>
        <p:txBody>
          <a:bodyPr wrap="square" lIns="0" tIns="0" rIns="0" bIns="0" rtlCol="0" anchor="ctr"/>
          <a:lstStyle/>
          <a:p>
            <a:pPr indent="0" marL="0">
              <a:buNone/>
            </a:pPr>
            <a:r>
              <a:rPr lang="en-US" sz="1400" dirty="0">
                <a:solidFill>
                  <a:srgbClr val="B9C2D4"/>
                </a:solidFill>
                <a:latin typeface="Calibri" pitchFamily="34" charset="0"/>
                <a:ea typeface="Calibri" pitchFamily="34" charset="-122"/>
                <a:cs typeface="Calibri" pitchFamily="34" charset="-120"/>
              </a:rPr>
              <a:t>1 person holds it</a:t>
            </a:r>
            <a:endParaRPr lang="en-US" sz="1400" dirty="0"/>
          </a:p>
        </p:txBody>
      </p:sp>
      <p:sp>
        <p:nvSpPr>
          <p:cNvPr id="10" name="Text 8"/>
          <p:cNvSpPr txBox="1"/>
          <p:nvPr/>
        </p:nvSpPr>
        <p:spPr>
          <a:xfrm>
            <a:off x="6583680" y="5303520"/>
            <a:ext cx="1188720" cy="731520"/>
          </a:xfrm>
          <a:prstGeom prst="rect">
            <a:avLst/>
          </a:prstGeom>
          <a:noFill/>
          <a:ln/>
        </p:spPr>
        <p:txBody>
          <a:bodyPr wrap="square" lIns="0" tIns="0" rIns="0" bIns="0" rtlCol="0" anchor="ctr"/>
          <a:lstStyle/>
          <a:p>
            <a:pPr indent="0" marL="0">
              <a:buNone/>
            </a:pPr>
            <a:r>
              <a:rPr lang="en-US" sz="4200" dirty="0">
                <a:solidFill>
                  <a:srgbClr val="C3CCDA"/>
                </a:solidFill>
                <a:latin typeface="Bahnschrift Light" pitchFamily="34" charset="0"/>
                <a:ea typeface="Bahnschrift Light" pitchFamily="34" charset="-122"/>
                <a:cs typeface="Bahnschrift Light" pitchFamily="34" charset="-120"/>
              </a:rPr>
              <a:t>02</a:t>
            </a:r>
            <a:endParaRPr lang="en-US" sz="4200" dirty="0"/>
          </a:p>
        </p:txBody>
      </p:sp>
      <p:sp>
        <p:nvSpPr>
          <p:cNvPr id="11" name="Text 9"/>
          <p:cNvSpPr txBox="1"/>
          <p:nvPr/>
        </p:nvSpPr>
        <p:spPr>
          <a:xfrm>
            <a:off x="7772400" y="5376672"/>
            <a:ext cx="3200400" cy="457200"/>
          </a:xfrm>
          <a:prstGeom prst="rect">
            <a:avLst/>
          </a:prstGeom>
          <a:noFill/>
          <a:ln/>
        </p:spPr>
        <p:txBody>
          <a:bodyPr wrap="square" lIns="0" tIns="0" rIns="0" bIns="0" rtlCol="0" anchor="ctr"/>
          <a:lstStyle/>
          <a:p>
            <a:pPr indent="0" marL="0">
              <a:buNone/>
            </a:pPr>
            <a:r>
              <a:rPr lang="en-US" sz="2000" dirty="0">
                <a:solidFill>
                  <a:srgbClr val="18212F"/>
                </a:solidFill>
                <a:latin typeface="Bahnschrift SemiBold" pitchFamily="34" charset="0"/>
                <a:ea typeface="Bahnschrift SemiBold" pitchFamily="34" charset="-122"/>
                <a:cs typeface="Bahnschrift SemiBold" pitchFamily="34" charset="-120"/>
              </a:rPr>
              <a:t>Food labeling</a:t>
            </a:r>
            <a:endParaRPr lang="en-US" sz="2000" dirty="0"/>
          </a:p>
        </p:txBody>
      </p:sp>
      <p:sp>
        <p:nvSpPr>
          <p:cNvPr id="12" name="Text 10"/>
          <p:cNvSpPr txBox="1"/>
          <p:nvPr/>
        </p:nvSpPr>
        <p:spPr>
          <a:xfrm>
            <a:off x="7772400" y="5852160"/>
            <a:ext cx="3200400" cy="365760"/>
          </a:xfrm>
          <a:prstGeom prst="rect">
            <a:avLst/>
          </a:prstGeom>
          <a:noFill/>
          <a:ln/>
        </p:spPr>
        <p:txBody>
          <a:bodyPr wrap="square" lIns="0" tIns="0" rIns="0" bIns="0" rtlCol="0" anchor="ctr"/>
          <a:lstStyle/>
          <a:p>
            <a:pPr indent="0" marL="0">
              <a:buNone/>
            </a:pPr>
            <a:r>
              <a:rPr lang="en-US" sz="1400" dirty="0">
                <a:solidFill>
                  <a:srgbClr val="6E7788"/>
                </a:solidFill>
                <a:latin typeface="Calibri" pitchFamily="34" charset="0"/>
                <a:ea typeface="Calibri" pitchFamily="34" charset="-122"/>
                <a:cs typeface="Calibri" pitchFamily="34" charset="-120"/>
              </a:rPr>
              <a:t>2 people, impact 5</a:t>
            </a:r>
            <a:endParaRPr lang="en-US" sz="1400" dirty="0"/>
          </a:p>
        </p:txBody>
      </p:sp>
      <p:sp>
        <p:nvSpPr>
          <p:cNvPr id="13" name="Text 11"/>
          <p:cNvSpPr txBox="1"/>
          <p:nvPr/>
        </p:nvSpPr>
        <p:spPr>
          <a:xfrm>
            <a:off x="11887200" y="5303520"/>
            <a:ext cx="1188720" cy="731520"/>
          </a:xfrm>
          <a:prstGeom prst="rect">
            <a:avLst/>
          </a:prstGeom>
          <a:noFill/>
          <a:ln/>
        </p:spPr>
        <p:txBody>
          <a:bodyPr wrap="square" lIns="0" tIns="0" rIns="0" bIns="0" rtlCol="0" anchor="ctr"/>
          <a:lstStyle/>
          <a:p>
            <a:pPr indent="0" marL="0">
              <a:buNone/>
            </a:pPr>
            <a:r>
              <a:rPr lang="en-US" sz="4200" dirty="0">
                <a:solidFill>
                  <a:srgbClr val="C3CCDA"/>
                </a:solidFill>
                <a:latin typeface="Bahnschrift Light" pitchFamily="34" charset="0"/>
                <a:ea typeface="Bahnschrift Light" pitchFamily="34" charset="-122"/>
                <a:cs typeface="Bahnschrift Light" pitchFamily="34" charset="-120"/>
              </a:rPr>
              <a:t>03</a:t>
            </a:r>
            <a:endParaRPr lang="en-US" sz="4200" dirty="0"/>
          </a:p>
        </p:txBody>
      </p:sp>
      <p:sp>
        <p:nvSpPr>
          <p:cNvPr id="14" name="Text 12"/>
          <p:cNvSpPr txBox="1"/>
          <p:nvPr/>
        </p:nvSpPr>
        <p:spPr>
          <a:xfrm>
            <a:off x="13075920" y="5376672"/>
            <a:ext cx="3200400" cy="457200"/>
          </a:xfrm>
          <a:prstGeom prst="rect">
            <a:avLst/>
          </a:prstGeom>
          <a:noFill/>
          <a:ln/>
        </p:spPr>
        <p:txBody>
          <a:bodyPr wrap="square" lIns="0" tIns="0" rIns="0" bIns="0" rtlCol="0" anchor="ctr"/>
          <a:lstStyle/>
          <a:p>
            <a:pPr indent="0" marL="0">
              <a:buNone/>
            </a:pPr>
            <a:r>
              <a:rPr lang="en-US" sz="2000" dirty="0">
                <a:solidFill>
                  <a:srgbClr val="18212F"/>
                </a:solidFill>
                <a:latin typeface="Bahnschrift SemiBold" pitchFamily="34" charset="0"/>
                <a:ea typeface="Bahnschrift SemiBold" pitchFamily="34" charset="-122"/>
                <a:cs typeface="Bahnschrift SemiBold" pitchFamily="34" charset="-120"/>
              </a:rPr>
              <a:t>Ammonia refrigeration</a:t>
            </a:r>
            <a:endParaRPr lang="en-US" sz="2000" dirty="0"/>
          </a:p>
        </p:txBody>
      </p:sp>
      <p:sp>
        <p:nvSpPr>
          <p:cNvPr id="15" name="Text 13"/>
          <p:cNvSpPr txBox="1"/>
          <p:nvPr/>
        </p:nvSpPr>
        <p:spPr>
          <a:xfrm>
            <a:off x="13075920" y="5852160"/>
            <a:ext cx="3200400" cy="365760"/>
          </a:xfrm>
          <a:prstGeom prst="rect">
            <a:avLst/>
          </a:prstGeom>
          <a:noFill/>
          <a:ln/>
        </p:spPr>
        <p:txBody>
          <a:bodyPr wrap="square" lIns="0" tIns="0" rIns="0" bIns="0" rtlCol="0" anchor="ctr"/>
          <a:lstStyle/>
          <a:p>
            <a:pPr indent="0" marL="0">
              <a:buNone/>
            </a:pPr>
            <a:r>
              <a:rPr lang="en-US" sz="1400" dirty="0">
                <a:solidFill>
                  <a:srgbClr val="6E7788"/>
                </a:solidFill>
                <a:latin typeface="Calibri" pitchFamily="34" charset="0"/>
                <a:ea typeface="Calibri" pitchFamily="34" charset="-122"/>
                <a:cs typeface="Calibri" pitchFamily="34" charset="-120"/>
              </a:rPr>
              <a:t>2 people, impact 5</a:t>
            </a:r>
            <a:endParaRPr lang="en-US" sz="1400" dirty="0"/>
          </a:p>
        </p:txBody>
      </p:sp>
      <p:sp>
        <p:nvSpPr>
          <p:cNvPr id="16" name="Text 14"/>
          <p:cNvSpPr txBox="1"/>
          <p:nvPr/>
        </p:nvSpPr>
        <p:spPr>
          <a:xfrm>
            <a:off x="1280160" y="6995160"/>
            <a:ext cx="1188720" cy="731520"/>
          </a:xfrm>
          <a:prstGeom prst="rect">
            <a:avLst/>
          </a:prstGeom>
          <a:noFill/>
          <a:ln/>
        </p:spPr>
        <p:txBody>
          <a:bodyPr wrap="square" lIns="0" tIns="0" rIns="0" bIns="0" rtlCol="0" anchor="ctr"/>
          <a:lstStyle/>
          <a:p>
            <a:pPr indent="0" marL="0">
              <a:buNone/>
            </a:pPr>
            <a:r>
              <a:rPr lang="en-US" sz="4200" dirty="0">
                <a:solidFill>
                  <a:srgbClr val="C3CCDA"/>
                </a:solidFill>
                <a:latin typeface="Bahnschrift Light" pitchFamily="34" charset="0"/>
                <a:ea typeface="Bahnschrift Light" pitchFamily="34" charset="-122"/>
                <a:cs typeface="Bahnschrift Light" pitchFamily="34" charset="-120"/>
              </a:rPr>
              <a:t>04</a:t>
            </a:r>
            <a:endParaRPr lang="en-US" sz="4200" dirty="0"/>
          </a:p>
        </p:txBody>
      </p:sp>
      <p:sp>
        <p:nvSpPr>
          <p:cNvPr id="17" name="Text 15"/>
          <p:cNvSpPr txBox="1"/>
          <p:nvPr/>
        </p:nvSpPr>
        <p:spPr>
          <a:xfrm>
            <a:off x="2468880" y="7068312"/>
            <a:ext cx="3200400" cy="457200"/>
          </a:xfrm>
          <a:prstGeom prst="rect">
            <a:avLst/>
          </a:prstGeom>
          <a:noFill/>
          <a:ln/>
        </p:spPr>
        <p:txBody>
          <a:bodyPr wrap="square" lIns="0" tIns="0" rIns="0" bIns="0" rtlCol="0" anchor="ctr"/>
          <a:lstStyle/>
          <a:p>
            <a:pPr indent="0" marL="0">
              <a:buNone/>
            </a:pPr>
            <a:r>
              <a:rPr lang="en-US" sz="2000" dirty="0">
                <a:solidFill>
                  <a:srgbClr val="18212F"/>
                </a:solidFill>
                <a:latin typeface="Bahnschrift SemiBold" pitchFamily="34" charset="0"/>
                <a:ea typeface="Bahnschrift SemiBold" pitchFamily="34" charset="-122"/>
                <a:cs typeface="Bahnschrift SemiBold" pitchFamily="34" charset="-120"/>
              </a:rPr>
              <a:t>Salina line setup</a:t>
            </a:r>
            <a:endParaRPr lang="en-US" sz="2000" dirty="0"/>
          </a:p>
        </p:txBody>
      </p:sp>
      <p:sp>
        <p:nvSpPr>
          <p:cNvPr id="18" name="Text 16"/>
          <p:cNvSpPr txBox="1"/>
          <p:nvPr/>
        </p:nvSpPr>
        <p:spPr>
          <a:xfrm>
            <a:off x="2468880" y="7543800"/>
            <a:ext cx="3200400" cy="365760"/>
          </a:xfrm>
          <a:prstGeom prst="rect">
            <a:avLst/>
          </a:prstGeom>
          <a:noFill/>
          <a:ln/>
        </p:spPr>
        <p:txBody>
          <a:bodyPr wrap="square" lIns="0" tIns="0" rIns="0" bIns="0" rtlCol="0" anchor="ctr"/>
          <a:lstStyle/>
          <a:p>
            <a:pPr indent="0" marL="0">
              <a:buNone/>
            </a:pPr>
            <a:r>
              <a:rPr lang="en-US" sz="1400" dirty="0">
                <a:solidFill>
                  <a:srgbClr val="6E7788"/>
                </a:solidFill>
                <a:latin typeface="Calibri" pitchFamily="34" charset="0"/>
                <a:ea typeface="Calibri" pitchFamily="34" charset="-122"/>
                <a:cs typeface="Calibri" pitchFamily="34" charset="-120"/>
              </a:rPr>
              <a:t>nothing written down</a:t>
            </a:r>
            <a:endParaRPr lang="en-US" sz="1400" dirty="0"/>
          </a:p>
        </p:txBody>
      </p:sp>
      <p:sp>
        <p:nvSpPr>
          <p:cNvPr id="19" name="Text 17"/>
          <p:cNvSpPr txBox="1"/>
          <p:nvPr/>
        </p:nvSpPr>
        <p:spPr>
          <a:xfrm>
            <a:off x="6583680" y="6995160"/>
            <a:ext cx="1188720" cy="731520"/>
          </a:xfrm>
          <a:prstGeom prst="rect">
            <a:avLst/>
          </a:prstGeom>
          <a:noFill/>
          <a:ln/>
        </p:spPr>
        <p:txBody>
          <a:bodyPr wrap="square" lIns="0" tIns="0" rIns="0" bIns="0" rtlCol="0" anchor="ctr"/>
          <a:lstStyle/>
          <a:p>
            <a:pPr indent="0" marL="0">
              <a:buNone/>
            </a:pPr>
            <a:r>
              <a:rPr lang="en-US" sz="4200" dirty="0">
                <a:solidFill>
                  <a:srgbClr val="C3CCDA"/>
                </a:solidFill>
                <a:latin typeface="Bahnschrift Light" pitchFamily="34" charset="0"/>
                <a:ea typeface="Bahnschrift Light" pitchFamily="34" charset="-122"/>
                <a:cs typeface="Bahnschrift Light" pitchFamily="34" charset="-120"/>
              </a:rPr>
              <a:t>05</a:t>
            </a:r>
            <a:endParaRPr lang="en-US" sz="4200" dirty="0"/>
          </a:p>
        </p:txBody>
      </p:sp>
      <p:sp>
        <p:nvSpPr>
          <p:cNvPr id="20" name="Text 18"/>
          <p:cNvSpPr txBox="1"/>
          <p:nvPr/>
        </p:nvSpPr>
        <p:spPr>
          <a:xfrm>
            <a:off x="7772400" y="7068312"/>
            <a:ext cx="3200400" cy="457200"/>
          </a:xfrm>
          <a:prstGeom prst="rect">
            <a:avLst/>
          </a:prstGeom>
          <a:noFill/>
          <a:ln/>
        </p:spPr>
        <p:txBody>
          <a:bodyPr wrap="square" lIns="0" tIns="0" rIns="0" bIns="0" rtlCol="0" anchor="ctr"/>
          <a:lstStyle/>
          <a:p>
            <a:pPr indent="0" marL="0">
              <a:buNone/>
            </a:pPr>
            <a:r>
              <a:rPr lang="en-US" sz="2000" dirty="0">
                <a:solidFill>
                  <a:srgbClr val="18212F"/>
                </a:solidFill>
                <a:latin typeface="Bahnschrift SemiBold" pitchFamily="34" charset="0"/>
                <a:ea typeface="Bahnschrift SemiBold" pitchFamily="34" charset="-122"/>
                <a:cs typeface="Bahnschrift SemiBold" pitchFamily="34" charset="-120"/>
              </a:rPr>
              <a:t>PLC automation</a:t>
            </a:r>
            <a:endParaRPr lang="en-US" sz="2000" dirty="0"/>
          </a:p>
        </p:txBody>
      </p:sp>
      <p:sp>
        <p:nvSpPr>
          <p:cNvPr id="21" name="Text 19"/>
          <p:cNvSpPr txBox="1"/>
          <p:nvPr/>
        </p:nvSpPr>
        <p:spPr>
          <a:xfrm>
            <a:off x="7772400" y="7543800"/>
            <a:ext cx="3200400" cy="365760"/>
          </a:xfrm>
          <a:prstGeom prst="rect">
            <a:avLst/>
          </a:prstGeom>
          <a:noFill/>
          <a:ln/>
        </p:spPr>
        <p:txBody>
          <a:bodyPr wrap="square" lIns="0" tIns="0" rIns="0" bIns="0" rtlCol="0" anchor="ctr"/>
          <a:lstStyle/>
          <a:p>
            <a:pPr indent="0" marL="0">
              <a:buNone/>
            </a:pPr>
            <a:r>
              <a:rPr lang="en-US" sz="1400" dirty="0">
                <a:solidFill>
                  <a:srgbClr val="6E7788"/>
                </a:solidFill>
                <a:latin typeface="Calibri" pitchFamily="34" charset="0"/>
                <a:ea typeface="Calibri" pitchFamily="34" charset="-122"/>
                <a:cs typeface="Calibri" pitchFamily="34" charset="-120"/>
              </a:rPr>
              <a:t>3 people, Sioux Falls needs it</a:t>
            </a:r>
            <a:endParaRPr lang="en-US" sz="1400" dirty="0"/>
          </a:p>
        </p:txBody>
      </p:sp>
      <p:sp>
        <p:nvSpPr>
          <p:cNvPr id="22" name="Text 20"/>
          <p:cNvSpPr txBox="1"/>
          <p:nvPr/>
        </p:nvSpPr>
        <p:spPr>
          <a:xfrm>
            <a:off x="11887200" y="6995160"/>
            <a:ext cx="1188720" cy="731520"/>
          </a:xfrm>
          <a:prstGeom prst="rect">
            <a:avLst/>
          </a:prstGeom>
          <a:noFill/>
          <a:ln/>
        </p:spPr>
        <p:txBody>
          <a:bodyPr wrap="square" lIns="0" tIns="0" rIns="0" bIns="0" rtlCol="0" anchor="ctr"/>
          <a:lstStyle/>
          <a:p>
            <a:pPr indent="0" marL="0">
              <a:buNone/>
            </a:pPr>
            <a:r>
              <a:rPr lang="en-US" sz="4200" dirty="0">
                <a:solidFill>
                  <a:srgbClr val="C3CCDA"/>
                </a:solidFill>
                <a:latin typeface="Bahnschrift Light" pitchFamily="34" charset="0"/>
                <a:ea typeface="Bahnschrift Light" pitchFamily="34" charset="-122"/>
                <a:cs typeface="Bahnschrift Light" pitchFamily="34" charset="-120"/>
              </a:rPr>
              <a:t>06</a:t>
            </a:r>
            <a:endParaRPr lang="en-US" sz="4200" dirty="0"/>
          </a:p>
        </p:txBody>
      </p:sp>
      <p:sp>
        <p:nvSpPr>
          <p:cNvPr id="23" name="Text 21"/>
          <p:cNvSpPr txBox="1"/>
          <p:nvPr/>
        </p:nvSpPr>
        <p:spPr>
          <a:xfrm>
            <a:off x="13075920" y="7068312"/>
            <a:ext cx="3200400" cy="457200"/>
          </a:xfrm>
          <a:prstGeom prst="rect">
            <a:avLst/>
          </a:prstGeom>
          <a:noFill/>
          <a:ln/>
        </p:spPr>
        <p:txBody>
          <a:bodyPr wrap="square" lIns="0" tIns="0" rIns="0" bIns="0" rtlCol="0" anchor="ctr"/>
          <a:lstStyle/>
          <a:p>
            <a:pPr indent="0" marL="0">
              <a:buNone/>
            </a:pPr>
            <a:r>
              <a:rPr lang="en-US" sz="2000" dirty="0">
                <a:solidFill>
                  <a:srgbClr val="18212F"/>
                </a:solidFill>
                <a:latin typeface="Bahnschrift SemiBold" pitchFamily="34" charset="0"/>
                <a:ea typeface="Bahnschrift SemiBold" pitchFamily="34" charset="-122"/>
                <a:cs typeface="Bahnschrift SemiBold" pitchFamily="34" charset="-120"/>
              </a:rPr>
              <a:t>Culinary consulting</a:t>
            </a:r>
            <a:endParaRPr lang="en-US" sz="2000" dirty="0"/>
          </a:p>
        </p:txBody>
      </p:sp>
      <p:sp>
        <p:nvSpPr>
          <p:cNvPr id="24" name="Text 22"/>
          <p:cNvSpPr txBox="1"/>
          <p:nvPr/>
        </p:nvSpPr>
        <p:spPr>
          <a:xfrm>
            <a:off x="13075920" y="7543800"/>
            <a:ext cx="3200400" cy="365760"/>
          </a:xfrm>
          <a:prstGeom prst="rect">
            <a:avLst/>
          </a:prstGeom>
          <a:noFill/>
          <a:ln/>
        </p:spPr>
        <p:txBody>
          <a:bodyPr wrap="square" lIns="0" tIns="0" rIns="0" bIns="0" rtlCol="0" anchor="ctr"/>
          <a:lstStyle/>
          <a:p>
            <a:pPr indent="0" marL="0">
              <a:buNone/>
            </a:pPr>
            <a:r>
              <a:rPr lang="en-US" sz="1400" dirty="0">
                <a:solidFill>
                  <a:srgbClr val="6E7788"/>
                </a:solidFill>
                <a:latin typeface="Calibri" pitchFamily="34" charset="0"/>
                <a:ea typeface="Calibri" pitchFamily="34" charset="-122"/>
                <a:cs typeface="Calibri" pitchFamily="34" charset="-120"/>
              </a:rPr>
              <a:t>3 people, national cover</a:t>
            </a:r>
            <a:endParaRPr lang="en-US" sz="1400" dirty="0"/>
          </a:p>
        </p:txBody>
      </p:sp>
      <p:sp>
        <p:nvSpPr>
          <p:cNvPr id="25" name="Text 23"/>
          <p:cNvSpPr txBox="1"/>
          <p:nvPr/>
        </p:nvSpPr>
        <p:spPr>
          <a:xfrm>
            <a:off x="1280160" y="8641080"/>
            <a:ext cx="13716000" cy="411480"/>
          </a:xfrm>
          <a:prstGeom prst="rect">
            <a:avLst/>
          </a:prstGeom>
          <a:noFill/>
          <a:ln/>
        </p:spPr>
        <p:txBody>
          <a:bodyPr wrap="square" lIns="0" tIns="0" rIns="0" bIns="0" rtlCol="0" anchor="ctr"/>
          <a:lstStyle/>
          <a:p>
            <a:pPr indent="0" marL="0">
              <a:buNone/>
            </a:pPr>
            <a:r>
              <a:rPr lang="en-US" sz="1600" dirty="0">
                <a:solidFill>
                  <a:srgbClr val="232E54"/>
                </a:solidFill>
                <a:latin typeface="Consolas" pitchFamily="34" charset="0"/>
                <a:ea typeface="Consolas" pitchFamily="34" charset="-122"/>
                <a:cs typeface="Consolas" pitchFamily="34" charset="-120"/>
              </a:rPr>
              <a:t>score  =  impact out of 5   ×   3 ÷ number of holders   ×   size of the coverage gap</a:t>
            </a:r>
            <a:endParaRPr lang="en-US" sz="1600" dirty="0"/>
          </a:p>
        </p:txBody>
      </p:sp>
      <p:sp>
        <p:nvSpPr>
          <p:cNvPr id="26" name="Shape 24"/>
          <p:cNvSpPr/>
          <p:nvPr/>
        </p:nvSpPr>
        <p:spPr>
          <a:xfrm>
            <a:off x="1280160" y="9189720"/>
            <a:ext cx="15727680" cy="0"/>
          </a:xfrm>
          <a:prstGeom prst="line">
            <a:avLst/>
          </a:prstGeom>
          <a:noFill/>
          <a:ln w="12700">
            <a:solidFill>
              <a:srgbClr val="D9D9D9"/>
            </a:solidFill>
            <a:prstDash val="solid"/>
          </a:ln>
        </p:spPr>
      </p:sp>
      <p:sp>
        <p:nvSpPr>
          <p:cNvPr id="27" name="Text 25"/>
          <p:cNvSpPr txBox="1"/>
          <p:nvPr/>
        </p:nvSpPr>
        <p:spPr>
          <a:xfrm>
            <a:off x="1280160" y="9372600"/>
            <a:ext cx="813816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IN THE APP   </a:t>
            </a:r>
            <a:pPr indent="0" marL="0">
              <a:buNone/>
            </a:pPr>
            <a:r>
              <a:rPr lang="en-US" sz="1400" dirty="0">
                <a:solidFill>
                  <a:srgbClr val="18212F"/>
                </a:solidFill>
                <a:latin typeface="Calibri" pitchFamily="34" charset="0"/>
                <a:ea typeface="Calibri" pitchFamily="34" charset="-122"/>
                <a:cs typeface="Calibri" pitchFamily="34" charset="-120"/>
              </a:rPr>
              <a:t>Overview tab, Do this first</a:t>
            </a:r>
            <a:endParaRPr lang="en-US" sz="1400" dirty="0"/>
          </a:p>
        </p:txBody>
      </p:sp>
      <p:sp>
        <p:nvSpPr>
          <p:cNvPr id="28" name="Text 26"/>
          <p:cNvSpPr txBox="1"/>
          <p:nvPr/>
        </p:nvSpPr>
        <p:spPr>
          <a:xfrm>
            <a:off x="9418320" y="9372600"/>
            <a:ext cx="758952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NUMBERS FROM   </a:t>
            </a:r>
            <a:pPr indent="0" marL="0">
              <a:buNone/>
            </a:pPr>
            <a:r>
              <a:rPr lang="en-US" sz="1400" dirty="0">
                <a:solidFill>
                  <a:srgbClr val="18212F"/>
                </a:solidFill>
                <a:latin typeface="Calibri" pitchFamily="34" charset="0"/>
                <a:ea typeface="Calibri" pitchFamily="34" charset="-122"/>
                <a:cs typeface="Calibri" pitchFamily="34" charset="-120"/>
              </a:rPr>
              <a:t>Demo inputs. The formula is on screen, not hidden.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EF2F5"/>
          </a:solidFill>
          <a:ln w="12700">
            <a:solidFill>
              <a:srgbClr val="EEF2F5"/>
            </a:solidFill>
            <a:prstDash val="solid"/>
          </a:ln>
        </p:spPr>
      </p:sp>
      <p:sp>
        <p:nvSpPr>
          <p:cNvPr id="3" name="Shape 1"/>
          <p:cNvSpPr/>
          <p:nvPr/>
        </p:nvSpPr>
        <p:spPr>
          <a:xfrm>
            <a:off x="11338560" y="-365760"/>
            <a:ext cx="7498080" cy="10972800"/>
          </a:xfrm>
          <a:prstGeom prst="rect">
            <a:avLst/>
          </a:prstGeom>
          <a:solidFill>
            <a:srgbClr val="FFFFFF"/>
          </a:solidFill>
          <a:ln w="12700">
            <a:solidFill>
              <a:srgbClr val="FFFFFF"/>
            </a:solidFill>
            <a:prstDash val="solid"/>
          </a:ln>
        </p:spPr>
      </p:sp>
      <p:sp>
        <p:nvSpPr>
          <p:cNvPr id="4" name="Text 2"/>
          <p:cNvSpPr txBox="1"/>
          <p:nvPr/>
        </p:nvSpPr>
        <p:spPr>
          <a:xfrm>
            <a:off x="1170432" y="566928"/>
            <a:ext cx="2286000" cy="2194560"/>
          </a:xfrm>
          <a:prstGeom prst="rect">
            <a:avLst/>
          </a:prstGeom>
          <a:noFill/>
          <a:ln/>
        </p:spPr>
        <p:txBody>
          <a:bodyPr wrap="square" lIns="0" tIns="0" rIns="0" bIns="0" rtlCol="0" anchor="ctr"/>
          <a:lstStyle/>
          <a:p>
            <a:pPr indent="0" marL="0">
              <a:lnSpc>
                <a:spcPct val="82000"/>
              </a:lnSpc>
              <a:buNone/>
            </a:pPr>
            <a:r>
              <a:rPr lang="en-US" sz="14000" dirty="0">
                <a:solidFill>
                  <a:srgbClr val="DCE3EA"/>
                </a:solidFill>
                <a:latin typeface="Bahnschrift SemiBold" pitchFamily="34" charset="0"/>
                <a:ea typeface="Bahnschrift SemiBold" pitchFamily="34" charset="-122"/>
                <a:cs typeface="Bahnschrift SemiBold" pitchFamily="34" charset="-120"/>
              </a:rPr>
              <a:t>05</a:t>
            </a:r>
            <a:endParaRPr lang="en-US" sz="14000" dirty="0"/>
          </a:p>
        </p:txBody>
      </p:sp>
      <p:sp>
        <p:nvSpPr>
          <p:cNvPr id="5" name="Text 3"/>
          <p:cNvSpPr txBox="1"/>
          <p:nvPr/>
        </p:nvSpPr>
        <p:spPr>
          <a:xfrm>
            <a:off x="3931920" y="868680"/>
            <a:ext cx="6949440" cy="2011680"/>
          </a:xfrm>
          <a:prstGeom prst="rect">
            <a:avLst/>
          </a:prstGeom>
          <a:noFill/>
          <a:ln/>
        </p:spPr>
        <p:txBody>
          <a:bodyPr wrap="square" lIns="0" tIns="0" rIns="0" bIns="0" rtlCol="0" anchor="ctr"/>
          <a:lstStyle/>
          <a:p>
            <a:pPr indent="0" marL="0">
              <a:lnSpc>
                <a:spcPct val="108000"/>
              </a:lnSpc>
              <a:buNone/>
            </a:pPr>
            <a:r>
              <a:rPr lang="en-US" sz="2600" dirty="0">
                <a:solidFill>
                  <a:srgbClr val="232E54"/>
                </a:solidFill>
                <a:latin typeface="Bahnschrift SemiBold" pitchFamily="34" charset="0"/>
                <a:ea typeface="Bahnschrift SemiBold" pitchFamily="34" charset="-122"/>
                <a:cs typeface="Bahnschrift SemiBold" pitchFamily="34" charset="-120"/>
              </a:rPr>
              <a:t>How can employees close skill gaps</a:t>
            </a:r>
            <a:endParaRPr lang="en-US" sz="2600" dirty="0"/>
          </a:p>
          <a:p>
            <a:pPr indent="0" marL="0">
              <a:lnSpc>
                <a:spcPct val="108000"/>
              </a:lnSpc>
              <a:buNone/>
            </a:pPr>
            <a:r>
              <a:rPr lang="en-US" sz="2600" dirty="0">
                <a:solidFill>
                  <a:srgbClr val="232E54"/>
                </a:solidFill>
                <a:latin typeface="Bahnschrift SemiBold" pitchFamily="34" charset="0"/>
                <a:ea typeface="Bahnschrift SemiBold" pitchFamily="34" charset="-122"/>
                <a:cs typeface="Bahnschrift SemiBold" pitchFamily="34" charset="-120"/>
              </a:rPr>
              <a:t>through training, mentoring,</a:t>
            </a:r>
            <a:endParaRPr lang="en-US" sz="2600" dirty="0"/>
          </a:p>
          <a:p>
            <a:pPr indent="0" marL="0">
              <a:lnSpc>
                <a:spcPct val="108000"/>
              </a:lnSpc>
              <a:buNone/>
            </a:pPr>
            <a:r>
              <a:rPr lang="en-US" sz="2600" dirty="0">
                <a:solidFill>
                  <a:srgbClr val="232E54"/>
                </a:solidFill>
                <a:latin typeface="Bahnschrift SemiBold" pitchFamily="34" charset="0"/>
                <a:ea typeface="Bahnschrift SemiBold" pitchFamily="34" charset="-122"/>
                <a:cs typeface="Bahnschrift SemiBold" pitchFamily="34" charset="-120"/>
              </a:rPr>
              <a:t>certifications or rotations?</a:t>
            </a:r>
            <a:endParaRPr lang="en-US" sz="2600" dirty="0"/>
          </a:p>
        </p:txBody>
      </p:sp>
      <p:sp>
        <p:nvSpPr>
          <p:cNvPr id="6" name="Text 4"/>
          <p:cNvSpPr txBox="1"/>
          <p:nvPr/>
        </p:nvSpPr>
        <p:spPr>
          <a:xfrm>
            <a:off x="1280160" y="3291840"/>
            <a:ext cx="9509760" cy="1828800"/>
          </a:xfrm>
          <a:prstGeom prst="rect">
            <a:avLst/>
          </a:prstGeom>
          <a:noFill/>
          <a:ln/>
        </p:spPr>
        <p:txBody>
          <a:bodyPr wrap="square" lIns="0" tIns="0" rIns="0" bIns="0" rtlCol="0" anchor="ctr"/>
          <a:lstStyle/>
          <a:p>
            <a:pPr indent="0" marL="0">
              <a:lnSpc>
                <a:spcPct val="106000"/>
              </a:lnSpc>
              <a:buNone/>
            </a:pPr>
            <a:r>
              <a:rPr lang="en-US" sz="3400" dirty="0">
                <a:solidFill>
                  <a:srgbClr val="18212F"/>
                </a:solidFill>
                <a:latin typeface="Bahnschrift SemiBold" pitchFamily="34" charset="0"/>
                <a:ea typeface="Bahnschrift SemiBold" pitchFamily="34" charset="-122"/>
                <a:cs typeface="Bahnschrift SemiBold" pitchFamily="34" charset="-120"/>
              </a:rPr>
              <a:t>Ten first steps, sixteen backups,</a:t>
            </a:r>
            <a:endParaRPr lang="en-US" sz="3400" dirty="0"/>
          </a:p>
          <a:p>
            <a:pPr indent="0" marL="0">
              <a:lnSpc>
                <a:spcPct val="106000"/>
              </a:lnSpc>
              <a:buNone/>
            </a:pPr>
            <a:r>
              <a:rPr lang="en-US" sz="3400" dirty="0">
                <a:solidFill>
                  <a:srgbClr val="18212F"/>
                </a:solidFill>
                <a:latin typeface="Bahnschrift SemiBold" pitchFamily="34" charset="0"/>
                <a:ea typeface="Bahnschrift SemiBold" pitchFamily="34" charset="-122"/>
                <a:cs typeface="Bahnschrift SemiBold" pitchFamily="34" charset="-120"/>
              </a:rPr>
              <a:t>all five methods the prompt names.</a:t>
            </a:r>
            <a:endParaRPr lang="en-US" sz="3400" dirty="0"/>
          </a:p>
        </p:txBody>
      </p:sp>
      <p:sp>
        <p:nvSpPr>
          <p:cNvPr id="7" name="Text 5"/>
          <p:cNvSpPr txBox="1"/>
          <p:nvPr/>
        </p:nvSpPr>
        <p:spPr>
          <a:xfrm>
            <a:off x="1280160" y="5340096"/>
            <a:ext cx="777240" cy="594360"/>
          </a:xfrm>
          <a:prstGeom prst="rect">
            <a:avLst/>
          </a:prstGeom>
          <a:noFill/>
          <a:ln/>
        </p:spPr>
        <p:txBody>
          <a:bodyPr wrap="square" lIns="0" tIns="0" rIns="0" bIns="0" rtlCol="0" anchor="ctr"/>
          <a:lstStyle/>
          <a:p>
            <a:pPr indent="0" marL="0">
              <a:buNone/>
            </a:pPr>
            <a:r>
              <a:rPr lang="en-US" sz="3000" dirty="0">
                <a:solidFill>
                  <a:srgbClr val="232E54"/>
                </a:solidFill>
                <a:latin typeface="Bahnschrift SemiBold" pitchFamily="34" charset="0"/>
                <a:ea typeface="Bahnschrift SemiBold" pitchFamily="34" charset="-122"/>
                <a:cs typeface="Bahnschrift SemiBold" pitchFamily="34" charset="-120"/>
              </a:rPr>
              <a:t>8</a:t>
            </a:r>
            <a:endParaRPr lang="en-US" sz="3000" dirty="0"/>
          </a:p>
        </p:txBody>
      </p:sp>
      <p:sp>
        <p:nvSpPr>
          <p:cNvPr id="8" name="Text 6"/>
          <p:cNvSpPr txBox="1"/>
          <p:nvPr/>
        </p:nvSpPr>
        <p:spPr>
          <a:xfrm>
            <a:off x="2103120" y="5431536"/>
            <a:ext cx="283464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Training</a:t>
            </a:r>
            <a:endParaRPr lang="en-US" sz="1900" dirty="0"/>
          </a:p>
        </p:txBody>
      </p:sp>
      <p:sp>
        <p:nvSpPr>
          <p:cNvPr id="9" name="Text 7"/>
          <p:cNvSpPr txBox="1"/>
          <p:nvPr/>
        </p:nvSpPr>
        <p:spPr>
          <a:xfrm>
            <a:off x="5120640" y="5449824"/>
            <a:ext cx="5669280" cy="41148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Vendor PLC course, labeling workshop</a:t>
            </a:r>
            <a:endParaRPr lang="en-US" sz="1500" dirty="0"/>
          </a:p>
        </p:txBody>
      </p:sp>
      <p:sp>
        <p:nvSpPr>
          <p:cNvPr id="10" name="Shape 8"/>
          <p:cNvSpPr/>
          <p:nvPr/>
        </p:nvSpPr>
        <p:spPr>
          <a:xfrm>
            <a:off x="1280160" y="6035040"/>
            <a:ext cx="9509760" cy="0"/>
          </a:xfrm>
          <a:prstGeom prst="line">
            <a:avLst/>
          </a:prstGeom>
          <a:noFill/>
          <a:ln w="12700">
            <a:solidFill>
              <a:srgbClr val="DCE3EA"/>
            </a:solidFill>
            <a:prstDash val="solid"/>
          </a:ln>
        </p:spPr>
      </p:sp>
      <p:sp>
        <p:nvSpPr>
          <p:cNvPr id="11" name="Text 9"/>
          <p:cNvSpPr txBox="1"/>
          <p:nvPr/>
        </p:nvSpPr>
        <p:spPr>
          <a:xfrm>
            <a:off x="1280160" y="6163056"/>
            <a:ext cx="777240" cy="594360"/>
          </a:xfrm>
          <a:prstGeom prst="rect">
            <a:avLst/>
          </a:prstGeom>
          <a:noFill/>
          <a:ln/>
        </p:spPr>
        <p:txBody>
          <a:bodyPr wrap="square" lIns="0" tIns="0" rIns="0" bIns="0" rtlCol="0" anchor="ctr"/>
          <a:lstStyle/>
          <a:p>
            <a:pPr indent="0" marL="0">
              <a:buNone/>
            </a:pPr>
            <a:r>
              <a:rPr lang="en-US" sz="3000" dirty="0">
                <a:solidFill>
                  <a:srgbClr val="232E54"/>
                </a:solidFill>
                <a:latin typeface="Bahnschrift SemiBold" pitchFamily="34" charset="0"/>
                <a:ea typeface="Bahnschrift SemiBold" pitchFamily="34" charset="-122"/>
                <a:cs typeface="Bahnschrift SemiBold" pitchFamily="34" charset="-120"/>
              </a:rPr>
              <a:t>6</a:t>
            </a:r>
            <a:endParaRPr lang="en-US" sz="3000" dirty="0"/>
          </a:p>
        </p:txBody>
      </p:sp>
      <p:sp>
        <p:nvSpPr>
          <p:cNvPr id="12" name="Text 10"/>
          <p:cNvSpPr txBox="1"/>
          <p:nvPr/>
        </p:nvSpPr>
        <p:spPr>
          <a:xfrm>
            <a:off x="2103120" y="6254496"/>
            <a:ext cx="283464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Mentoring</a:t>
            </a:r>
            <a:endParaRPr lang="en-US" sz="1900" dirty="0"/>
          </a:p>
        </p:txBody>
      </p:sp>
      <p:sp>
        <p:nvSpPr>
          <p:cNvPr id="13" name="Text 11"/>
          <p:cNvSpPr txBox="1"/>
          <p:nvPr/>
        </p:nvSpPr>
        <p:spPr>
          <a:xfrm>
            <a:off x="5120640" y="6272784"/>
            <a:ext cx="5669280" cy="41148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The single expert takes two mentees</a:t>
            </a:r>
            <a:endParaRPr lang="en-US" sz="1500" dirty="0"/>
          </a:p>
        </p:txBody>
      </p:sp>
      <p:sp>
        <p:nvSpPr>
          <p:cNvPr id="14" name="Shape 12"/>
          <p:cNvSpPr/>
          <p:nvPr/>
        </p:nvSpPr>
        <p:spPr>
          <a:xfrm>
            <a:off x="1280160" y="6858000"/>
            <a:ext cx="9509760" cy="0"/>
          </a:xfrm>
          <a:prstGeom prst="line">
            <a:avLst/>
          </a:prstGeom>
          <a:noFill/>
          <a:ln w="12700">
            <a:solidFill>
              <a:srgbClr val="DCE3EA"/>
            </a:solidFill>
            <a:prstDash val="solid"/>
          </a:ln>
        </p:spPr>
      </p:sp>
      <p:sp>
        <p:nvSpPr>
          <p:cNvPr id="15" name="Text 13"/>
          <p:cNvSpPr txBox="1"/>
          <p:nvPr/>
        </p:nvSpPr>
        <p:spPr>
          <a:xfrm>
            <a:off x="1280160" y="6986016"/>
            <a:ext cx="777240" cy="594360"/>
          </a:xfrm>
          <a:prstGeom prst="rect">
            <a:avLst/>
          </a:prstGeom>
          <a:noFill/>
          <a:ln/>
        </p:spPr>
        <p:txBody>
          <a:bodyPr wrap="square" lIns="0" tIns="0" rIns="0" bIns="0" rtlCol="0" anchor="ctr"/>
          <a:lstStyle/>
          <a:p>
            <a:pPr indent="0" marL="0">
              <a:buNone/>
            </a:pPr>
            <a:r>
              <a:rPr lang="en-US" sz="3000" dirty="0">
                <a:solidFill>
                  <a:srgbClr val="232E54"/>
                </a:solidFill>
                <a:latin typeface="Bahnschrift SemiBold" pitchFamily="34" charset="0"/>
                <a:ea typeface="Bahnschrift SemiBold" pitchFamily="34" charset="-122"/>
                <a:cs typeface="Bahnschrift SemiBold" pitchFamily="34" charset="-120"/>
              </a:rPr>
              <a:t>5</a:t>
            </a:r>
            <a:endParaRPr lang="en-US" sz="3000" dirty="0"/>
          </a:p>
        </p:txBody>
      </p:sp>
      <p:sp>
        <p:nvSpPr>
          <p:cNvPr id="16" name="Text 14"/>
          <p:cNvSpPr txBox="1"/>
          <p:nvPr/>
        </p:nvSpPr>
        <p:spPr>
          <a:xfrm>
            <a:off x="2103120" y="7077456"/>
            <a:ext cx="283464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Project experience</a:t>
            </a:r>
            <a:endParaRPr lang="en-US" sz="1900" dirty="0"/>
          </a:p>
        </p:txBody>
      </p:sp>
      <p:sp>
        <p:nvSpPr>
          <p:cNvPr id="17" name="Text 15"/>
          <p:cNvSpPr txBox="1"/>
          <p:nvPr/>
        </p:nvSpPr>
        <p:spPr>
          <a:xfrm>
            <a:off x="5120640" y="7095744"/>
            <a:ext cx="5669280" cy="41148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Two techs join the Sioux Falls team</a:t>
            </a:r>
            <a:endParaRPr lang="en-US" sz="1500" dirty="0"/>
          </a:p>
        </p:txBody>
      </p:sp>
      <p:sp>
        <p:nvSpPr>
          <p:cNvPr id="18" name="Shape 16"/>
          <p:cNvSpPr/>
          <p:nvPr/>
        </p:nvSpPr>
        <p:spPr>
          <a:xfrm>
            <a:off x="1280160" y="7680960"/>
            <a:ext cx="9509760" cy="0"/>
          </a:xfrm>
          <a:prstGeom prst="line">
            <a:avLst/>
          </a:prstGeom>
          <a:noFill/>
          <a:ln w="12700">
            <a:solidFill>
              <a:srgbClr val="DCE3EA"/>
            </a:solidFill>
            <a:prstDash val="solid"/>
          </a:ln>
        </p:spPr>
      </p:sp>
      <p:sp>
        <p:nvSpPr>
          <p:cNvPr id="19" name="Text 17"/>
          <p:cNvSpPr txBox="1"/>
          <p:nvPr/>
        </p:nvSpPr>
        <p:spPr>
          <a:xfrm>
            <a:off x="1280160" y="7808976"/>
            <a:ext cx="777240" cy="594360"/>
          </a:xfrm>
          <a:prstGeom prst="rect">
            <a:avLst/>
          </a:prstGeom>
          <a:noFill/>
          <a:ln/>
        </p:spPr>
        <p:txBody>
          <a:bodyPr wrap="square" lIns="0" tIns="0" rIns="0" bIns="0" rtlCol="0" anchor="ctr"/>
          <a:lstStyle/>
          <a:p>
            <a:pPr indent="0" marL="0">
              <a:buNone/>
            </a:pPr>
            <a:r>
              <a:rPr lang="en-US" sz="3000" dirty="0">
                <a:solidFill>
                  <a:srgbClr val="232E54"/>
                </a:solidFill>
                <a:latin typeface="Bahnschrift SemiBold" pitchFamily="34" charset="0"/>
                <a:ea typeface="Bahnschrift SemiBold" pitchFamily="34" charset="-122"/>
                <a:cs typeface="Bahnschrift SemiBold" pitchFamily="34" charset="-120"/>
              </a:rPr>
              <a:t>4</a:t>
            </a:r>
            <a:endParaRPr lang="en-US" sz="3000" dirty="0"/>
          </a:p>
        </p:txBody>
      </p:sp>
      <p:sp>
        <p:nvSpPr>
          <p:cNvPr id="20" name="Text 18"/>
          <p:cNvSpPr txBox="1"/>
          <p:nvPr/>
        </p:nvSpPr>
        <p:spPr>
          <a:xfrm>
            <a:off x="2103120" y="7900416"/>
            <a:ext cx="283464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Certification</a:t>
            </a:r>
            <a:endParaRPr lang="en-US" sz="1900" dirty="0"/>
          </a:p>
        </p:txBody>
      </p:sp>
      <p:sp>
        <p:nvSpPr>
          <p:cNvPr id="21" name="Text 19"/>
          <p:cNvSpPr txBox="1"/>
          <p:nvPr/>
        </p:nvSpPr>
        <p:spPr>
          <a:xfrm>
            <a:off x="5120640" y="7918704"/>
            <a:ext cx="5669280" cy="41148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RETA ammonia, Green Belt for supervisors</a:t>
            </a:r>
            <a:endParaRPr lang="en-US" sz="1500" dirty="0"/>
          </a:p>
        </p:txBody>
      </p:sp>
      <p:sp>
        <p:nvSpPr>
          <p:cNvPr id="22" name="Shape 20"/>
          <p:cNvSpPr/>
          <p:nvPr/>
        </p:nvSpPr>
        <p:spPr>
          <a:xfrm>
            <a:off x="1280160" y="8503920"/>
            <a:ext cx="9509760" cy="0"/>
          </a:xfrm>
          <a:prstGeom prst="line">
            <a:avLst/>
          </a:prstGeom>
          <a:noFill/>
          <a:ln w="12700">
            <a:solidFill>
              <a:srgbClr val="DCE3EA"/>
            </a:solidFill>
            <a:prstDash val="solid"/>
          </a:ln>
        </p:spPr>
      </p:sp>
      <p:sp>
        <p:nvSpPr>
          <p:cNvPr id="23" name="Text 21"/>
          <p:cNvSpPr txBox="1"/>
          <p:nvPr/>
        </p:nvSpPr>
        <p:spPr>
          <a:xfrm>
            <a:off x="1280160" y="8631936"/>
            <a:ext cx="777240" cy="594360"/>
          </a:xfrm>
          <a:prstGeom prst="rect">
            <a:avLst/>
          </a:prstGeom>
          <a:noFill/>
          <a:ln/>
        </p:spPr>
        <p:txBody>
          <a:bodyPr wrap="square" lIns="0" tIns="0" rIns="0" bIns="0" rtlCol="0" anchor="ctr"/>
          <a:lstStyle/>
          <a:p>
            <a:pPr indent="0" marL="0">
              <a:buNone/>
            </a:pPr>
            <a:r>
              <a:rPr lang="en-US" sz="3000" dirty="0">
                <a:solidFill>
                  <a:srgbClr val="232E54"/>
                </a:solidFill>
                <a:latin typeface="Bahnschrift SemiBold" pitchFamily="34" charset="0"/>
                <a:ea typeface="Bahnschrift SemiBold" pitchFamily="34" charset="-122"/>
                <a:cs typeface="Bahnschrift SemiBold" pitchFamily="34" charset="-120"/>
              </a:rPr>
              <a:t>3</a:t>
            </a:r>
            <a:endParaRPr lang="en-US" sz="3000" dirty="0"/>
          </a:p>
        </p:txBody>
      </p:sp>
      <p:sp>
        <p:nvSpPr>
          <p:cNvPr id="24" name="Text 22"/>
          <p:cNvSpPr txBox="1"/>
          <p:nvPr/>
        </p:nvSpPr>
        <p:spPr>
          <a:xfrm>
            <a:off x="2103120" y="8723376"/>
            <a:ext cx="2834640" cy="411480"/>
          </a:xfrm>
          <a:prstGeom prst="rect">
            <a:avLst/>
          </a:prstGeom>
          <a:noFill/>
          <a:ln/>
        </p:spPr>
        <p:txBody>
          <a:bodyPr wrap="square" lIns="0" tIns="0" rIns="0" bIns="0" rtlCol="0" anchor="ctr"/>
          <a:lstStyle/>
          <a:p>
            <a:pPr indent="0" marL="0">
              <a:buNone/>
            </a:pPr>
            <a:r>
              <a:rPr lang="en-US" sz="1900" dirty="0">
                <a:solidFill>
                  <a:srgbClr val="18212F"/>
                </a:solidFill>
                <a:latin typeface="Bahnschrift SemiBold" pitchFamily="34" charset="0"/>
                <a:ea typeface="Bahnschrift SemiBold" pitchFamily="34" charset="-122"/>
                <a:cs typeface="Bahnschrift SemiBold" pitchFamily="34" charset="-120"/>
              </a:rPr>
              <a:t>Job rotation</a:t>
            </a:r>
            <a:endParaRPr lang="en-US" sz="1900" dirty="0"/>
          </a:p>
        </p:txBody>
      </p:sp>
      <p:sp>
        <p:nvSpPr>
          <p:cNvPr id="25" name="Text 23"/>
          <p:cNvSpPr txBox="1"/>
          <p:nvPr/>
        </p:nvSpPr>
        <p:spPr>
          <a:xfrm>
            <a:off x="5120640" y="8741664"/>
            <a:ext cx="5669280" cy="411480"/>
          </a:xfrm>
          <a:prstGeom prst="rect">
            <a:avLst/>
          </a:prstGeom>
          <a:noFill/>
          <a:ln/>
        </p:spPr>
        <p:txBody>
          <a:bodyPr wrap="square" lIns="0" tIns="0" rIns="0" bIns="0" rtlCol="0" anchor="ctr"/>
          <a:lstStyle/>
          <a:p>
            <a:pPr indent="0" marL="0">
              <a:buNone/>
            </a:pPr>
            <a:r>
              <a:rPr lang="en-US" sz="1500" dirty="0">
                <a:solidFill>
                  <a:srgbClr val="6E7788"/>
                </a:solidFill>
                <a:latin typeface="Calibri" pitchFamily="34" charset="0"/>
                <a:ea typeface="Calibri" pitchFamily="34" charset="-122"/>
                <a:cs typeface="Calibri" pitchFamily="34" charset="-120"/>
              </a:rPr>
              <a:t>Techs rotate through Salina's lines</a:t>
            </a:r>
            <a:endParaRPr lang="en-US" sz="1500" dirty="0"/>
          </a:p>
        </p:txBody>
      </p:sp>
      <p:sp>
        <p:nvSpPr>
          <p:cNvPr id="26" name="Text 24"/>
          <p:cNvSpPr txBox="1"/>
          <p:nvPr/>
        </p:nvSpPr>
        <p:spPr>
          <a:xfrm>
            <a:off x="11978640" y="3017520"/>
            <a:ext cx="4937760" cy="365760"/>
          </a:xfrm>
          <a:prstGeom prst="rect">
            <a:avLst/>
          </a:prstGeom>
          <a:noFill/>
          <a:ln/>
        </p:spPr>
        <p:txBody>
          <a:bodyPr wrap="square" lIns="0" tIns="0" rIns="0" bIns="0" rtlCol="0" anchor="ctr"/>
          <a:lstStyle/>
          <a:p>
            <a:pPr indent="0" marL="0">
              <a:buNone/>
            </a:pPr>
            <a:r>
              <a:rPr lang="en-US" sz="1300" b="1" spc="300" kern="0" dirty="0">
                <a:solidFill>
                  <a:srgbClr val="6E7788"/>
                </a:solidFill>
                <a:latin typeface="Calibri" pitchFamily="34" charset="0"/>
                <a:ea typeface="Calibri" pitchFamily="34" charset="-122"/>
                <a:cs typeface="Calibri" pitchFamily="34" charset="-120"/>
              </a:rPr>
              <a:t>SEEN FROM THE OTHER SIDE</a:t>
            </a:r>
            <a:endParaRPr lang="en-US" sz="1300" dirty="0"/>
          </a:p>
        </p:txBody>
      </p:sp>
      <p:sp>
        <p:nvSpPr>
          <p:cNvPr id="27" name="Text 25"/>
          <p:cNvSpPr txBox="1"/>
          <p:nvPr/>
        </p:nvSpPr>
        <p:spPr>
          <a:xfrm>
            <a:off x="11978640" y="3520440"/>
            <a:ext cx="4937760" cy="777240"/>
          </a:xfrm>
          <a:prstGeom prst="rect">
            <a:avLst/>
          </a:prstGeom>
          <a:noFill/>
          <a:ln/>
        </p:spPr>
        <p:txBody>
          <a:bodyPr wrap="square" lIns="0" tIns="0" rIns="0" bIns="0" rtlCol="0" anchor="ctr"/>
          <a:lstStyle/>
          <a:p>
            <a:pPr indent="0" marL="0">
              <a:buNone/>
            </a:pPr>
            <a:r>
              <a:rPr lang="en-US" sz="4000" dirty="0">
                <a:solidFill>
                  <a:srgbClr val="232E54"/>
                </a:solidFill>
                <a:latin typeface="Bahnschrift SemiBold" pitchFamily="34" charset="0"/>
                <a:ea typeface="Bahnschrift SemiBold" pitchFamily="34" charset="-122"/>
                <a:cs typeface="Bahnschrift SemiBold" pitchFamily="34" charset="-120"/>
              </a:rPr>
              <a:t>Sam K.</a:t>
            </a:r>
            <a:endParaRPr lang="en-US" sz="4000" dirty="0"/>
          </a:p>
        </p:txBody>
      </p:sp>
      <p:sp>
        <p:nvSpPr>
          <p:cNvPr id="28" name="Text 26"/>
          <p:cNvSpPr txBox="1"/>
          <p:nvPr/>
        </p:nvSpPr>
        <p:spPr>
          <a:xfrm>
            <a:off x="11978640" y="4389120"/>
            <a:ext cx="4846320" cy="457200"/>
          </a:xfrm>
          <a:prstGeom prst="rect">
            <a:avLst/>
          </a:prstGeom>
          <a:noFill/>
          <a:ln/>
        </p:spPr>
        <p:txBody>
          <a:bodyPr wrap="square" lIns="0" tIns="0" rIns="0" bIns="0" rtlCol="0" anchor="ctr"/>
          <a:lstStyle/>
          <a:p>
            <a:pPr indent="0" marL="0">
              <a:buNone/>
            </a:pPr>
            <a:r>
              <a:rPr lang="en-US" sz="1600" dirty="0">
                <a:solidFill>
                  <a:srgbClr val="6E7788"/>
                </a:solidFill>
                <a:latin typeface="Calibri" pitchFamily="34" charset="0"/>
                <a:ea typeface="Calibri" pitchFamily="34" charset="-122"/>
                <a:cs typeface="Calibri" pitchFamily="34" charset="-120"/>
              </a:rPr>
              <a:t>Refrigeration technician, Marshall. Fourteen years.</a:t>
            </a:r>
            <a:endParaRPr lang="en-US" sz="1600" dirty="0"/>
          </a:p>
        </p:txBody>
      </p:sp>
      <p:sp>
        <p:nvSpPr>
          <p:cNvPr id="29" name="Shape 27"/>
          <p:cNvSpPr/>
          <p:nvPr/>
        </p:nvSpPr>
        <p:spPr>
          <a:xfrm>
            <a:off x="11978640" y="5029200"/>
            <a:ext cx="4846320" cy="0"/>
          </a:xfrm>
          <a:prstGeom prst="line">
            <a:avLst/>
          </a:prstGeom>
          <a:noFill/>
          <a:ln w="12700">
            <a:solidFill>
              <a:srgbClr val="D9D9D9"/>
            </a:solidFill>
            <a:prstDash val="solid"/>
          </a:ln>
        </p:spPr>
      </p:sp>
      <p:sp>
        <p:nvSpPr>
          <p:cNvPr id="30" name="Text 28"/>
          <p:cNvSpPr txBox="1"/>
          <p:nvPr/>
        </p:nvSpPr>
        <p:spPr>
          <a:xfrm>
            <a:off x="11978640" y="5257800"/>
            <a:ext cx="4846320" cy="2011680"/>
          </a:xfrm>
          <a:prstGeom prst="rect">
            <a:avLst/>
          </a:prstGeom>
          <a:noFill/>
          <a:ln/>
        </p:spPr>
        <p:txBody>
          <a:bodyPr wrap="square" lIns="0" tIns="0" rIns="0" bIns="0" rtlCol="0" anchor="ctr"/>
          <a:lstStyle/>
          <a:p>
            <a:pPr indent="0" marL="0">
              <a:lnSpc>
                <a:spcPct val="135000"/>
              </a:lnSpc>
              <a:buNone/>
            </a:pPr>
            <a:r>
              <a:rPr lang="en-US" sz="1800" dirty="0">
                <a:solidFill>
                  <a:srgbClr val="18212F"/>
                </a:solidFill>
                <a:latin typeface="Calibri" pitchFamily="34" charset="0"/>
                <a:ea typeface="Calibri" pitchFamily="34" charset="-122"/>
                <a:cs typeface="Calibri" pitchFamily="34" charset="-120"/>
              </a:rPr>
              <a:t>One of two people who hold the ammonia certification, so his step is to pass it on. He ticks the same box his manager sees.</a:t>
            </a:r>
            <a:endParaRPr lang="en-US" sz="1800" dirty="0"/>
          </a:p>
        </p:txBody>
      </p:sp>
      <p:sp>
        <p:nvSpPr>
          <p:cNvPr id="31" name="Text 29"/>
          <p:cNvSpPr txBox="1"/>
          <p:nvPr/>
        </p:nvSpPr>
        <p:spPr>
          <a:xfrm>
            <a:off x="11978640" y="7406640"/>
            <a:ext cx="4846320" cy="1371600"/>
          </a:xfrm>
          <a:prstGeom prst="rect">
            <a:avLst/>
          </a:prstGeom>
          <a:noFill/>
          <a:ln/>
        </p:spPr>
        <p:txBody>
          <a:bodyPr wrap="square" lIns="0" tIns="0" rIns="0" bIns="0" rtlCol="0" anchor="ctr"/>
          <a:lstStyle/>
          <a:p>
            <a:pPr indent="0" marL="0">
              <a:lnSpc>
                <a:spcPct val="130000"/>
              </a:lnSpc>
              <a:buNone/>
            </a:pPr>
            <a:r>
              <a:rPr lang="en-US" sz="1600" i="1" dirty="0">
                <a:solidFill>
                  <a:srgbClr val="6E7788"/>
                </a:solidFill>
                <a:latin typeface="Calibri" pitchFamily="34" charset="0"/>
                <a:ea typeface="Calibri" pitchFamily="34" charset="-122"/>
                <a:cs typeface="Calibri" pitchFamily="34" charset="-120"/>
              </a:rPr>
              <a:t>The prompt says employees close gaps. So one screen speaks to the employee, not only about them.</a:t>
            </a:r>
            <a:endParaRPr lang="en-US" sz="1600" dirty="0"/>
          </a:p>
        </p:txBody>
      </p:sp>
      <p:sp>
        <p:nvSpPr>
          <p:cNvPr id="32" name="Shape 30"/>
          <p:cNvSpPr/>
          <p:nvPr/>
        </p:nvSpPr>
        <p:spPr>
          <a:xfrm>
            <a:off x="1280160" y="9189720"/>
            <a:ext cx="15727680" cy="0"/>
          </a:xfrm>
          <a:prstGeom prst="line">
            <a:avLst/>
          </a:prstGeom>
          <a:noFill/>
          <a:ln w="12700">
            <a:solidFill>
              <a:srgbClr val="D9D9D9"/>
            </a:solidFill>
            <a:prstDash val="solid"/>
          </a:ln>
        </p:spPr>
      </p:sp>
      <p:sp>
        <p:nvSpPr>
          <p:cNvPr id="33" name="Text 31"/>
          <p:cNvSpPr txBox="1"/>
          <p:nvPr/>
        </p:nvSpPr>
        <p:spPr>
          <a:xfrm>
            <a:off x="1280160" y="9372600"/>
            <a:ext cx="813816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IN THE APP   </a:t>
            </a:r>
            <a:pPr indent="0" marL="0">
              <a:buNone/>
            </a:pPr>
            <a:r>
              <a:rPr lang="en-US" sz="1400" dirty="0">
                <a:solidFill>
                  <a:srgbClr val="18212F"/>
                </a:solidFill>
                <a:latin typeface="Calibri" pitchFamily="34" charset="0"/>
                <a:ea typeface="Calibri" pitchFamily="34" charset="-122"/>
                <a:cs typeface="Calibri" pitchFamily="34" charset="-120"/>
              </a:rPr>
              <a:t>Every skill page, plus the Employee view tab</a:t>
            </a:r>
            <a:endParaRPr lang="en-US" sz="1400" dirty="0"/>
          </a:p>
        </p:txBody>
      </p:sp>
      <p:sp>
        <p:nvSpPr>
          <p:cNvPr id="34" name="Text 32"/>
          <p:cNvSpPr txBox="1"/>
          <p:nvPr/>
        </p:nvSpPr>
        <p:spPr>
          <a:xfrm>
            <a:off x="9418320" y="9372600"/>
            <a:ext cx="758952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NUMBERS FROM   </a:t>
            </a:r>
            <a:pPr indent="0" marL="0">
              <a:buNone/>
            </a:pPr>
            <a:r>
              <a:rPr lang="en-US" sz="1400" dirty="0">
                <a:solidFill>
                  <a:srgbClr val="18212F"/>
                </a:solidFill>
                <a:latin typeface="Calibri" pitchFamily="34" charset="0"/>
                <a:ea typeface="Calibri" pitchFamily="34" charset="-122"/>
                <a:cs typeface="Calibri" pitchFamily="34" charset="-120"/>
              </a:rPr>
              <a:t>Demo plans. Methods are the five the prompt names.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280160" y="914400"/>
            <a:ext cx="5486400" cy="365760"/>
          </a:xfrm>
          <a:prstGeom prst="rect">
            <a:avLst/>
          </a:prstGeom>
          <a:noFill/>
          <a:ln/>
        </p:spPr>
        <p:txBody>
          <a:bodyPr wrap="square" lIns="0" tIns="0" rIns="0" bIns="0" rtlCol="0" anchor="ctr"/>
          <a:lstStyle/>
          <a:p>
            <a:pPr indent="0" marL="0">
              <a:buNone/>
            </a:pPr>
            <a:r>
              <a:rPr lang="en-US" sz="1300" b="1" spc="300" kern="0" dirty="0">
                <a:solidFill>
                  <a:srgbClr val="6E7788"/>
                </a:solidFill>
                <a:latin typeface="Calibri" pitchFamily="34" charset="0"/>
                <a:ea typeface="Calibri" pitchFamily="34" charset="-122"/>
                <a:cs typeface="Calibri" pitchFamily="34" charset="-120"/>
              </a:rPr>
              <a:t>BEYOND THE FIVE</a:t>
            </a:r>
            <a:endParaRPr lang="en-US" sz="1300" dirty="0"/>
          </a:p>
        </p:txBody>
      </p:sp>
      <p:sp>
        <p:nvSpPr>
          <p:cNvPr id="3" name="Text 1"/>
          <p:cNvSpPr txBox="1"/>
          <p:nvPr/>
        </p:nvSpPr>
        <p:spPr>
          <a:xfrm>
            <a:off x="1280160" y="1417320"/>
            <a:ext cx="11887200" cy="1828800"/>
          </a:xfrm>
          <a:prstGeom prst="rect">
            <a:avLst/>
          </a:prstGeom>
          <a:noFill/>
          <a:ln/>
        </p:spPr>
        <p:txBody>
          <a:bodyPr wrap="square" lIns="0" tIns="0" rIns="0" bIns="0" rtlCol="0" anchor="ctr"/>
          <a:lstStyle/>
          <a:p>
            <a:pPr indent="0" marL="0">
              <a:lnSpc>
                <a:spcPct val="108000"/>
              </a:lnSpc>
              <a:buNone/>
            </a:pPr>
            <a:r>
              <a:rPr lang="en-US" sz="4200" dirty="0">
                <a:solidFill>
                  <a:srgbClr val="232E54"/>
                </a:solidFill>
                <a:latin typeface="Bahnschrift SemiBold" pitchFamily="34" charset="0"/>
                <a:ea typeface="Bahnschrift SemiBold" pitchFamily="34" charset="-122"/>
                <a:cs typeface="Bahnschrift SemiBold" pitchFamily="34" charset="-120"/>
              </a:rPr>
              <a:t>Two questions the prompt implies</a:t>
            </a:r>
            <a:endParaRPr lang="en-US" sz="4200" dirty="0"/>
          </a:p>
          <a:p>
            <a:pPr indent="0" marL="0">
              <a:lnSpc>
                <a:spcPct val="108000"/>
              </a:lnSpc>
              <a:buNone/>
            </a:pPr>
            <a:r>
              <a:rPr lang="en-US" sz="4200" dirty="0">
                <a:solidFill>
                  <a:srgbClr val="232E54"/>
                </a:solidFill>
                <a:latin typeface="Bahnschrift SemiBold" pitchFamily="34" charset="0"/>
                <a:ea typeface="Bahnschrift SemiBold" pitchFamily="34" charset="-122"/>
                <a:cs typeface="Bahnschrift SemiBold" pitchFamily="34" charset="-120"/>
              </a:rPr>
              <a:t>but does not ask.</a:t>
            </a:r>
            <a:endParaRPr lang="en-US" sz="4200" dirty="0"/>
          </a:p>
        </p:txBody>
      </p:sp>
      <p:sp>
        <p:nvSpPr>
          <p:cNvPr id="4" name="Text 2"/>
          <p:cNvSpPr txBox="1"/>
          <p:nvPr/>
        </p:nvSpPr>
        <p:spPr>
          <a:xfrm>
            <a:off x="1280160" y="3840480"/>
            <a:ext cx="6675120" cy="1280160"/>
          </a:xfrm>
          <a:prstGeom prst="rect">
            <a:avLst/>
          </a:prstGeom>
          <a:noFill/>
          <a:ln/>
        </p:spPr>
        <p:txBody>
          <a:bodyPr wrap="square" lIns="0" tIns="0" rIns="0" bIns="0" rtlCol="0" anchor="ctr"/>
          <a:lstStyle/>
          <a:p>
            <a:pPr indent="0" marL="0">
              <a:lnSpc>
                <a:spcPct val="110000"/>
              </a:lnSpc>
              <a:buNone/>
            </a:pPr>
            <a:r>
              <a:rPr lang="en-US" sz="2700" dirty="0">
                <a:solidFill>
                  <a:srgbClr val="232E54"/>
                </a:solidFill>
                <a:latin typeface="Bahnschrift SemiBold" pitchFamily="34" charset="0"/>
                <a:ea typeface="Bahnschrift SemiBold" pitchFamily="34" charset="-122"/>
                <a:cs typeface="Bahnschrift SemiBold" pitchFamily="34" charset="-120"/>
              </a:rPr>
              <a:t>Where would this data</a:t>
            </a:r>
            <a:endParaRPr lang="en-US" sz="2700" dirty="0"/>
          </a:p>
          <a:p>
            <a:pPr indent="0" marL="0">
              <a:lnSpc>
                <a:spcPct val="110000"/>
              </a:lnSpc>
              <a:buNone/>
            </a:pPr>
            <a:r>
              <a:rPr lang="en-US" sz="2700" dirty="0">
                <a:solidFill>
                  <a:srgbClr val="232E54"/>
                </a:solidFill>
                <a:latin typeface="Bahnschrift SemiBold" pitchFamily="34" charset="0"/>
                <a:ea typeface="Bahnschrift SemiBold" pitchFamily="34" charset="-122"/>
                <a:cs typeface="Bahnschrift SemiBold" pitchFamily="34" charset="-120"/>
              </a:rPr>
              <a:t>actually come from?</a:t>
            </a:r>
            <a:endParaRPr lang="en-US" sz="2700" dirty="0"/>
          </a:p>
        </p:txBody>
      </p:sp>
      <p:sp>
        <p:nvSpPr>
          <p:cNvPr id="5" name="Text 3"/>
          <p:cNvSpPr txBox="1"/>
          <p:nvPr/>
        </p:nvSpPr>
        <p:spPr>
          <a:xfrm>
            <a:off x="1280160" y="5303520"/>
            <a:ext cx="6675120" cy="2194560"/>
          </a:xfrm>
          <a:prstGeom prst="rect">
            <a:avLst/>
          </a:prstGeom>
          <a:noFill/>
          <a:ln/>
        </p:spPr>
        <p:txBody>
          <a:bodyPr wrap="square" lIns="0" tIns="0" rIns="0" bIns="0" rtlCol="0" anchor="ctr"/>
          <a:lstStyle/>
          <a:p>
            <a:pPr indent="0" marL="0">
              <a:lnSpc>
                <a:spcPct val="135000"/>
              </a:lnSpc>
              <a:buNone/>
            </a:pPr>
            <a:r>
              <a:rPr lang="en-US" sz="1700" dirty="0">
                <a:solidFill>
                  <a:srgbClr val="18212F"/>
                </a:solidFill>
                <a:latin typeface="Calibri" pitchFamily="34" charset="0"/>
                <a:ea typeface="Calibri" pitchFamily="34" charset="-122"/>
                <a:cs typeface="Calibri" pitchFamily="34" charset="-120"/>
              </a:rPr>
              <a:t>Every skill page names the systems a real deployment would read. Ammonia systems over 10,000 pounds are an OSHA covered process, so the trained-operator roster and its three year refresher dates are kept by law. A food safety plan must be overseen by a preventive controls qualified individual.</a:t>
            </a:r>
            <a:endParaRPr lang="en-US" sz="1700" dirty="0"/>
          </a:p>
        </p:txBody>
      </p:sp>
      <p:sp>
        <p:nvSpPr>
          <p:cNvPr id="6" name="Text 4"/>
          <p:cNvSpPr txBox="1"/>
          <p:nvPr/>
        </p:nvSpPr>
        <p:spPr>
          <a:xfrm>
            <a:off x="1280160" y="7635240"/>
            <a:ext cx="6675120" cy="1188720"/>
          </a:xfrm>
          <a:prstGeom prst="rect">
            <a:avLst/>
          </a:prstGeom>
          <a:noFill/>
          <a:ln/>
        </p:spPr>
        <p:txBody>
          <a:bodyPr wrap="square" lIns="0" tIns="0" rIns="0" bIns="0" rtlCol="0" anchor="ctr"/>
          <a:lstStyle/>
          <a:p>
            <a:pPr indent="0" marL="0">
              <a:lnSpc>
                <a:spcPct val="130000"/>
              </a:lnSpc>
              <a:buNone/>
            </a:pPr>
            <a:r>
              <a:rPr lang="en-US" sz="1700" i="1" dirty="0">
                <a:solidFill>
                  <a:srgbClr val="6E7788"/>
                </a:solidFill>
                <a:latin typeface="Calibri" pitchFamily="34" charset="0"/>
                <a:ea typeface="Calibri" pitchFamily="34" charset="-122"/>
                <a:cs typeface="Calibri" pitchFamily="34" charset="-120"/>
              </a:rPr>
              <a:t>One skill says plainly that it has no system of record anywhere. That is the finding, not a gap in the tool.</a:t>
            </a:r>
            <a:endParaRPr lang="en-US" sz="1700" dirty="0"/>
          </a:p>
        </p:txBody>
      </p:sp>
      <p:sp>
        <p:nvSpPr>
          <p:cNvPr id="7" name="Shape 5"/>
          <p:cNvSpPr/>
          <p:nvPr/>
        </p:nvSpPr>
        <p:spPr>
          <a:xfrm>
            <a:off x="8458200" y="3840480"/>
            <a:ext cx="0" cy="4480560"/>
          </a:xfrm>
          <a:prstGeom prst="line">
            <a:avLst/>
          </a:prstGeom>
          <a:noFill/>
          <a:ln w="12700">
            <a:solidFill>
              <a:srgbClr val="D9D9D9"/>
            </a:solidFill>
            <a:prstDash val="solid"/>
          </a:ln>
        </p:spPr>
      </p:sp>
      <p:sp>
        <p:nvSpPr>
          <p:cNvPr id="8" name="Text 6"/>
          <p:cNvSpPr txBox="1"/>
          <p:nvPr/>
        </p:nvSpPr>
        <p:spPr>
          <a:xfrm>
            <a:off x="9235440" y="3840480"/>
            <a:ext cx="6675120" cy="1280160"/>
          </a:xfrm>
          <a:prstGeom prst="rect">
            <a:avLst/>
          </a:prstGeom>
          <a:noFill/>
          <a:ln/>
        </p:spPr>
        <p:txBody>
          <a:bodyPr wrap="square" lIns="0" tIns="0" rIns="0" bIns="0" rtlCol="0" anchor="ctr"/>
          <a:lstStyle/>
          <a:p>
            <a:pPr indent="0" marL="0">
              <a:lnSpc>
                <a:spcPct val="110000"/>
              </a:lnSpc>
              <a:buNone/>
            </a:pPr>
            <a:r>
              <a:rPr lang="en-US" sz="2700" dirty="0">
                <a:solidFill>
                  <a:srgbClr val="232E54"/>
                </a:solidFill>
                <a:latin typeface="Bahnschrift SemiBold" pitchFamily="34" charset="0"/>
                <a:ea typeface="Bahnschrift SemiBold" pitchFamily="34" charset="-122"/>
                <a:cs typeface="Bahnschrift SemiBold" pitchFamily="34" charset="-120"/>
              </a:rPr>
              <a:t>How much of this</a:t>
            </a:r>
            <a:endParaRPr lang="en-US" sz="2700" dirty="0"/>
          </a:p>
          <a:p>
            <a:pPr indent="0" marL="0">
              <a:lnSpc>
                <a:spcPct val="110000"/>
              </a:lnSpc>
              <a:buNone/>
            </a:pPr>
            <a:r>
              <a:rPr lang="en-US" sz="2700" dirty="0">
                <a:solidFill>
                  <a:srgbClr val="232E54"/>
                </a:solidFill>
                <a:latin typeface="Bahnschrift SemiBold" pitchFamily="34" charset="0"/>
                <a:ea typeface="Bahnschrift SemiBold" pitchFamily="34" charset="-122"/>
                <a:cs typeface="Bahnschrift SemiBold" pitchFamily="34" charset="-120"/>
              </a:rPr>
              <a:t>is made up?</a:t>
            </a:r>
            <a:endParaRPr lang="en-US" sz="2700" dirty="0"/>
          </a:p>
        </p:txBody>
      </p:sp>
      <p:sp>
        <p:nvSpPr>
          <p:cNvPr id="9" name="Text 7"/>
          <p:cNvSpPr txBox="1"/>
          <p:nvPr/>
        </p:nvSpPr>
        <p:spPr>
          <a:xfrm>
            <a:off x="9235440" y="5303520"/>
            <a:ext cx="6675120" cy="2194560"/>
          </a:xfrm>
          <a:prstGeom prst="rect">
            <a:avLst/>
          </a:prstGeom>
          <a:noFill/>
          <a:ln/>
        </p:spPr>
        <p:txBody>
          <a:bodyPr wrap="square" lIns="0" tIns="0" rIns="0" bIns="0" rtlCol="0" anchor="ctr"/>
          <a:lstStyle/>
          <a:p>
            <a:pPr indent="0" marL="0">
              <a:lnSpc>
                <a:spcPct val="135000"/>
              </a:lnSpc>
              <a:buNone/>
            </a:pPr>
            <a:r>
              <a:rPr lang="en-US" sz="1700" dirty="0">
                <a:solidFill>
                  <a:srgbClr val="18212F"/>
                </a:solidFill>
                <a:latin typeface="Calibri" pitchFamily="34" charset="0"/>
                <a:ea typeface="Calibri" pitchFamily="34" charset="-122"/>
                <a:cs typeface="Calibri" pitchFamily="34" charset="-120"/>
              </a:rPr>
              <a:t>Coverage percentages, per-site headcounts and employee records are invented, and the app says so on its own front page. The job groups, locations, business drivers and regulations are sourced. Ten sources in all.</a:t>
            </a:r>
            <a:endParaRPr lang="en-US" sz="1700" dirty="0"/>
          </a:p>
        </p:txBody>
      </p:sp>
      <p:sp>
        <p:nvSpPr>
          <p:cNvPr id="10" name="Text 8"/>
          <p:cNvSpPr txBox="1"/>
          <p:nvPr/>
        </p:nvSpPr>
        <p:spPr>
          <a:xfrm>
            <a:off x="9235440" y="7635240"/>
            <a:ext cx="6675120" cy="1188720"/>
          </a:xfrm>
          <a:prstGeom prst="rect">
            <a:avLst/>
          </a:prstGeom>
          <a:noFill/>
          <a:ln/>
        </p:spPr>
        <p:txBody>
          <a:bodyPr wrap="square" lIns="0" tIns="0" rIns="0" bIns="0" rtlCol="0" anchor="ctr"/>
          <a:lstStyle/>
          <a:p>
            <a:pPr indent="0" marL="0">
              <a:lnSpc>
                <a:spcPct val="130000"/>
              </a:lnSpc>
              <a:buNone/>
            </a:pPr>
            <a:r>
              <a:rPr lang="en-US" sz="1700" i="1" dirty="0">
                <a:solidFill>
                  <a:srgbClr val="6E7788"/>
                </a:solidFill>
                <a:latin typeface="Calibri" pitchFamily="34" charset="0"/>
                <a:ea typeface="Calibri" pitchFamily="34" charset="-122"/>
                <a:cs typeface="Calibri" pitchFamily="34" charset="-120"/>
              </a:rPr>
              <a:t>Three claims were cut during the fact check because they only traced back to blogs. FACTS.md lists every one.</a:t>
            </a:r>
            <a:endParaRPr lang="en-US" sz="1700" dirty="0"/>
          </a:p>
        </p:txBody>
      </p:sp>
      <p:sp>
        <p:nvSpPr>
          <p:cNvPr id="11" name="Shape 9"/>
          <p:cNvSpPr/>
          <p:nvPr/>
        </p:nvSpPr>
        <p:spPr>
          <a:xfrm>
            <a:off x="1280160" y="9189720"/>
            <a:ext cx="15727680" cy="0"/>
          </a:xfrm>
          <a:prstGeom prst="line">
            <a:avLst/>
          </a:prstGeom>
          <a:noFill/>
          <a:ln w="12700">
            <a:solidFill>
              <a:srgbClr val="D9D9D9"/>
            </a:solidFill>
            <a:prstDash val="solid"/>
          </a:ln>
        </p:spPr>
      </p:sp>
      <p:sp>
        <p:nvSpPr>
          <p:cNvPr id="12" name="Text 10"/>
          <p:cNvSpPr txBox="1"/>
          <p:nvPr/>
        </p:nvSpPr>
        <p:spPr>
          <a:xfrm>
            <a:off x="1280160" y="9372600"/>
            <a:ext cx="813816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IN THE APP   </a:t>
            </a:r>
            <a:pPr indent="0" marL="0">
              <a:buNone/>
            </a:pPr>
            <a:r>
              <a:rPr lang="en-US" sz="1400" dirty="0">
                <a:solidFill>
                  <a:srgbClr val="18212F"/>
                </a:solidFill>
                <a:latin typeface="Calibri" pitchFamily="34" charset="0"/>
                <a:ea typeface="Calibri" pitchFamily="34" charset="-122"/>
                <a:cs typeface="Calibri" pitchFamily="34" charset="-120"/>
              </a:rPr>
              <a:t>Read more on the Overview, and every skill page</a:t>
            </a:r>
            <a:endParaRPr lang="en-US" sz="1400" dirty="0"/>
          </a:p>
        </p:txBody>
      </p:sp>
      <p:sp>
        <p:nvSpPr>
          <p:cNvPr id="13" name="Text 11"/>
          <p:cNvSpPr txBox="1"/>
          <p:nvPr/>
        </p:nvSpPr>
        <p:spPr>
          <a:xfrm>
            <a:off x="9418320" y="9372600"/>
            <a:ext cx="7589520" cy="411480"/>
          </a:xfrm>
          <a:prstGeom prst="rect">
            <a:avLst/>
          </a:prstGeom>
          <a:noFill/>
          <a:ln/>
        </p:spPr>
        <p:txBody>
          <a:bodyPr wrap="square" lIns="0" tIns="0" rIns="0" bIns="0" rtlCol="0" anchor="ctr"/>
          <a:lstStyle/>
          <a:p>
            <a:pPr indent="0" marL="0">
              <a:buNone/>
            </a:pPr>
            <a:r>
              <a:rPr lang="en-US" sz="1400" b="1" spc="200" kern="0" dirty="0">
                <a:solidFill>
                  <a:srgbClr val="6E7788"/>
                </a:solidFill>
                <a:latin typeface="Calibri" pitchFamily="34" charset="0"/>
                <a:ea typeface="Calibri" pitchFamily="34" charset="-122"/>
                <a:cs typeface="Calibri" pitchFamily="34" charset="-120"/>
              </a:rPr>
              <a:t>NUMBERS FROM   </a:t>
            </a:r>
            <a:pPr indent="0" marL="0">
              <a:buNone/>
            </a:pPr>
            <a:r>
              <a:rPr lang="en-US" sz="1400" dirty="0">
                <a:solidFill>
                  <a:srgbClr val="18212F"/>
                </a:solidFill>
                <a:latin typeface="Calibri" pitchFamily="34" charset="0"/>
                <a:ea typeface="Calibri" pitchFamily="34" charset="-122"/>
                <a:cs typeface="Calibri" pitchFamily="34" charset="-120"/>
              </a:rPr>
              <a:t>FACTS.md: every claim, its source, and what was cut.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2E54"/>
          </a:solidFill>
          <a:ln w="12700">
            <a:solidFill>
              <a:srgbClr val="232E54"/>
            </a:solidFill>
            <a:prstDash val="solid"/>
          </a:ln>
        </p:spPr>
      </p:sp>
      <p:sp>
        <p:nvSpPr>
          <p:cNvPr id="3" name="Shape 1"/>
          <p:cNvSpPr/>
          <p:nvPr/>
        </p:nvSpPr>
        <p:spPr>
          <a:xfrm>
            <a:off x="9966960" y="-365760"/>
            <a:ext cx="9144000" cy="10972800"/>
          </a:xfrm>
          <a:prstGeom prst="rect">
            <a:avLst/>
          </a:prstGeom>
          <a:solidFill>
            <a:srgbClr val="324070"/>
          </a:solidFill>
          <a:ln w="12700">
            <a:solidFill>
              <a:srgbClr val="324070"/>
            </a:solidFill>
            <a:prstDash val="solid"/>
          </a:ln>
        </p:spPr>
      </p:sp>
      <p:sp>
        <p:nvSpPr>
          <p:cNvPr id="4" name="Text 2"/>
          <p:cNvSpPr txBox="1"/>
          <p:nvPr/>
        </p:nvSpPr>
        <p:spPr>
          <a:xfrm>
            <a:off x="1280160" y="2834640"/>
            <a:ext cx="8046720" cy="3108960"/>
          </a:xfrm>
          <a:prstGeom prst="rect">
            <a:avLst/>
          </a:prstGeom>
          <a:noFill/>
          <a:ln/>
        </p:spPr>
        <p:txBody>
          <a:bodyPr wrap="square" lIns="0" tIns="0" rIns="0" bIns="0" rtlCol="0" anchor="ctr"/>
          <a:lstStyle/>
          <a:p>
            <a:pPr indent="0" marL="0">
              <a:lnSpc>
                <a:spcPct val="110000"/>
              </a:lnSpc>
              <a:buNone/>
            </a:pPr>
            <a:r>
              <a:rPr lang="en-US" sz="5600" dirty="0">
                <a:solidFill>
                  <a:srgbClr val="FFFFFF"/>
                </a:solidFill>
                <a:latin typeface="Bahnschrift SemiBold" pitchFamily="34" charset="0"/>
                <a:ea typeface="Bahnschrift SemiBold" pitchFamily="34" charset="-122"/>
                <a:cs typeface="Bahnschrift SemiBold" pitchFamily="34" charset="-120"/>
              </a:rPr>
              <a:t>Five questions.</a:t>
            </a:r>
            <a:endParaRPr lang="en-US" sz="5600" dirty="0"/>
          </a:p>
          <a:p>
            <a:pPr indent="0" marL="0">
              <a:lnSpc>
                <a:spcPct val="110000"/>
              </a:lnSpc>
              <a:buNone/>
            </a:pPr>
            <a:r>
              <a:rPr lang="en-US" sz="5600" dirty="0">
                <a:solidFill>
                  <a:srgbClr val="FFFFFF"/>
                </a:solidFill>
                <a:latin typeface="Bahnschrift SemiBold" pitchFamily="34" charset="0"/>
                <a:ea typeface="Bahnschrift SemiBold" pitchFamily="34" charset="-122"/>
                <a:cs typeface="Bahnschrift SemiBold" pitchFamily="34" charset="-120"/>
              </a:rPr>
              <a:t>Five tabs.</a:t>
            </a:r>
            <a:endParaRPr lang="en-US" sz="5600" dirty="0"/>
          </a:p>
          <a:p>
            <a:pPr indent="0" marL="0">
              <a:lnSpc>
                <a:spcPct val="110000"/>
              </a:lnSpc>
              <a:buNone/>
            </a:pPr>
            <a:r>
              <a:rPr lang="en-US" sz="5600" dirty="0">
                <a:solidFill>
                  <a:srgbClr val="FFFFFF"/>
                </a:solidFill>
                <a:latin typeface="Bahnschrift SemiBold" pitchFamily="34" charset="0"/>
                <a:ea typeface="Bahnschrift SemiBold" pitchFamily="34" charset="-122"/>
                <a:cs typeface="Bahnschrift SemiBold" pitchFamily="34" charset="-120"/>
              </a:rPr>
              <a:t>Same order.</a:t>
            </a:r>
            <a:endParaRPr lang="en-US" sz="5600" dirty="0"/>
          </a:p>
        </p:txBody>
      </p:sp>
      <p:sp>
        <p:nvSpPr>
          <p:cNvPr id="5" name="Shape 3"/>
          <p:cNvSpPr/>
          <p:nvPr/>
        </p:nvSpPr>
        <p:spPr>
          <a:xfrm>
            <a:off x="1280160" y="6446520"/>
            <a:ext cx="4754880" cy="0"/>
          </a:xfrm>
          <a:prstGeom prst="line">
            <a:avLst/>
          </a:prstGeom>
          <a:noFill/>
          <a:ln w="25400">
            <a:solidFill>
              <a:srgbClr val="44528A"/>
            </a:solidFill>
            <a:prstDash val="solid"/>
          </a:ln>
        </p:spPr>
      </p:sp>
      <p:sp>
        <p:nvSpPr>
          <p:cNvPr id="6" name="Text 4"/>
          <p:cNvSpPr txBox="1"/>
          <p:nvPr/>
        </p:nvSpPr>
        <p:spPr>
          <a:xfrm>
            <a:off x="1280160" y="6720840"/>
            <a:ext cx="8046720" cy="457200"/>
          </a:xfrm>
          <a:prstGeom prst="rect">
            <a:avLst/>
          </a:prstGeom>
          <a:noFill/>
          <a:ln/>
        </p:spPr>
        <p:txBody>
          <a:bodyPr wrap="square" lIns="0" tIns="0" rIns="0" bIns="0" rtlCol="0" anchor="ctr"/>
          <a:lstStyle/>
          <a:p>
            <a:pPr indent="0" marL="0">
              <a:buNone/>
            </a:pPr>
            <a:r>
              <a:rPr lang="en-US" sz="1900" dirty="0">
                <a:solidFill>
                  <a:srgbClr val="B9C2D4"/>
                </a:solidFill>
                <a:latin typeface="Calibri" pitchFamily="34" charset="0"/>
                <a:ea typeface="Calibri" pitchFamily="34" charset="-122"/>
                <a:cs typeface="Calibri" pitchFamily="34" charset="-120"/>
              </a:rPr>
              <a:t>github.com/Aj-Networks/schwan_s</a:t>
            </a:r>
            <a:endParaRPr lang="en-US" sz="1900" dirty="0"/>
          </a:p>
        </p:txBody>
      </p:sp>
      <p:sp>
        <p:nvSpPr>
          <p:cNvPr id="7" name="Text 5"/>
          <p:cNvSpPr txBox="1"/>
          <p:nvPr/>
        </p:nvSpPr>
        <p:spPr>
          <a:xfrm>
            <a:off x="10881360" y="2331720"/>
            <a:ext cx="1097280" cy="731520"/>
          </a:xfrm>
          <a:prstGeom prst="rect">
            <a:avLst/>
          </a:prstGeom>
          <a:noFill/>
          <a:ln/>
        </p:spPr>
        <p:txBody>
          <a:bodyPr wrap="square" lIns="0" tIns="0" rIns="0" bIns="0" rtlCol="0" anchor="ctr"/>
          <a:lstStyle/>
          <a:p>
            <a:pPr indent="0" marL="0">
              <a:buNone/>
            </a:pPr>
            <a:r>
              <a:rPr lang="en-US" sz="4000" dirty="0">
                <a:solidFill>
                  <a:srgbClr val="8E98AE"/>
                </a:solidFill>
                <a:latin typeface="Bahnschrift Light" pitchFamily="34" charset="0"/>
                <a:ea typeface="Bahnschrift Light" pitchFamily="34" charset="-122"/>
                <a:cs typeface="Bahnschrift Light" pitchFamily="34" charset="-120"/>
              </a:rPr>
              <a:t>01</a:t>
            </a:r>
            <a:endParaRPr lang="en-US" sz="4000" dirty="0"/>
          </a:p>
        </p:txBody>
      </p:sp>
      <p:sp>
        <p:nvSpPr>
          <p:cNvPr id="8" name="Text 6"/>
          <p:cNvSpPr txBox="1"/>
          <p:nvPr/>
        </p:nvSpPr>
        <p:spPr>
          <a:xfrm>
            <a:off x="11978640" y="2423160"/>
            <a:ext cx="2560320" cy="457200"/>
          </a:xfrm>
          <a:prstGeom prst="rect">
            <a:avLst/>
          </a:prstGeom>
          <a:noFill/>
          <a:ln/>
        </p:spPr>
        <p:txBody>
          <a:bodyPr wrap="square" lIns="0" tIns="0" rIns="0" bIns="0" rtlCol="0" anchor="ctr"/>
          <a:lstStyle/>
          <a:p>
            <a:pPr indent="0" marL="0">
              <a:buNone/>
            </a:pPr>
            <a:r>
              <a:rPr lang="en-US" sz="2200" dirty="0">
                <a:solidFill>
                  <a:srgbClr val="FFFFFF"/>
                </a:solidFill>
                <a:latin typeface="Bahnschrift SemiBold" pitchFamily="34" charset="0"/>
                <a:ea typeface="Bahnschrift SemiBold" pitchFamily="34" charset="-122"/>
                <a:cs typeface="Bahnschrift SemiBold" pitchFamily="34" charset="-120"/>
              </a:rPr>
              <a:t>Skills</a:t>
            </a:r>
            <a:endParaRPr lang="en-US" sz="2200" dirty="0"/>
          </a:p>
        </p:txBody>
      </p:sp>
      <p:sp>
        <p:nvSpPr>
          <p:cNvPr id="9" name="Text 7"/>
          <p:cNvSpPr txBox="1"/>
          <p:nvPr/>
        </p:nvSpPr>
        <p:spPr>
          <a:xfrm>
            <a:off x="14676120" y="2496312"/>
            <a:ext cx="2423160" cy="457200"/>
          </a:xfrm>
          <a:prstGeom prst="rect">
            <a:avLst/>
          </a:prstGeom>
          <a:noFill/>
          <a:ln/>
        </p:spPr>
        <p:txBody>
          <a:bodyPr wrap="square" lIns="0" tIns="0" rIns="0" bIns="0" rtlCol="0" anchor="ctr"/>
          <a:lstStyle/>
          <a:p>
            <a:pPr algn="r" indent="0" marL="0">
              <a:buNone/>
            </a:pPr>
            <a:r>
              <a:rPr lang="en-US" sz="1500" dirty="0">
                <a:solidFill>
                  <a:srgbClr val="B9C2D4"/>
                </a:solidFill>
                <a:latin typeface="Calibri" pitchFamily="34" charset="0"/>
                <a:ea typeface="Calibri" pitchFamily="34" charset="-122"/>
                <a:cs typeface="Calibri" pitchFamily="34" charset="-120"/>
              </a:rPr>
              <a:t>what exists today</a:t>
            </a:r>
            <a:endParaRPr lang="en-US" sz="1500" dirty="0"/>
          </a:p>
        </p:txBody>
      </p:sp>
      <p:sp>
        <p:nvSpPr>
          <p:cNvPr id="10" name="Shape 8"/>
          <p:cNvSpPr/>
          <p:nvPr/>
        </p:nvSpPr>
        <p:spPr>
          <a:xfrm>
            <a:off x="10881360" y="3319272"/>
            <a:ext cx="6217920" cy="0"/>
          </a:xfrm>
          <a:prstGeom prst="line">
            <a:avLst/>
          </a:prstGeom>
          <a:noFill/>
          <a:ln w="12700">
            <a:solidFill>
              <a:srgbClr val="44528A"/>
            </a:solidFill>
            <a:prstDash val="solid"/>
          </a:ln>
        </p:spPr>
      </p:sp>
      <p:sp>
        <p:nvSpPr>
          <p:cNvPr id="11" name="Text 9"/>
          <p:cNvSpPr txBox="1"/>
          <p:nvPr/>
        </p:nvSpPr>
        <p:spPr>
          <a:xfrm>
            <a:off x="10881360" y="3611880"/>
            <a:ext cx="1097280" cy="731520"/>
          </a:xfrm>
          <a:prstGeom prst="rect">
            <a:avLst/>
          </a:prstGeom>
          <a:noFill/>
          <a:ln/>
        </p:spPr>
        <p:txBody>
          <a:bodyPr wrap="square" lIns="0" tIns="0" rIns="0" bIns="0" rtlCol="0" anchor="ctr"/>
          <a:lstStyle/>
          <a:p>
            <a:pPr indent="0" marL="0">
              <a:buNone/>
            </a:pPr>
            <a:r>
              <a:rPr lang="en-US" sz="4000" dirty="0">
                <a:solidFill>
                  <a:srgbClr val="8E98AE"/>
                </a:solidFill>
                <a:latin typeface="Bahnschrift Light" pitchFamily="34" charset="0"/>
                <a:ea typeface="Bahnschrift Light" pitchFamily="34" charset="-122"/>
                <a:cs typeface="Bahnschrift Light" pitchFamily="34" charset="-120"/>
              </a:rPr>
              <a:t>02</a:t>
            </a:r>
            <a:endParaRPr lang="en-US" sz="4000" dirty="0"/>
          </a:p>
        </p:txBody>
      </p:sp>
      <p:sp>
        <p:nvSpPr>
          <p:cNvPr id="12" name="Text 10"/>
          <p:cNvSpPr txBox="1"/>
          <p:nvPr/>
        </p:nvSpPr>
        <p:spPr>
          <a:xfrm>
            <a:off x="11978640" y="3703320"/>
            <a:ext cx="2560320" cy="457200"/>
          </a:xfrm>
          <a:prstGeom prst="rect">
            <a:avLst/>
          </a:prstGeom>
          <a:noFill/>
          <a:ln/>
        </p:spPr>
        <p:txBody>
          <a:bodyPr wrap="square" lIns="0" tIns="0" rIns="0" bIns="0" rtlCol="0" anchor="ctr"/>
          <a:lstStyle/>
          <a:p>
            <a:pPr indent="0" marL="0">
              <a:buNone/>
            </a:pPr>
            <a:r>
              <a:rPr lang="en-US" sz="2200" dirty="0">
                <a:solidFill>
                  <a:srgbClr val="FFFFFF"/>
                </a:solidFill>
                <a:latin typeface="Bahnschrift SemiBold" pitchFamily="34" charset="0"/>
                <a:ea typeface="Bahnschrift SemiBold" pitchFamily="34" charset="-122"/>
                <a:cs typeface="Bahnschrift SemiBold" pitchFamily="34" charset="-120"/>
              </a:rPr>
              <a:t>Future skills</a:t>
            </a:r>
            <a:endParaRPr lang="en-US" sz="2200" dirty="0"/>
          </a:p>
        </p:txBody>
      </p:sp>
      <p:sp>
        <p:nvSpPr>
          <p:cNvPr id="13" name="Text 11"/>
          <p:cNvSpPr txBox="1"/>
          <p:nvPr/>
        </p:nvSpPr>
        <p:spPr>
          <a:xfrm>
            <a:off x="14676120" y="3776472"/>
            <a:ext cx="2423160" cy="457200"/>
          </a:xfrm>
          <a:prstGeom prst="rect">
            <a:avLst/>
          </a:prstGeom>
          <a:noFill/>
          <a:ln/>
        </p:spPr>
        <p:txBody>
          <a:bodyPr wrap="square" lIns="0" tIns="0" rIns="0" bIns="0" rtlCol="0" anchor="ctr"/>
          <a:lstStyle/>
          <a:p>
            <a:pPr algn="r" indent="0" marL="0">
              <a:buNone/>
            </a:pPr>
            <a:r>
              <a:rPr lang="en-US" sz="1500" dirty="0">
                <a:solidFill>
                  <a:srgbClr val="B9C2D4"/>
                </a:solidFill>
                <a:latin typeface="Calibri" pitchFamily="34" charset="0"/>
                <a:ea typeface="Calibri" pitchFamily="34" charset="-122"/>
                <a:cs typeface="Calibri" pitchFamily="34" charset="-120"/>
              </a:rPr>
              <a:t>what will be needed</a:t>
            </a:r>
            <a:endParaRPr lang="en-US" sz="1500" dirty="0"/>
          </a:p>
        </p:txBody>
      </p:sp>
      <p:sp>
        <p:nvSpPr>
          <p:cNvPr id="14" name="Shape 12"/>
          <p:cNvSpPr/>
          <p:nvPr/>
        </p:nvSpPr>
        <p:spPr>
          <a:xfrm>
            <a:off x="10881360" y="4599432"/>
            <a:ext cx="6217920" cy="0"/>
          </a:xfrm>
          <a:prstGeom prst="line">
            <a:avLst/>
          </a:prstGeom>
          <a:noFill/>
          <a:ln w="12700">
            <a:solidFill>
              <a:srgbClr val="44528A"/>
            </a:solidFill>
            <a:prstDash val="solid"/>
          </a:ln>
        </p:spPr>
      </p:sp>
      <p:sp>
        <p:nvSpPr>
          <p:cNvPr id="15" name="Text 13"/>
          <p:cNvSpPr txBox="1"/>
          <p:nvPr/>
        </p:nvSpPr>
        <p:spPr>
          <a:xfrm>
            <a:off x="10881360" y="4892040"/>
            <a:ext cx="1097280" cy="731520"/>
          </a:xfrm>
          <a:prstGeom prst="rect">
            <a:avLst/>
          </a:prstGeom>
          <a:noFill/>
          <a:ln/>
        </p:spPr>
        <p:txBody>
          <a:bodyPr wrap="square" lIns="0" tIns="0" rIns="0" bIns="0" rtlCol="0" anchor="ctr"/>
          <a:lstStyle/>
          <a:p>
            <a:pPr indent="0" marL="0">
              <a:buNone/>
            </a:pPr>
            <a:r>
              <a:rPr lang="en-US" sz="4000" dirty="0">
                <a:solidFill>
                  <a:srgbClr val="8E98AE"/>
                </a:solidFill>
                <a:latin typeface="Bahnschrift Light" pitchFamily="34" charset="0"/>
                <a:ea typeface="Bahnschrift Light" pitchFamily="34" charset="-122"/>
                <a:cs typeface="Bahnschrift Light" pitchFamily="34" charset="-120"/>
              </a:rPr>
              <a:t>03</a:t>
            </a:r>
            <a:endParaRPr lang="en-US" sz="4000" dirty="0"/>
          </a:p>
        </p:txBody>
      </p:sp>
      <p:sp>
        <p:nvSpPr>
          <p:cNvPr id="16" name="Text 14"/>
          <p:cNvSpPr txBox="1"/>
          <p:nvPr/>
        </p:nvSpPr>
        <p:spPr>
          <a:xfrm>
            <a:off x="11978640" y="4983480"/>
            <a:ext cx="2560320" cy="457200"/>
          </a:xfrm>
          <a:prstGeom prst="rect">
            <a:avLst/>
          </a:prstGeom>
          <a:noFill/>
          <a:ln/>
        </p:spPr>
        <p:txBody>
          <a:bodyPr wrap="square" lIns="0" tIns="0" rIns="0" bIns="0" rtlCol="0" anchor="ctr"/>
          <a:lstStyle/>
          <a:p>
            <a:pPr indent="0" marL="0">
              <a:buNone/>
            </a:pPr>
            <a:r>
              <a:rPr lang="en-US" sz="2200" dirty="0">
                <a:solidFill>
                  <a:srgbClr val="FFFFFF"/>
                </a:solidFill>
                <a:latin typeface="Bahnschrift SemiBold" pitchFamily="34" charset="0"/>
                <a:ea typeface="Bahnschrift SemiBold" pitchFamily="34" charset="-122"/>
                <a:cs typeface="Bahnschrift SemiBold" pitchFamily="34" charset="-120"/>
              </a:rPr>
              <a:t>Succession risk</a:t>
            </a:r>
            <a:endParaRPr lang="en-US" sz="2200" dirty="0"/>
          </a:p>
        </p:txBody>
      </p:sp>
      <p:sp>
        <p:nvSpPr>
          <p:cNvPr id="17" name="Text 15"/>
          <p:cNvSpPr txBox="1"/>
          <p:nvPr/>
        </p:nvSpPr>
        <p:spPr>
          <a:xfrm>
            <a:off x="14676120" y="5056632"/>
            <a:ext cx="2423160" cy="457200"/>
          </a:xfrm>
          <a:prstGeom prst="rect">
            <a:avLst/>
          </a:prstGeom>
          <a:noFill/>
          <a:ln/>
        </p:spPr>
        <p:txBody>
          <a:bodyPr wrap="square" lIns="0" tIns="0" rIns="0" bIns="0" rtlCol="0" anchor="ctr"/>
          <a:lstStyle/>
          <a:p>
            <a:pPr algn="r" indent="0" marL="0">
              <a:buNone/>
            </a:pPr>
            <a:r>
              <a:rPr lang="en-US" sz="1500" dirty="0">
                <a:solidFill>
                  <a:srgbClr val="B9C2D4"/>
                </a:solidFill>
                <a:latin typeface="Calibri" pitchFamily="34" charset="0"/>
                <a:ea typeface="Calibri" pitchFamily="34" charset="-122"/>
                <a:cs typeface="Calibri" pitchFamily="34" charset="-120"/>
              </a:rPr>
              <a:t>who holds it alone</a:t>
            </a:r>
            <a:endParaRPr lang="en-US" sz="1500" dirty="0"/>
          </a:p>
        </p:txBody>
      </p:sp>
      <p:sp>
        <p:nvSpPr>
          <p:cNvPr id="18" name="Shape 16"/>
          <p:cNvSpPr/>
          <p:nvPr/>
        </p:nvSpPr>
        <p:spPr>
          <a:xfrm>
            <a:off x="10881360" y="5879592"/>
            <a:ext cx="6217920" cy="0"/>
          </a:xfrm>
          <a:prstGeom prst="line">
            <a:avLst/>
          </a:prstGeom>
          <a:noFill/>
          <a:ln w="12700">
            <a:solidFill>
              <a:srgbClr val="44528A"/>
            </a:solidFill>
            <a:prstDash val="solid"/>
          </a:ln>
        </p:spPr>
      </p:sp>
      <p:sp>
        <p:nvSpPr>
          <p:cNvPr id="19" name="Text 17"/>
          <p:cNvSpPr txBox="1"/>
          <p:nvPr/>
        </p:nvSpPr>
        <p:spPr>
          <a:xfrm>
            <a:off x="10881360" y="6172200"/>
            <a:ext cx="1097280" cy="731520"/>
          </a:xfrm>
          <a:prstGeom prst="rect">
            <a:avLst/>
          </a:prstGeom>
          <a:noFill/>
          <a:ln/>
        </p:spPr>
        <p:txBody>
          <a:bodyPr wrap="square" lIns="0" tIns="0" rIns="0" bIns="0" rtlCol="0" anchor="ctr"/>
          <a:lstStyle/>
          <a:p>
            <a:pPr indent="0" marL="0">
              <a:buNone/>
            </a:pPr>
            <a:r>
              <a:rPr lang="en-US" sz="4000" dirty="0">
                <a:solidFill>
                  <a:srgbClr val="8E98AE"/>
                </a:solidFill>
                <a:latin typeface="Bahnschrift Light" pitchFamily="34" charset="0"/>
                <a:ea typeface="Bahnschrift Light" pitchFamily="34" charset="-122"/>
                <a:cs typeface="Bahnschrift Light" pitchFamily="34" charset="-120"/>
              </a:rPr>
              <a:t>04</a:t>
            </a:r>
            <a:endParaRPr lang="en-US" sz="4000" dirty="0"/>
          </a:p>
        </p:txBody>
      </p:sp>
      <p:sp>
        <p:nvSpPr>
          <p:cNvPr id="20" name="Text 18"/>
          <p:cNvSpPr txBox="1"/>
          <p:nvPr/>
        </p:nvSpPr>
        <p:spPr>
          <a:xfrm>
            <a:off x="11978640" y="6263640"/>
            <a:ext cx="2560320" cy="457200"/>
          </a:xfrm>
          <a:prstGeom prst="rect">
            <a:avLst/>
          </a:prstGeom>
          <a:noFill/>
          <a:ln/>
        </p:spPr>
        <p:txBody>
          <a:bodyPr wrap="square" lIns="0" tIns="0" rIns="0" bIns="0" rtlCol="0" anchor="ctr"/>
          <a:lstStyle/>
          <a:p>
            <a:pPr indent="0" marL="0">
              <a:buNone/>
            </a:pPr>
            <a:r>
              <a:rPr lang="en-US" sz="2200" dirty="0">
                <a:solidFill>
                  <a:srgbClr val="FFFFFF"/>
                </a:solidFill>
                <a:latin typeface="Bahnschrift SemiBold" pitchFamily="34" charset="0"/>
                <a:ea typeface="Bahnschrift SemiBold" pitchFamily="34" charset="-122"/>
                <a:cs typeface="Bahnschrift SemiBold" pitchFamily="34" charset="-120"/>
              </a:rPr>
              <a:t>Overview</a:t>
            </a:r>
            <a:endParaRPr lang="en-US" sz="2200" dirty="0"/>
          </a:p>
        </p:txBody>
      </p:sp>
      <p:sp>
        <p:nvSpPr>
          <p:cNvPr id="21" name="Text 19"/>
          <p:cNvSpPr txBox="1"/>
          <p:nvPr/>
        </p:nvSpPr>
        <p:spPr>
          <a:xfrm>
            <a:off x="14676120" y="6336792"/>
            <a:ext cx="2423160" cy="457200"/>
          </a:xfrm>
          <a:prstGeom prst="rect">
            <a:avLst/>
          </a:prstGeom>
          <a:noFill/>
          <a:ln/>
        </p:spPr>
        <p:txBody>
          <a:bodyPr wrap="square" lIns="0" tIns="0" rIns="0" bIns="0" rtlCol="0" anchor="ctr"/>
          <a:lstStyle/>
          <a:p>
            <a:pPr algn="r" indent="0" marL="0">
              <a:buNone/>
            </a:pPr>
            <a:r>
              <a:rPr lang="en-US" sz="1500" dirty="0">
                <a:solidFill>
                  <a:srgbClr val="B9C2D4"/>
                </a:solidFill>
                <a:latin typeface="Calibri" pitchFamily="34" charset="0"/>
                <a:ea typeface="Calibri" pitchFamily="34" charset="-122"/>
                <a:cs typeface="Calibri" pitchFamily="34" charset="-120"/>
              </a:rPr>
              <a:t>the gaps, ranked</a:t>
            </a:r>
            <a:endParaRPr lang="en-US" sz="1500" dirty="0"/>
          </a:p>
        </p:txBody>
      </p:sp>
      <p:sp>
        <p:nvSpPr>
          <p:cNvPr id="22" name="Shape 20"/>
          <p:cNvSpPr/>
          <p:nvPr/>
        </p:nvSpPr>
        <p:spPr>
          <a:xfrm>
            <a:off x="10881360" y="7159752"/>
            <a:ext cx="6217920" cy="0"/>
          </a:xfrm>
          <a:prstGeom prst="line">
            <a:avLst/>
          </a:prstGeom>
          <a:noFill/>
          <a:ln w="12700">
            <a:solidFill>
              <a:srgbClr val="44528A"/>
            </a:solidFill>
            <a:prstDash val="solid"/>
          </a:ln>
        </p:spPr>
      </p:sp>
      <p:sp>
        <p:nvSpPr>
          <p:cNvPr id="23" name="Text 21"/>
          <p:cNvSpPr txBox="1"/>
          <p:nvPr/>
        </p:nvSpPr>
        <p:spPr>
          <a:xfrm>
            <a:off x="10881360" y="7452360"/>
            <a:ext cx="1097280" cy="731520"/>
          </a:xfrm>
          <a:prstGeom prst="rect">
            <a:avLst/>
          </a:prstGeom>
          <a:noFill/>
          <a:ln/>
        </p:spPr>
        <p:txBody>
          <a:bodyPr wrap="square" lIns="0" tIns="0" rIns="0" bIns="0" rtlCol="0" anchor="ctr"/>
          <a:lstStyle/>
          <a:p>
            <a:pPr indent="0" marL="0">
              <a:buNone/>
            </a:pPr>
            <a:r>
              <a:rPr lang="en-US" sz="4000" dirty="0">
                <a:solidFill>
                  <a:srgbClr val="8E98AE"/>
                </a:solidFill>
                <a:latin typeface="Bahnschrift Light" pitchFamily="34" charset="0"/>
                <a:ea typeface="Bahnschrift Light" pitchFamily="34" charset="-122"/>
                <a:cs typeface="Bahnschrift Light" pitchFamily="34" charset="-120"/>
              </a:rPr>
              <a:t>05</a:t>
            </a:r>
            <a:endParaRPr lang="en-US" sz="4000" dirty="0"/>
          </a:p>
        </p:txBody>
      </p:sp>
      <p:sp>
        <p:nvSpPr>
          <p:cNvPr id="24" name="Text 22"/>
          <p:cNvSpPr txBox="1"/>
          <p:nvPr/>
        </p:nvSpPr>
        <p:spPr>
          <a:xfrm>
            <a:off x="11978640" y="7543800"/>
            <a:ext cx="2560320" cy="457200"/>
          </a:xfrm>
          <a:prstGeom prst="rect">
            <a:avLst/>
          </a:prstGeom>
          <a:noFill/>
          <a:ln/>
        </p:spPr>
        <p:txBody>
          <a:bodyPr wrap="square" lIns="0" tIns="0" rIns="0" bIns="0" rtlCol="0" anchor="ctr"/>
          <a:lstStyle/>
          <a:p>
            <a:pPr indent="0" marL="0">
              <a:buNone/>
            </a:pPr>
            <a:r>
              <a:rPr lang="en-US" sz="2200" dirty="0">
                <a:solidFill>
                  <a:srgbClr val="FFFFFF"/>
                </a:solidFill>
                <a:latin typeface="Bahnschrift SemiBold" pitchFamily="34" charset="0"/>
                <a:ea typeface="Bahnschrift SemiBold" pitchFamily="34" charset="-122"/>
                <a:cs typeface="Bahnschrift SemiBold" pitchFamily="34" charset="-120"/>
              </a:rPr>
              <a:t>Employee view</a:t>
            </a:r>
            <a:endParaRPr lang="en-US" sz="2200" dirty="0"/>
          </a:p>
        </p:txBody>
      </p:sp>
      <p:sp>
        <p:nvSpPr>
          <p:cNvPr id="25" name="Text 23"/>
          <p:cNvSpPr txBox="1"/>
          <p:nvPr/>
        </p:nvSpPr>
        <p:spPr>
          <a:xfrm>
            <a:off x="14676120" y="7616952"/>
            <a:ext cx="2423160" cy="457200"/>
          </a:xfrm>
          <a:prstGeom prst="rect">
            <a:avLst/>
          </a:prstGeom>
          <a:noFill/>
          <a:ln/>
        </p:spPr>
        <p:txBody>
          <a:bodyPr wrap="square" lIns="0" tIns="0" rIns="0" bIns="0" rtlCol="0" anchor="ctr"/>
          <a:lstStyle/>
          <a:p>
            <a:pPr algn="r" indent="0" marL="0">
              <a:buNone/>
            </a:pPr>
            <a:r>
              <a:rPr lang="en-US" sz="1500" dirty="0">
                <a:solidFill>
                  <a:srgbClr val="B9C2D4"/>
                </a:solidFill>
                <a:latin typeface="Calibri" pitchFamily="34" charset="0"/>
                <a:ea typeface="Calibri" pitchFamily="34" charset="-122"/>
                <a:cs typeface="Calibri" pitchFamily="34" charset="-120"/>
              </a:rPr>
              <a:t>how a person closes one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SkillSight: the five questions</dc:title>
  <dc:subject>PptxGenJS Presentation</dc:subject>
  <dc:creator>Ajay Angdembe</dc:creator>
  <cp:lastModifiedBy>Ajay Angdembe</cp:lastModifiedBy>
  <cp:revision>1</cp:revision>
  <dcterms:created xsi:type="dcterms:W3CDTF">2026-09-13T06:05:14Z</dcterms:created>
  <dcterms:modified xsi:type="dcterms:W3CDTF">2026-09-13T06:05:14Z</dcterms:modified>
</cp:coreProperties>
</file>