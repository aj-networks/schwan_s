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five answers, in the order the prompt asks them. The app's tabs run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notes on every slide: where it is in the app, and where the numbers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skills. The answer is not the list, it is which band you look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is attached to a real business driver, not a guess about technology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at Marshall knows frozen dough formulation. That is a production risk, not an HR statistic.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dashboards show numbers and stop. This one puts them in an order a manager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says employees close gaps, so one screen had to speak to the employee, not only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objection judges raise is always the data. Answer it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tabs run in the order the prompt asks its questions, so nothing has to be hunted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D"/>
        </a:solidFill>
      </p:bgPr>
    </p:bg>
    <p:spTree>
      <p:nvGrpSpPr>
        <p:cNvPr id="1" name=""/>
        <p:cNvGrpSpPr/>
        <p:nvPr/>
      </p:nvGrpSpPr>
      <p:grpSpPr>
        <a:xfrm>
          <a:off x="0" y="0"/>
          <a:ext cx="0" cy="0"/>
          <a:chOff x="0" y="0"/>
          <a:chExt cx="0" cy="0"/>
        </a:xfrm>
      </p:grpSpPr>
      <p:sp>
        <p:nvSpPr>
          <p:cNvPr id="2" name="Shape 0"/>
          <p:cNvSpPr/>
          <p:nvPr/>
        </p:nvSpPr>
        <p:spPr>
          <a:xfrm>
            <a:off x="685800" y="2103120"/>
            <a:ext cx="457200" cy="457200"/>
          </a:xfrm>
          <a:prstGeom prst="roundRect">
            <a:avLst>
              <a:gd name="adj" fmla="val 24000"/>
            </a:avLst>
          </a:prstGeom>
          <a:solidFill>
            <a:srgbClr val="8E2B30"/>
          </a:solidFill>
          <a:ln/>
        </p:spPr>
      </p:sp>
      <p:sp>
        <p:nvSpPr>
          <p:cNvPr id="3" name="Text 1"/>
          <p:cNvSpPr txBox="1"/>
          <p:nvPr/>
        </p:nvSpPr>
        <p:spPr>
          <a:xfrm>
            <a:off x="1325880" y="2011680"/>
            <a:ext cx="7315200" cy="685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SkillSight</a:t>
            </a:r>
            <a:endParaRPr lang="en-US" sz="4200" dirty="0"/>
          </a:p>
        </p:txBody>
      </p:sp>
      <p:sp>
        <p:nvSpPr>
          <p:cNvPr id="4" name="Text 2"/>
          <p:cNvSpPr txBox="1"/>
          <p:nvPr/>
        </p:nvSpPr>
        <p:spPr>
          <a:xfrm>
            <a:off x="685800" y="2971800"/>
            <a:ext cx="8778240" cy="822960"/>
          </a:xfrm>
          <a:prstGeom prst="rect">
            <a:avLst/>
          </a:prstGeom>
          <a:noFill/>
          <a:ln/>
        </p:spPr>
        <p:txBody>
          <a:bodyPr wrap="square" lIns="0" tIns="0" rIns="0" bIns="0" rtlCol="0" anchor="ctr"/>
          <a:lstStyle/>
          <a:p>
            <a:pPr indent="0" marL="0">
              <a:lnSpc>
                <a:spcPct val="125000"/>
              </a:lnSpc>
              <a:buNone/>
            </a:pPr>
            <a:r>
              <a:rPr lang="en-US" sz="1800" dirty="0">
                <a:solidFill>
                  <a:srgbClr val="C9CDD3"/>
                </a:solidFill>
                <a:latin typeface="Calibri" pitchFamily="34" charset="0"/>
                <a:ea typeface="Calibri" pitchFamily="34" charset="-122"/>
                <a:cs typeface="Calibri" pitchFamily="34" charset="-120"/>
              </a:rPr>
              <a:t>The five questions in Prompt 01, answered in order, with the numbers and where each one comes from.</a:t>
            </a:r>
            <a:endParaRPr lang="en-US" sz="1800" dirty="0"/>
          </a:p>
        </p:txBody>
      </p:sp>
      <p:sp>
        <p:nvSpPr>
          <p:cNvPr id="5" name="Text 3"/>
          <p:cNvSpPr txBox="1"/>
          <p:nvPr/>
        </p:nvSpPr>
        <p:spPr>
          <a:xfrm>
            <a:off x="685800" y="5760720"/>
            <a:ext cx="10058400" cy="365760"/>
          </a:xfrm>
          <a:prstGeom prst="rect">
            <a:avLst/>
          </a:prstGeom>
          <a:noFill/>
          <a:ln/>
        </p:spPr>
        <p:txBody>
          <a:bodyPr wrap="square" lIns="0" tIns="0" rIns="0" bIns="0" rtlCol="0" anchor="ctr"/>
          <a:lstStyle/>
          <a:p>
            <a:pPr indent="0" marL="0">
              <a:buNone/>
            </a:pPr>
            <a:r>
              <a:rPr lang="en-US" sz="1250" dirty="0">
                <a:solidFill>
                  <a:srgbClr val="8B939E"/>
                </a:solidFill>
                <a:latin typeface="Calibri" pitchFamily="34" charset="0"/>
                <a:ea typeface="Calibri" pitchFamily="34" charset="-122"/>
                <a:cs typeface="Calibri" pitchFamily="34" charset="-120"/>
              </a:rPr>
              <a:t>Southwest MN Hacks 2026  ·  Schwan's Prompt 01: Talent Readiness and Skills Intelligence  ·  Ajay Angdembe, solo</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502920"/>
            <a:ext cx="9144000" cy="548640"/>
          </a:xfrm>
          <a:prstGeom prst="rect">
            <a:avLst/>
          </a:prstGeom>
          <a:noFill/>
          <a:ln/>
        </p:spPr>
        <p:txBody>
          <a:bodyPr wrap="square" lIns="0" tIns="0" rIns="0" bIns="0" rtlCol="0" anchor="ctr"/>
          <a:lstStyle/>
          <a:p>
            <a:pPr indent="0" marL="0">
              <a:buNone/>
            </a:pPr>
            <a:r>
              <a:rPr lang="en-US" sz="3000" b="1" dirty="0">
                <a:solidFill>
                  <a:srgbClr val="15181D"/>
                </a:solidFill>
                <a:latin typeface="Cambria" pitchFamily="34" charset="0"/>
                <a:ea typeface="Cambria" pitchFamily="34" charset="-122"/>
                <a:cs typeface="Cambria" pitchFamily="34" charset="-120"/>
              </a:rPr>
              <a:t>How to read this deck</a:t>
            </a:r>
            <a:endParaRPr lang="en-US" sz="3000" dirty="0"/>
          </a:p>
        </p:txBody>
      </p:sp>
      <p:sp>
        <p:nvSpPr>
          <p:cNvPr id="3" name="Text 1"/>
          <p:cNvSpPr txBox="1"/>
          <p:nvPr/>
        </p:nvSpPr>
        <p:spPr>
          <a:xfrm>
            <a:off x="685800" y="1143000"/>
            <a:ext cx="9601200" cy="45720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One slide per question, in the prompt's own order. Every slide carries the same two notes at the bottom.</a:t>
            </a:r>
            <a:endParaRPr lang="en-US" sz="1500" dirty="0"/>
          </a:p>
        </p:txBody>
      </p:sp>
      <p:sp>
        <p:nvSpPr>
          <p:cNvPr id="4" name="Shape 2"/>
          <p:cNvSpPr/>
          <p:nvPr/>
        </p:nvSpPr>
        <p:spPr>
          <a:xfrm>
            <a:off x="685800" y="1920240"/>
            <a:ext cx="2286000" cy="566928"/>
          </a:xfrm>
          <a:prstGeom prst="roundRect">
            <a:avLst>
              <a:gd name="adj" fmla="val 9677"/>
            </a:avLst>
          </a:prstGeom>
          <a:solidFill>
            <a:srgbClr val="F4F5F7"/>
          </a:solidFill>
          <a:ln/>
        </p:spPr>
      </p:sp>
      <p:sp>
        <p:nvSpPr>
          <p:cNvPr id="5" name="Text 3"/>
          <p:cNvSpPr txBox="1"/>
          <p:nvPr/>
        </p:nvSpPr>
        <p:spPr>
          <a:xfrm>
            <a:off x="868680" y="2029968"/>
            <a:ext cx="2011680" cy="365760"/>
          </a:xfrm>
          <a:prstGeom prst="rect">
            <a:avLst/>
          </a:prstGeom>
          <a:noFill/>
          <a:ln/>
        </p:spPr>
        <p:txBody>
          <a:bodyPr wrap="square" lIns="0" tIns="0" rIns="0" bIns="0" rtlCol="0" anchor="ctr"/>
          <a:lstStyle/>
          <a:p>
            <a:pPr indent="0" marL="0">
              <a:buNone/>
            </a:pPr>
            <a:r>
              <a:rPr lang="en-US" sz="1400" b="1" dirty="0">
                <a:solidFill>
                  <a:srgbClr val="8E2B30"/>
                </a:solidFill>
                <a:latin typeface="Calibri" pitchFamily="34" charset="0"/>
                <a:ea typeface="Calibri" pitchFamily="34" charset="-122"/>
                <a:cs typeface="Calibri" pitchFamily="34" charset="-120"/>
              </a:rPr>
              <a:t>In the app</a:t>
            </a:r>
            <a:endParaRPr lang="en-US" sz="1400" dirty="0"/>
          </a:p>
        </p:txBody>
      </p:sp>
      <p:sp>
        <p:nvSpPr>
          <p:cNvPr id="6" name="Text 4"/>
          <p:cNvSpPr txBox="1"/>
          <p:nvPr/>
        </p:nvSpPr>
        <p:spPr>
          <a:xfrm>
            <a:off x="3337560" y="1965960"/>
            <a:ext cx="8046720" cy="68580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Which tab answers that question. The app's tabs run in the same order as the questions.</a:t>
            </a:r>
            <a:endParaRPr lang="en-US" sz="1400" dirty="0"/>
          </a:p>
        </p:txBody>
      </p:sp>
      <p:sp>
        <p:nvSpPr>
          <p:cNvPr id="7" name="Shape 5"/>
          <p:cNvSpPr/>
          <p:nvPr/>
        </p:nvSpPr>
        <p:spPr>
          <a:xfrm>
            <a:off x="685800" y="2880360"/>
            <a:ext cx="2286000" cy="566928"/>
          </a:xfrm>
          <a:prstGeom prst="roundRect">
            <a:avLst>
              <a:gd name="adj" fmla="val 9677"/>
            </a:avLst>
          </a:prstGeom>
          <a:solidFill>
            <a:srgbClr val="F4F5F7"/>
          </a:solidFill>
          <a:ln/>
        </p:spPr>
      </p:sp>
      <p:sp>
        <p:nvSpPr>
          <p:cNvPr id="8" name="Text 6"/>
          <p:cNvSpPr txBox="1"/>
          <p:nvPr/>
        </p:nvSpPr>
        <p:spPr>
          <a:xfrm>
            <a:off x="868680" y="2990088"/>
            <a:ext cx="2011680" cy="365760"/>
          </a:xfrm>
          <a:prstGeom prst="rect">
            <a:avLst/>
          </a:prstGeom>
          <a:noFill/>
          <a:ln/>
        </p:spPr>
        <p:txBody>
          <a:bodyPr wrap="square" lIns="0" tIns="0" rIns="0" bIns="0" rtlCol="0" anchor="ctr"/>
          <a:lstStyle/>
          <a:p>
            <a:pPr indent="0" marL="0">
              <a:buNone/>
            </a:pPr>
            <a:r>
              <a:rPr lang="en-US" sz="1400" b="1" dirty="0">
                <a:solidFill>
                  <a:srgbClr val="8E2B30"/>
                </a:solidFill>
                <a:latin typeface="Calibri" pitchFamily="34" charset="0"/>
                <a:ea typeface="Calibri" pitchFamily="34" charset="-122"/>
                <a:cs typeface="Calibri" pitchFamily="34" charset="-120"/>
              </a:rPr>
              <a:t>Numbers from</a:t>
            </a:r>
            <a:endParaRPr lang="en-US" sz="1400" dirty="0"/>
          </a:p>
        </p:txBody>
      </p:sp>
      <p:sp>
        <p:nvSpPr>
          <p:cNvPr id="9" name="Text 7"/>
          <p:cNvSpPr txBox="1"/>
          <p:nvPr/>
        </p:nvSpPr>
        <p:spPr>
          <a:xfrm>
            <a:off x="3337560" y="2926080"/>
            <a:ext cx="8046720" cy="68580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Whether a figure is demo data or a sourced fact, and which source.</a:t>
            </a:r>
            <a:endParaRPr lang="en-US" sz="1400" dirty="0"/>
          </a:p>
        </p:txBody>
      </p:sp>
      <p:sp>
        <p:nvSpPr>
          <p:cNvPr id="10" name="Shape 8"/>
          <p:cNvSpPr/>
          <p:nvPr/>
        </p:nvSpPr>
        <p:spPr>
          <a:xfrm>
            <a:off x="685800" y="3840480"/>
            <a:ext cx="2286000" cy="566928"/>
          </a:xfrm>
          <a:prstGeom prst="roundRect">
            <a:avLst>
              <a:gd name="adj" fmla="val 9677"/>
            </a:avLst>
          </a:prstGeom>
          <a:solidFill>
            <a:srgbClr val="F4F5F7"/>
          </a:solidFill>
          <a:ln/>
        </p:spPr>
      </p:sp>
      <p:sp>
        <p:nvSpPr>
          <p:cNvPr id="11" name="Text 9"/>
          <p:cNvSpPr txBox="1"/>
          <p:nvPr/>
        </p:nvSpPr>
        <p:spPr>
          <a:xfrm>
            <a:off x="868680" y="3950208"/>
            <a:ext cx="2011680" cy="365760"/>
          </a:xfrm>
          <a:prstGeom prst="rect">
            <a:avLst/>
          </a:prstGeom>
          <a:noFill/>
          <a:ln/>
        </p:spPr>
        <p:txBody>
          <a:bodyPr wrap="square" lIns="0" tIns="0" rIns="0" bIns="0" rtlCol="0" anchor="ctr"/>
          <a:lstStyle/>
          <a:p>
            <a:pPr indent="0" marL="0">
              <a:buNone/>
            </a:pPr>
            <a:r>
              <a:rPr lang="en-US" sz="1400" b="1" dirty="0">
                <a:solidFill>
                  <a:srgbClr val="8E2B30"/>
                </a:solidFill>
                <a:latin typeface="Calibri" pitchFamily="34" charset="0"/>
                <a:ea typeface="Calibri" pitchFamily="34" charset="-122"/>
                <a:cs typeface="Calibri" pitchFamily="34" charset="-120"/>
              </a:rPr>
              <a:t>Demo data</a:t>
            </a:r>
            <a:endParaRPr lang="en-US" sz="1400" dirty="0"/>
          </a:p>
        </p:txBody>
      </p:sp>
      <p:sp>
        <p:nvSpPr>
          <p:cNvPr id="12" name="Text 10"/>
          <p:cNvSpPr txBox="1"/>
          <p:nvPr/>
        </p:nvSpPr>
        <p:spPr>
          <a:xfrm>
            <a:off x="3337560" y="3886200"/>
            <a:ext cx="8046720" cy="68580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Coverage percentages, per-site headcounts and employee records are invented, and the app says so on its front page.</a:t>
            </a:r>
            <a:endParaRPr lang="en-US" sz="1400" dirty="0"/>
          </a:p>
        </p:txBody>
      </p:sp>
      <p:sp>
        <p:nvSpPr>
          <p:cNvPr id="13" name="Shape 11"/>
          <p:cNvSpPr/>
          <p:nvPr/>
        </p:nvSpPr>
        <p:spPr>
          <a:xfrm>
            <a:off x="685800" y="4800600"/>
            <a:ext cx="2286000" cy="566928"/>
          </a:xfrm>
          <a:prstGeom prst="roundRect">
            <a:avLst>
              <a:gd name="adj" fmla="val 9677"/>
            </a:avLst>
          </a:prstGeom>
          <a:solidFill>
            <a:srgbClr val="F4F5F7"/>
          </a:solidFill>
          <a:ln/>
        </p:spPr>
      </p:sp>
      <p:sp>
        <p:nvSpPr>
          <p:cNvPr id="14" name="Text 12"/>
          <p:cNvSpPr txBox="1"/>
          <p:nvPr/>
        </p:nvSpPr>
        <p:spPr>
          <a:xfrm>
            <a:off x="868680" y="4910328"/>
            <a:ext cx="2011680" cy="365760"/>
          </a:xfrm>
          <a:prstGeom prst="rect">
            <a:avLst/>
          </a:prstGeom>
          <a:noFill/>
          <a:ln/>
        </p:spPr>
        <p:txBody>
          <a:bodyPr wrap="square" lIns="0" tIns="0" rIns="0" bIns="0" rtlCol="0" anchor="ctr"/>
          <a:lstStyle/>
          <a:p>
            <a:pPr indent="0" marL="0">
              <a:buNone/>
            </a:pPr>
            <a:r>
              <a:rPr lang="en-US" sz="1400" b="1" dirty="0">
                <a:solidFill>
                  <a:srgbClr val="8E2B30"/>
                </a:solidFill>
                <a:latin typeface="Calibri" pitchFamily="34" charset="0"/>
                <a:ea typeface="Calibri" pitchFamily="34" charset="-122"/>
                <a:cs typeface="Calibri" pitchFamily="34" charset="-120"/>
              </a:rPr>
              <a:t>Sourced facts</a:t>
            </a:r>
            <a:endParaRPr lang="en-US" sz="1400" dirty="0"/>
          </a:p>
        </p:txBody>
      </p:sp>
      <p:sp>
        <p:nvSpPr>
          <p:cNvPr id="15" name="Text 13"/>
          <p:cNvSpPr txBox="1"/>
          <p:nvPr/>
        </p:nvSpPr>
        <p:spPr>
          <a:xfrm>
            <a:off x="3337560" y="4846320"/>
            <a:ext cx="8046720" cy="68580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Job groups, plant locations, the Sioux Falls build-out, the Salina expansion, the regulations. Ten sources, listed in the app and in FACTS.md.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85800" y="475488"/>
            <a:ext cx="457200" cy="457200"/>
          </a:xfrm>
          <a:prstGeom prst="ellipse">
            <a:avLst/>
          </a:prstGeom>
          <a:solidFill>
            <a:srgbClr val="8E2B30"/>
          </a:solidFill>
          <a:ln/>
        </p:spPr>
      </p:sp>
      <p:sp>
        <p:nvSpPr>
          <p:cNvPr id="3" name="Text 1"/>
          <p:cNvSpPr txBox="1"/>
          <p:nvPr/>
        </p:nvSpPr>
        <p:spPr>
          <a:xfrm>
            <a:off x="685800" y="475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Q1</a:t>
            </a:r>
            <a:endParaRPr lang="en-US" sz="1400" dirty="0"/>
          </a:p>
        </p:txBody>
      </p:sp>
      <p:sp>
        <p:nvSpPr>
          <p:cNvPr id="4" name="Text 2"/>
          <p:cNvSpPr txBox="1"/>
          <p:nvPr/>
        </p:nvSpPr>
        <p:spPr>
          <a:xfrm>
            <a:off x="1344168" y="457200"/>
            <a:ext cx="10058400" cy="548640"/>
          </a:xfrm>
          <a:prstGeom prst="rect">
            <a:avLst/>
          </a:prstGeom>
          <a:noFill/>
          <a:ln/>
        </p:spPr>
        <p:txBody>
          <a:bodyPr wrap="square" lIns="0" tIns="0" rIns="0" bIns="0" rtlCol="0" anchor="ctr"/>
          <a:lstStyle/>
          <a:p>
            <a:pPr indent="0" marL="0">
              <a:buNone/>
            </a:pPr>
            <a:r>
              <a:rPr lang="en-US" sz="2100" b="1" dirty="0">
                <a:solidFill>
                  <a:srgbClr val="15181D"/>
                </a:solidFill>
                <a:latin typeface="Cambria" pitchFamily="34" charset="0"/>
                <a:ea typeface="Cambria" pitchFamily="34" charset="-122"/>
                <a:cs typeface="Cambria" pitchFamily="34" charset="-120"/>
              </a:rPr>
              <a:t>What skills and competencies exist across our workforce today?</a:t>
            </a:r>
            <a:endParaRPr lang="en-US" sz="2100" dirty="0"/>
          </a:p>
        </p:txBody>
      </p:sp>
      <p:sp>
        <p:nvSpPr>
          <p:cNvPr id="5" name="Text 3"/>
          <p:cNvSpPr txBox="1"/>
          <p:nvPr/>
        </p:nvSpPr>
        <p:spPr>
          <a:xfrm>
            <a:off x="685800" y="1234440"/>
            <a:ext cx="10789920" cy="457200"/>
          </a:xfrm>
          <a:prstGeom prst="rect">
            <a:avLst/>
          </a:prstGeom>
          <a:noFill/>
          <a:ln/>
        </p:spPr>
        <p:txBody>
          <a:bodyPr wrap="square" lIns="0" tIns="0" rIns="0" bIns="0" rtlCol="0" anchor="ctr"/>
          <a:lstStyle/>
          <a:p>
            <a:pPr indent="0" marL="0">
              <a:buNone/>
            </a:pPr>
            <a:r>
              <a:rPr lang="en-US" sz="1650" b="1" dirty="0">
                <a:solidFill>
                  <a:srgbClr val="8E2B30"/>
                </a:solidFill>
                <a:latin typeface="Calibri" pitchFamily="34" charset="0"/>
                <a:ea typeface="Calibri" pitchFamily="34" charset="-122"/>
                <a:cs typeface="Calibri" pitchFamily="34" charset="-120"/>
              </a:rPr>
              <a:t>20 skills tracked across 4 job groups. Average coverage 50 percent.</a:t>
            </a:r>
            <a:endParaRPr lang="en-US" sz="1650" dirty="0"/>
          </a:p>
        </p:txBody>
      </p:sp>
      <p:sp>
        <p:nvSpPr>
          <p:cNvPr id="6" name="Text 4"/>
          <p:cNvSpPr txBox="1"/>
          <p:nvPr/>
        </p:nvSpPr>
        <p:spPr>
          <a:xfrm>
            <a:off x="685800" y="1783080"/>
            <a:ext cx="10515600" cy="45720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Coverage is the share of a job group that holds the skill. The Skills tab sorts them into three bands and opens only the critical one.</a:t>
            </a:r>
            <a:endParaRPr lang="en-US" sz="1400" dirty="0"/>
          </a:p>
        </p:txBody>
      </p:sp>
      <p:sp>
        <p:nvSpPr>
          <p:cNvPr id="7" name="Shape 5"/>
          <p:cNvSpPr/>
          <p:nvPr/>
        </p:nvSpPr>
        <p:spPr>
          <a:xfrm>
            <a:off x="685800" y="2395728"/>
            <a:ext cx="10789920" cy="0"/>
          </a:xfrm>
          <a:prstGeom prst="line">
            <a:avLst/>
          </a:prstGeom>
          <a:noFill/>
          <a:ln w="12700">
            <a:solidFill>
              <a:srgbClr val="EEF0F3"/>
            </a:solidFill>
            <a:prstDash val="solid"/>
          </a:ln>
        </p:spPr>
      </p:sp>
      <p:sp>
        <p:nvSpPr>
          <p:cNvPr id="8" name="Text 6"/>
          <p:cNvSpPr txBox="1"/>
          <p:nvPr/>
        </p:nvSpPr>
        <p:spPr>
          <a:xfrm>
            <a:off x="685800" y="2468880"/>
            <a:ext cx="210312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Critical gap</a:t>
            </a:r>
            <a:endParaRPr lang="en-US" sz="1400" dirty="0"/>
          </a:p>
        </p:txBody>
      </p:sp>
      <p:sp>
        <p:nvSpPr>
          <p:cNvPr id="9" name="Text 7"/>
          <p:cNvSpPr txBox="1"/>
          <p:nvPr/>
        </p:nvSpPr>
        <p:spPr>
          <a:xfrm>
            <a:off x="2880360" y="2468880"/>
            <a:ext cx="109728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7 skills</a:t>
            </a:r>
            <a:endParaRPr lang="en-US" sz="1400" dirty="0"/>
          </a:p>
        </p:txBody>
      </p:sp>
      <p:sp>
        <p:nvSpPr>
          <p:cNvPr id="10" name="Text 8"/>
          <p:cNvSpPr txBox="1"/>
          <p:nvPr/>
        </p:nvSpPr>
        <p:spPr>
          <a:xfrm>
            <a:off x="4069080" y="2468880"/>
            <a:ext cx="201168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under 40 percent</a:t>
            </a:r>
            <a:endParaRPr lang="en-US" sz="1400" dirty="0"/>
          </a:p>
        </p:txBody>
      </p:sp>
      <p:sp>
        <p:nvSpPr>
          <p:cNvPr id="11" name="Text 9"/>
          <p:cNvSpPr txBox="1"/>
          <p:nvPr/>
        </p:nvSpPr>
        <p:spPr>
          <a:xfrm>
            <a:off x="6263640" y="2468880"/>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Pizza line setup is the worst, at 12 percent</a:t>
            </a:r>
            <a:endParaRPr lang="en-US" sz="1400" dirty="0"/>
          </a:p>
        </p:txBody>
      </p:sp>
      <p:sp>
        <p:nvSpPr>
          <p:cNvPr id="12" name="Shape 10"/>
          <p:cNvSpPr/>
          <p:nvPr/>
        </p:nvSpPr>
        <p:spPr>
          <a:xfrm>
            <a:off x="685800" y="2871216"/>
            <a:ext cx="10789920" cy="0"/>
          </a:xfrm>
          <a:prstGeom prst="line">
            <a:avLst/>
          </a:prstGeom>
          <a:noFill/>
          <a:ln w="12700">
            <a:solidFill>
              <a:srgbClr val="EEF0F3"/>
            </a:solidFill>
            <a:prstDash val="solid"/>
          </a:ln>
        </p:spPr>
      </p:sp>
      <p:sp>
        <p:nvSpPr>
          <p:cNvPr id="13" name="Text 11"/>
          <p:cNvSpPr txBox="1"/>
          <p:nvPr/>
        </p:nvSpPr>
        <p:spPr>
          <a:xfrm>
            <a:off x="685800" y="2944368"/>
            <a:ext cx="210312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Needs attention</a:t>
            </a:r>
            <a:endParaRPr lang="en-US" sz="1400" dirty="0"/>
          </a:p>
        </p:txBody>
      </p:sp>
      <p:sp>
        <p:nvSpPr>
          <p:cNvPr id="14" name="Text 12"/>
          <p:cNvSpPr txBox="1"/>
          <p:nvPr/>
        </p:nvSpPr>
        <p:spPr>
          <a:xfrm>
            <a:off x="2880360" y="2944368"/>
            <a:ext cx="109728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6 skills</a:t>
            </a:r>
            <a:endParaRPr lang="en-US" sz="1400" dirty="0"/>
          </a:p>
        </p:txBody>
      </p:sp>
      <p:sp>
        <p:nvSpPr>
          <p:cNvPr id="15" name="Text 13"/>
          <p:cNvSpPr txBox="1"/>
          <p:nvPr/>
        </p:nvSpPr>
        <p:spPr>
          <a:xfrm>
            <a:off x="4069080" y="2944368"/>
            <a:ext cx="201168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40 to 59 percent</a:t>
            </a:r>
            <a:endParaRPr lang="en-US" sz="1400" dirty="0"/>
          </a:p>
        </p:txBody>
      </p:sp>
      <p:sp>
        <p:nvSpPr>
          <p:cNvPr id="16" name="Text 14"/>
          <p:cNvSpPr txBox="1"/>
          <p:nvPr/>
        </p:nvSpPr>
        <p:spPr>
          <a:xfrm>
            <a:off x="6263640" y="2944368"/>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Data analytics, supply chain planning, packaging maintenance</a:t>
            </a:r>
            <a:endParaRPr lang="en-US" sz="1400" dirty="0"/>
          </a:p>
        </p:txBody>
      </p:sp>
      <p:sp>
        <p:nvSpPr>
          <p:cNvPr id="17" name="Shape 15"/>
          <p:cNvSpPr/>
          <p:nvPr/>
        </p:nvSpPr>
        <p:spPr>
          <a:xfrm>
            <a:off x="685800" y="3346704"/>
            <a:ext cx="10789920" cy="0"/>
          </a:xfrm>
          <a:prstGeom prst="line">
            <a:avLst/>
          </a:prstGeom>
          <a:noFill/>
          <a:ln w="12700">
            <a:solidFill>
              <a:srgbClr val="EEF0F3"/>
            </a:solidFill>
            <a:prstDash val="solid"/>
          </a:ln>
        </p:spPr>
      </p:sp>
      <p:sp>
        <p:nvSpPr>
          <p:cNvPr id="18" name="Text 16"/>
          <p:cNvSpPr txBox="1"/>
          <p:nvPr/>
        </p:nvSpPr>
        <p:spPr>
          <a:xfrm>
            <a:off x="685800" y="3419856"/>
            <a:ext cx="210312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Well covered</a:t>
            </a:r>
            <a:endParaRPr lang="en-US" sz="1400" dirty="0"/>
          </a:p>
        </p:txBody>
      </p:sp>
      <p:sp>
        <p:nvSpPr>
          <p:cNvPr id="19" name="Text 17"/>
          <p:cNvSpPr txBox="1"/>
          <p:nvPr/>
        </p:nvSpPr>
        <p:spPr>
          <a:xfrm>
            <a:off x="2880360" y="3419856"/>
            <a:ext cx="109728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7 skills</a:t>
            </a:r>
            <a:endParaRPr lang="en-US" sz="1400" dirty="0"/>
          </a:p>
        </p:txBody>
      </p:sp>
      <p:sp>
        <p:nvSpPr>
          <p:cNvPr id="20" name="Text 18"/>
          <p:cNvSpPr txBox="1"/>
          <p:nvPr/>
        </p:nvSpPr>
        <p:spPr>
          <a:xfrm>
            <a:off x="4069080" y="3419856"/>
            <a:ext cx="201168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60 percent and up</a:t>
            </a:r>
            <a:endParaRPr lang="en-US" sz="1400" dirty="0"/>
          </a:p>
        </p:txBody>
      </p:sp>
      <p:sp>
        <p:nvSpPr>
          <p:cNvPr id="21" name="Text 19"/>
          <p:cNvSpPr txBox="1"/>
          <p:nvPr/>
        </p:nvSpPr>
        <p:spPr>
          <a:xfrm>
            <a:off x="6263640" y="3419856"/>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Food safety and HACCP 91 percent, route sales 88 percent</a:t>
            </a:r>
            <a:endParaRPr lang="en-US" sz="1400" dirty="0"/>
          </a:p>
        </p:txBody>
      </p:sp>
      <p:sp>
        <p:nvSpPr>
          <p:cNvPr id="22" name="Shape 20"/>
          <p:cNvSpPr/>
          <p:nvPr/>
        </p:nvSpPr>
        <p:spPr>
          <a:xfrm>
            <a:off x="685800" y="5943600"/>
            <a:ext cx="10789920" cy="0"/>
          </a:xfrm>
          <a:prstGeom prst="line">
            <a:avLst/>
          </a:prstGeom>
          <a:noFill/>
          <a:ln w="12700">
            <a:solidFill>
              <a:srgbClr val="E3E6EA"/>
            </a:solidFill>
            <a:prstDash val="solid"/>
          </a:ln>
        </p:spPr>
      </p:sp>
      <p:sp>
        <p:nvSpPr>
          <p:cNvPr id="23" name="Text 21"/>
          <p:cNvSpPr txBox="1"/>
          <p:nvPr/>
        </p:nvSpPr>
        <p:spPr>
          <a:xfrm>
            <a:off x="685800" y="6053328"/>
            <a:ext cx="548640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In the app: </a:t>
            </a:r>
            <a:pPr indent="0" marL="0">
              <a:buNone/>
            </a:pPr>
            <a:r>
              <a:rPr lang="en-US" sz="1150" dirty="0">
                <a:solidFill>
                  <a:srgbClr val="15181D"/>
                </a:solidFill>
                <a:latin typeface="Calibri" pitchFamily="34" charset="0"/>
                <a:ea typeface="Calibri" pitchFamily="34" charset="-122"/>
                <a:cs typeface="Calibri" pitchFamily="34" charset="-120"/>
              </a:rPr>
              <a:t>Skills tab</a:t>
            </a:r>
            <a:endParaRPr lang="en-US" sz="1150" dirty="0"/>
          </a:p>
        </p:txBody>
      </p:sp>
      <p:sp>
        <p:nvSpPr>
          <p:cNvPr id="24" name="Text 22"/>
          <p:cNvSpPr txBox="1"/>
          <p:nvPr/>
        </p:nvSpPr>
        <p:spPr>
          <a:xfrm>
            <a:off x="6355080" y="6053328"/>
            <a:ext cx="512064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Numbers from: </a:t>
            </a:r>
            <a:pPr indent="0" marL="0">
              <a:buNone/>
            </a:pPr>
            <a:r>
              <a:rPr lang="en-US" sz="1150" dirty="0">
                <a:solidFill>
                  <a:srgbClr val="15181D"/>
                </a:solidFill>
                <a:latin typeface="Calibri" pitchFamily="34" charset="0"/>
                <a:ea typeface="Calibri" pitchFamily="34" charset="-122"/>
                <a:cs typeface="Calibri" pitchFamily="34" charset="-120"/>
              </a:rPr>
              <a:t>Demo coverage figures. Job groups are Schwan's own career areas.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85800" y="475488"/>
            <a:ext cx="457200" cy="457200"/>
          </a:xfrm>
          <a:prstGeom prst="ellipse">
            <a:avLst/>
          </a:prstGeom>
          <a:solidFill>
            <a:srgbClr val="8E2B30"/>
          </a:solidFill>
          <a:ln/>
        </p:spPr>
      </p:sp>
      <p:sp>
        <p:nvSpPr>
          <p:cNvPr id="3" name="Text 1"/>
          <p:cNvSpPr txBox="1"/>
          <p:nvPr/>
        </p:nvSpPr>
        <p:spPr>
          <a:xfrm>
            <a:off x="685800" y="475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Q2</a:t>
            </a:r>
            <a:endParaRPr lang="en-US" sz="1400" dirty="0"/>
          </a:p>
        </p:txBody>
      </p:sp>
      <p:sp>
        <p:nvSpPr>
          <p:cNvPr id="4" name="Text 2"/>
          <p:cNvSpPr txBox="1"/>
          <p:nvPr/>
        </p:nvSpPr>
        <p:spPr>
          <a:xfrm>
            <a:off x="1344168" y="457200"/>
            <a:ext cx="10058400" cy="548640"/>
          </a:xfrm>
          <a:prstGeom prst="rect">
            <a:avLst/>
          </a:prstGeom>
          <a:noFill/>
          <a:ln/>
        </p:spPr>
        <p:txBody>
          <a:bodyPr wrap="square" lIns="0" tIns="0" rIns="0" bIns="0" rtlCol="0" anchor="ctr"/>
          <a:lstStyle/>
          <a:p>
            <a:pPr indent="0" marL="0">
              <a:buNone/>
            </a:pPr>
            <a:r>
              <a:rPr lang="en-US" sz="2100" b="1" dirty="0">
                <a:solidFill>
                  <a:srgbClr val="15181D"/>
                </a:solidFill>
                <a:latin typeface="Cambria" pitchFamily="34" charset="0"/>
                <a:ea typeface="Cambria" pitchFamily="34" charset="-122"/>
                <a:cs typeface="Cambria" pitchFamily="34" charset="-120"/>
              </a:rPr>
              <a:t>What skills will be needed to support future business and technology strategies?</a:t>
            </a:r>
            <a:endParaRPr lang="en-US" sz="2100" dirty="0"/>
          </a:p>
        </p:txBody>
      </p:sp>
      <p:sp>
        <p:nvSpPr>
          <p:cNvPr id="5" name="Text 3"/>
          <p:cNvSpPr txBox="1"/>
          <p:nvPr/>
        </p:nvSpPr>
        <p:spPr>
          <a:xfrm>
            <a:off x="685800" y="1234440"/>
            <a:ext cx="10789920" cy="457200"/>
          </a:xfrm>
          <a:prstGeom prst="rect">
            <a:avLst/>
          </a:prstGeom>
          <a:noFill/>
          <a:ln/>
        </p:spPr>
        <p:txBody>
          <a:bodyPr wrap="square" lIns="0" tIns="0" rIns="0" bIns="0" rtlCol="0" anchor="ctr"/>
          <a:lstStyle/>
          <a:p>
            <a:pPr indent="0" marL="0">
              <a:buNone/>
            </a:pPr>
            <a:r>
              <a:rPr lang="en-US" sz="1650" b="1" dirty="0">
                <a:solidFill>
                  <a:srgbClr val="8E2B30"/>
                </a:solidFill>
                <a:latin typeface="Calibri" pitchFamily="34" charset="0"/>
                <a:ea typeface="Calibri" pitchFamily="34" charset="-122"/>
                <a:cs typeface="Calibri" pitchFamily="34" charset="-120"/>
              </a:rPr>
              <a:t>5 skills with 2027 targets, each tied to something the company is actually doing.</a:t>
            </a:r>
            <a:endParaRPr lang="en-US" sz="1650" dirty="0"/>
          </a:p>
        </p:txBody>
      </p:sp>
      <p:sp>
        <p:nvSpPr>
          <p:cNvPr id="6" name="Shape 4"/>
          <p:cNvSpPr/>
          <p:nvPr/>
        </p:nvSpPr>
        <p:spPr>
          <a:xfrm>
            <a:off x="685800" y="2029968"/>
            <a:ext cx="10789920" cy="0"/>
          </a:xfrm>
          <a:prstGeom prst="line">
            <a:avLst/>
          </a:prstGeom>
          <a:noFill/>
          <a:ln w="12700">
            <a:solidFill>
              <a:srgbClr val="EEF0F3"/>
            </a:solidFill>
            <a:prstDash val="solid"/>
          </a:ln>
        </p:spPr>
      </p:sp>
      <p:sp>
        <p:nvSpPr>
          <p:cNvPr id="7" name="Text 5"/>
          <p:cNvSpPr txBox="1"/>
          <p:nvPr/>
        </p:nvSpPr>
        <p:spPr>
          <a:xfrm>
            <a:off x="685800" y="2103120"/>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Legal and compliance</a:t>
            </a:r>
            <a:endParaRPr lang="en-US" sz="1400" dirty="0"/>
          </a:p>
        </p:txBody>
      </p:sp>
      <p:sp>
        <p:nvSpPr>
          <p:cNvPr id="8" name="Text 6"/>
          <p:cNvSpPr txBox="1"/>
          <p:nvPr/>
        </p:nvSpPr>
        <p:spPr>
          <a:xfrm>
            <a:off x="3520440" y="2103120"/>
            <a:ext cx="1371600" cy="384048"/>
          </a:xfrm>
          <a:prstGeom prst="rect">
            <a:avLst/>
          </a:prstGeom>
          <a:noFill/>
          <a:ln/>
        </p:spPr>
        <p:txBody>
          <a:bodyPr wrap="square" lIns="0" tIns="0" rIns="0" bIns="0" rtlCol="0" anchor="ctr"/>
          <a:lstStyle/>
          <a:p>
            <a:pPr algn="l" indent="0" marL="0">
              <a:buNone/>
            </a:pPr>
            <a:r>
              <a:rPr lang="en-US" sz="1300" dirty="0">
                <a:solidFill>
                  <a:srgbClr val="6B7280"/>
                </a:solidFill>
                <a:latin typeface="Consolas" pitchFamily="34" charset="0"/>
                <a:ea typeface="Consolas" pitchFamily="34" charset="-122"/>
                <a:cs typeface="Consolas" pitchFamily="34" charset="-120"/>
              </a:rPr>
              <a:t>20 to 55</a:t>
            </a:r>
            <a:endParaRPr lang="en-US" sz="1300" dirty="0"/>
          </a:p>
        </p:txBody>
      </p:sp>
      <p:sp>
        <p:nvSpPr>
          <p:cNvPr id="9" name="Text 7"/>
          <p:cNvSpPr txBox="1"/>
          <p:nvPr/>
        </p:nvSpPr>
        <p:spPr>
          <a:xfrm>
            <a:off x="4983480" y="2103120"/>
            <a:ext cx="1097280" cy="384048"/>
          </a:xfrm>
          <a:prstGeom prst="rect">
            <a:avLst/>
          </a:prstGeom>
          <a:noFill/>
          <a:ln/>
        </p:spPr>
        <p:txBody>
          <a:bodyPr wrap="square" lIns="0" tIns="0" rIns="0" bIns="0" rtlCol="0" anchor="ctr"/>
          <a:lstStyle/>
          <a:p>
            <a:pPr algn="l" indent="0" marL="0">
              <a:buNone/>
            </a:pPr>
            <a:r>
              <a:rPr lang="en-US" sz="1300" dirty="0">
                <a:solidFill>
                  <a:srgbClr val="C4574B"/>
                </a:solidFill>
                <a:latin typeface="Consolas" pitchFamily="34" charset="0"/>
                <a:ea typeface="Consolas" pitchFamily="34" charset="-122"/>
                <a:cs typeface="Consolas" pitchFamily="34" charset="-120"/>
              </a:rPr>
              <a:t>+35 pts</a:t>
            </a:r>
            <a:endParaRPr lang="en-US" sz="1300" dirty="0"/>
          </a:p>
        </p:txBody>
      </p:sp>
      <p:sp>
        <p:nvSpPr>
          <p:cNvPr id="10" name="Text 8"/>
          <p:cNvSpPr txBox="1"/>
          <p:nvPr/>
        </p:nvSpPr>
        <p:spPr>
          <a:xfrm>
            <a:off x="6263640" y="2103120"/>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CJ CheilJedang integration adds labeling load</a:t>
            </a:r>
            <a:endParaRPr lang="en-US" sz="1400" dirty="0"/>
          </a:p>
        </p:txBody>
      </p:sp>
      <p:sp>
        <p:nvSpPr>
          <p:cNvPr id="11" name="Shape 9"/>
          <p:cNvSpPr/>
          <p:nvPr/>
        </p:nvSpPr>
        <p:spPr>
          <a:xfrm>
            <a:off x="685800" y="2505456"/>
            <a:ext cx="10789920" cy="0"/>
          </a:xfrm>
          <a:prstGeom prst="line">
            <a:avLst/>
          </a:prstGeom>
          <a:noFill/>
          <a:ln w="12700">
            <a:solidFill>
              <a:srgbClr val="EEF0F3"/>
            </a:solidFill>
            <a:prstDash val="solid"/>
          </a:ln>
        </p:spPr>
      </p:sp>
      <p:sp>
        <p:nvSpPr>
          <p:cNvPr id="12" name="Text 10"/>
          <p:cNvSpPr txBox="1"/>
          <p:nvPr/>
        </p:nvSpPr>
        <p:spPr>
          <a:xfrm>
            <a:off x="685800" y="2578608"/>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PLC and automation</a:t>
            </a:r>
            <a:endParaRPr lang="en-US" sz="1400" dirty="0"/>
          </a:p>
        </p:txBody>
      </p:sp>
      <p:sp>
        <p:nvSpPr>
          <p:cNvPr id="13" name="Text 11"/>
          <p:cNvSpPr txBox="1"/>
          <p:nvPr/>
        </p:nvSpPr>
        <p:spPr>
          <a:xfrm>
            <a:off x="3520440" y="2578608"/>
            <a:ext cx="1371600" cy="384048"/>
          </a:xfrm>
          <a:prstGeom prst="rect">
            <a:avLst/>
          </a:prstGeom>
          <a:noFill/>
          <a:ln/>
        </p:spPr>
        <p:txBody>
          <a:bodyPr wrap="square" lIns="0" tIns="0" rIns="0" bIns="0" rtlCol="0" anchor="ctr"/>
          <a:lstStyle/>
          <a:p>
            <a:pPr algn="l" indent="0" marL="0">
              <a:buNone/>
            </a:pPr>
            <a:r>
              <a:rPr lang="en-US" sz="1300" dirty="0">
                <a:solidFill>
                  <a:srgbClr val="6B7280"/>
                </a:solidFill>
                <a:latin typeface="Consolas" pitchFamily="34" charset="0"/>
                <a:ea typeface="Consolas" pitchFamily="34" charset="-122"/>
                <a:cs typeface="Consolas" pitchFamily="34" charset="-120"/>
              </a:rPr>
              <a:t>34 to 65</a:t>
            </a:r>
            <a:endParaRPr lang="en-US" sz="1300" dirty="0"/>
          </a:p>
        </p:txBody>
      </p:sp>
      <p:sp>
        <p:nvSpPr>
          <p:cNvPr id="14" name="Text 12"/>
          <p:cNvSpPr txBox="1"/>
          <p:nvPr/>
        </p:nvSpPr>
        <p:spPr>
          <a:xfrm>
            <a:off x="4983480" y="2578608"/>
            <a:ext cx="1097280" cy="384048"/>
          </a:xfrm>
          <a:prstGeom prst="rect">
            <a:avLst/>
          </a:prstGeom>
          <a:noFill/>
          <a:ln/>
        </p:spPr>
        <p:txBody>
          <a:bodyPr wrap="square" lIns="0" tIns="0" rIns="0" bIns="0" rtlCol="0" anchor="ctr"/>
          <a:lstStyle/>
          <a:p>
            <a:pPr algn="l" indent="0" marL="0">
              <a:buNone/>
            </a:pPr>
            <a:r>
              <a:rPr lang="en-US" sz="1300" dirty="0">
                <a:solidFill>
                  <a:srgbClr val="C4574B"/>
                </a:solidFill>
                <a:latin typeface="Consolas" pitchFamily="34" charset="0"/>
                <a:ea typeface="Consolas" pitchFamily="34" charset="-122"/>
                <a:cs typeface="Consolas" pitchFamily="34" charset="-120"/>
              </a:rPr>
              <a:t>+31 pts</a:t>
            </a:r>
            <a:endParaRPr lang="en-US" sz="1300" dirty="0"/>
          </a:p>
        </p:txBody>
      </p:sp>
      <p:sp>
        <p:nvSpPr>
          <p:cNvPr id="15" name="Text 13"/>
          <p:cNvSpPr txBox="1"/>
          <p:nvPr/>
        </p:nvSpPr>
        <p:spPr>
          <a:xfrm>
            <a:off x="6263640" y="2578608"/>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Sioux Falls plant opens 2027</a:t>
            </a:r>
            <a:endParaRPr lang="en-US" sz="1400" dirty="0"/>
          </a:p>
        </p:txBody>
      </p:sp>
      <p:sp>
        <p:nvSpPr>
          <p:cNvPr id="16" name="Shape 14"/>
          <p:cNvSpPr/>
          <p:nvPr/>
        </p:nvSpPr>
        <p:spPr>
          <a:xfrm>
            <a:off x="685800" y="2980944"/>
            <a:ext cx="10789920" cy="0"/>
          </a:xfrm>
          <a:prstGeom prst="line">
            <a:avLst/>
          </a:prstGeom>
          <a:noFill/>
          <a:ln w="12700">
            <a:solidFill>
              <a:srgbClr val="EEF0F3"/>
            </a:solidFill>
            <a:prstDash val="solid"/>
          </a:ln>
        </p:spPr>
      </p:sp>
      <p:sp>
        <p:nvSpPr>
          <p:cNvPr id="17" name="Text 15"/>
          <p:cNvSpPr txBox="1"/>
          <p:nvPr/>
        </p:nvSpPr>
        <p:spPr>
          <a:xfrm>
            <a:off x="685800" y="3054096"/>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Data analytics</a:t>
            </a:r>
            <a:endParaRPr lang="en-US" sz="1400" dirty="0"/>
          </a:p>
        </p:txBody>
      </p:sp>
      <p:sp>
        <p:nvSpPr>
          <p:cNvPr id="18" name="Text 16"/>
          <p:cNvSpPr txBox="1"/>
          <p:nvPr/>
        </p:nvSpPr>
        <p:spPr>
          <a:xfrm>
            <a:off x="3520440" y="3054096"/>
            <a:ext cx="1371600" cy="384048"/>
          </a:xfrm>
          <a:prstGeom prst="rect">
            <a:avLst/>
          </a:prstGeom>
          <a:noFill/>
          <a:ln/>
        </p:spPr>
        <p:txBody>
          <a:bodyPr wrap="square" lIns="0" tIns="0" rIns="0" bIns="0" rtlCol="0" anchor="ctr"/>
          <a:lstStyle/>
          <a:p>
            <a:pPr algn="l" indent="0" marL="0">
              <a:buNone/>
            </a:pPr>
            <a:r>
              <a:rPr lang="en-US" sz="1300" dirty="0">
                <a:solidFill>
                  <a:srgbClr val="6B7280"/>
                </a:solidFill>
                <a:latin typeface="Consolas" pitchFamily="34" charset="0"/>
                <a:ea typeface="Consolas" pitchFamily="34" charset="-122"/>
                <a:cs typeface="Consolas" pitchFamily="34" charset="-120"/>
              </a:rPr>
              <a:t>41 to 70</a:t>
            </a:r>
            <a:endParaRPr lang="en-US" sz="1300" dirty="0"/>
          </a:p>
        </p:txBody>
      </p:sp>
      <p:sp>
        <p:nvSpPr>
          <p:cNvPr id="19" name="Text 17"/>
          <p:cNvSpPr txBox="1"/>
          <p:nvPr/>
        </p:nvSpPr>
        <p:spPr>
          <a:xfrm>
            <a:off x="4983480" y="3054096"/>
            <a:ext cx="1097280" cy="384048"/>
          </a:xfrm>
          <a:prstGeom prst="rect">
            <a:avLst/>
          </a:prstGeom>
          <a:noFill/>
          <a:ln/>
        </p:spPr>
        <p:txBody>
          <a:bodyPr wrap="square" lIns="0" tIns="0" rIns="0" bIns="0" rtlCol="0" anchor="ctr"/>
          <a:lstStyle/>
          <a:p>
            <a:pPr algn="l" indent="0" marL="0">
              <a:buNone/>
            </a:pPr>
            <a:r>
              <a:rPr lang="en-US" sz="1300" dirty="0">
                <a:solidFill>
                  <a:srgbClr val="C4574B"/>
                </a:solidFill>
                <a:latin typeface="Consolas" pitchFamily="34" charset="0"/>
                <a:ea typeface="Consolas" pitchFamily="34" charset="-122"/>
                <a:cs typeface="Consolas" pitchFamily="34" charset="-120"/>
              </a:rPr>
              <a:t>+29 pts</a:t>
            </a:r>
            <a:endParaRPr lang="en-US" sz="1300" dirty="0"/>
          </a:p>
        </p:txBody>
      </p:sp>
      <p:sp>
        <p:nvSpPr>
          <p:cNvPr id="20" name="Text 18"/>
          <p:cNvSpPr txBox="1"/>
          <p:nvPr/>
        </p:nvSpPr>
        <p:spPr>
          <a:xfrm>
            <a:off x="6263640" y="3054096"/>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Demand forecasting rollout</a:t>
            </a:r>
            <a:endParaRPr lang="en-US" sz="1400" dirty="0"/>
          </a:p>
        </p:txBody>
      </p:sp>
      <p:sp>
        <p:nvSpPr>
          <p:cNvPr id="21" name="Shape 19"/>
          <p:cNvSpPr/>
          <p:nvPr/>
        </p:nvSpPr>
        <p:spPr>
          <a:xfrm>
            <a:off x="685800" y="3456432"/>
            <a:ext cx="10789920" cy="0"/>
          </a:xfrm>
          <a:prstGeom prst="line">
            <a:avLst/>
          </a:prstGeom>
          <a:noFill/>
          <a:ln w="12700">
            <a:solidFill>
              <a:srgbClr val="EEF0F3"/>
            </a:solidFill>
            <a:prstDash val="solid"/>
          </a:ln>
        </p:spPr>
      </p:sp>
      <p:sp>
        <p:nvSpPr>
          <p:cNvPr id="22" name="Text 20"/>
          <p:cNvSpPr txBox="1"/>
          <p:nvPr/>
        </p:nvSpPr>
        <p:spPr>
          <a:xfrm>
            <a:off x="685800" y="3529584"/>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Refrigeration and ammonia</a:t>
            </a:r>
            <a:endParaRPr lang="en-US" sz="1400" dirty="0"/>
          </a:p>
        </p:txBody>
      </p:sp>
      <p:sp>
        <p:nvSpPr>
          <p:cNvPr id="23" name="Text 21"/>
          <p:cNvSpPr txBox="1"/>
          <p:nvPr/>
        </p:nvSpPr>
        <p:spPr>
          <a:xfrm>
            <a:off x="3520440" y="3529584"/>
            <a:ext cx="1371600" cy="384048"/>
          </a:xfrm>
          <a:prstGeom prst="rect">
            <a:avLst/>
          </a:prstGeom>
          <a:noFill/>
          <a:ln/>
        </p:spPr>
        <p:txBody>
          <a:bodyPr wrap="square" lIns="0" tIns="0" rIns="0" bIns="0" rtlCol="0" anchor="ctr"/>
          <a:lstStyle/>
          <a:p>
            <a:pPr algn="l" indent="0" marL="0">
              <a:buNone/>
            </a:pPr>
            <a:r>
              <a:rPr lang="en-US" sz="1300" dirty="0">
                <a:solidFill>
                  <a:srgbClr val="6B7280"/>
                </a:solidFill>
                <a:latin typeface="Consolas" pitchFamily="34" charset="0"/>
                <a:ea typeface="Consolas" pitchFamily="34" charset="-122"/>
                <a:cs typeface="Consolas" pitchFamily="34" charset="-120"/>
              </a:rPr>
              <a:t>22 to 50</a:t>
            </a:r>
            <a:endParaRPr lang="en-US" sz="1300" dirty="0"/>
          </a:p>
        </p:txBody>
      </p:sp>
      <p:sp>
        <p:nvSpPr>
          <p:cNvPr id="24" name="Text 22"/>
          <p:cNvSpPr txBox="1"/>
          <p:nvPr/>
        </p:nvSpPr>
        <p:spPr>
          <a:xfrm>
            <a:off x="4983480" y="3529584"/>
            <a:ext cx="1097280" cy="384048"/>
          </a:xfrm>
          <a:prstGeom prst="rect">
            <a:avLst/>
          </a:prstGeom>
          <a:noFill/>
          <a:ln/>
        </p:spPr>
        <p:txBody>
          <a:bodyPr wrap="square" lIns="0" tIns="0" rIns="0" bIns="0" rtlCol="0" anchor="ctr"/>
          <a:lstStyle/>
          <a:p>
            <a:pPr algn="l" indent="0" marL="0">
              <a:buNone/>
            </a:pPr>
            <a:r>
              <a:rPr lang="en-US" sz="1300" dirty="0">
                <a:solidFill>
                  <a:srgbClr val="C4574B"/>
                </a:solidFill>
                <a:latin typeface="Consolas" pitchFamily="34" charset="0"/>
                <a:ea typeface="Consolas" pitchFamily="34" charset="-122"/>
                <a:cs typeface="Consolas" pitchFamily="34" charset="-120"/>
              </a:rPr>
              <a:t>+28 pts</a:t>
            </a:r>
            <a:endParaRPr lang="en-US" sz="1300" dirty="0"/>
          </a:p>
        </p:txBody>
      </p:sp>
      <p:sp>
        <p:nvSpPr>
          <p:cNvPr id="25" name="Text 23"/>
          <p:cNvSpPr txBox="1"/>
          <p:nvPr/>
        </p:nvSpPr>
        <p:spPr>
          <a:xfrm>
            <a:off x="6263640" y="3529584"/>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Frozen capacity expansion</a:t>
            </a:r>
            <a:endParaRPr lang="en-US" sz="1400" dirty="0"/>
          </a:p>
        </p:txBody>
      </p:sp>
      <p:sp>
        <p:nvSpPr>
          <p:cNvPr id="26" name="Shape 24"/>
          <p:cNvSpPr/>
          <p:nvPr/>
        </p:nvSpPr>
        <p:spPr>
          <a:xfrm>
            <a:off x="685800" y="3931920"/>
            <a:ext cx="10789920" cy="0"/>
          </a:xfrm>
          <a:prstGeom prst="line">
            <a:avLst/>
          </a:prstGeom>
          <a:noFill/>
          <a:ln w="12700">
            <a:solidFill>
              <a:srgbClr val="EEF0F3"/>
            </a:solidFill>
            <a:prstDash val="solid"/>
          </a:ln>
        </p:spPr>
      </p:sp>
      <p:sp>
        <p:nvSpPr>
          <p:cNvPr id="27" name="Text 25"/>
          <p:cNvSpPr txBox="1"/>
          <p:nvPr/>
        </p:nvSpPr>
        <p:spPr>
          <a:xfrm>
            <a:off x="685800" y="4005072"/>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Menu and culinary consulting</a:t>
            </a:r>
            <a:endParaRPr lang="en-US" sz="1400" dirty="0"/>
          </a:p>
        </p:txBody>
      </p:sp>
      <p:sp>
        <p:nvSpPr>
          <p:cNvPr id="28" name="Text 26"/>
          <p:cNvSpPr txBox="1"/>
          <p:nvPr/>
        </p:nvSpPr>
        <p:spPr>
          <a:xfrm>
            <a:off x="3520440" y="4005072"/>
            <a:ext cx="1371600" cy="384048"/>
          </a:xfrm>
          <a:prstGeom prst="rect">
            <a:avLst/>
          </a:prstGeom>
          <a:noFill/>
          <a:ln/>
        </p:spPr>
        <p:txBody>
          <a:bodyPr wrap="square" lIns="0" tIns="0" rIns="0" bIns="0" rtlCol="0" anchor="ctr"/>
          <a:lstStyle/>
          <a:p>
            <a:pPr algn="l" indent="0" marL="0">
              <a:buNone/>
            </a:pPr>
            <a:r>
              <a:rPr lang="en-US" sz="1300" dirty="0">
                <a:solidFill>
                  <a:srgbClr val="6B7280"/>
                </a:solidFill>
                <a:latin typeface="Consolas" pitchFamily="34" charset="0"/>
                <a:ea typeface="Consolas" pitchFamily="34" charset="-122"/>
                <a:cs typeface="Consolas" pitchFamily="34" charset="-120"/>
              </a:rPr>
              <a:t>29 to 55</a:t>
            </a:r>
            <a:endParaRPr lang="en-US" sz="1300" dirty="0"/>
          </a:p>
        </p:txBody>
      </p:sp>
      <p:sp>
        <p:nvSpPr>
          <p:cNvPr id="29" name="Text 27"/>
          <p:cNvSpPr txBox="1"/>
          <p:nvPr/>
        </p:nvSpPr>
        <p:spPr>
          <a:xfrm>
            <a:off x="4983480" y="4005072"/>
            <a:ext cx="1097280" cy="384048"/>
          </a:xfrm>
          <a:prstGeom prst="rect">
            <a:avLst/>
          </a:prstGeom>
          <a:noFill/>
          <a:ln/>
        </p:spPr>
        <p:txBody>
          <a:bodyPr wrap="square" lIns="0" tIns="0" rIns="0" bIns="0" rtlCol="0" anchor="ctr"/>
          <a:lstStyle/>
          <a:p>
            <a:pPr algn="l" indent="0" marL="0">
              <a:buNone/>
            </a:pPr>
            <a:r>
              <a:rPr lang="en-US" sz="1300" dirty="0">
                <a:solidFill>
                  <a:srgbClr val="C4574B"/>
                </a:solidFill>
                <a:latin typeface="Consolas" pitchFamily="34" charset="0"/>
                <a:ea typeface="Consolas" pitchFamily="34" charset="-122"/>
                <a:cs typeface="Consolas" pitchFamily="34" charset="-120"/>
              </a:rPr>
              <a:t>+26 pts</a:t>
            </a:r>
            <a:endParaRPr lang="en-US" sz="1300" dirty="0"/>
          </a:p>
        </p:txBody>
      </p:sp>
      <p:sp>
        <p:nvSpPr>
          <p:cNvPr id="30" name="Text 28"/>
          <p:cNvSpPr txBox="1"/>
          <p:nvPr/>
        </p:nvSpPr>
        <p:spPr>
          <a:xfrm>
            <a:off x="6263640" y="4005072"/>
            <a:ext cx="51206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K-12 and healthcare accounts</a:t>
            </a:r>
            <a:endParaRPr lang="en-US" sz="1400" dirty="0"/>
          </a:p>
        </p:txBody>
      </p:sp>
      <p:sp>
        <p:nvSpPr>
          <p:cNvPr id="31" name="Shape 29"/>
          <p:cNvSpPr/>
          <p:nvPr/>
        </p:nvSpPr>
        <p:spPr>
          <a:xfrm>
            <a:off x="685800" y="5943600"/>
            <a:ext cx="10789920" cy="0"/>
          </a:xfrm>
          <a:prstGeom prst="line">
            <a:avLst/>
          </a:prstGeom>
          <a:noFill/>
          <a:ln w="12700">
            <a:solidFill>
              <a:srgbClr val="E3E6EA"/>
            </a:solidFill>
            <a:prstDash val="solid"/>
          </a:ln>
        </p:spPr>
      </p:sp>
      <p:sp>
        <p:nvSpPr>
          <p:cNvPr id="32" name="Text 30"/>
          <p:cNvSpPr txBox="1"/>
          <p:nvPr/>
        </p:nvSpPr>
        <p:spPr>
          <a:xfrm>
            <a:off x="685800" y="6053328"/>
            <a:ext cx="548640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In the app: </a:t>
            </a:r>
            <a:pPr indent="0" marL="0">
              <a:buNone/>
            </a:pPr>
            <a:r>
              <a:rPr lang="en-US" sz="1150" dirty="0">
                <a:solidFill>
                  <a:srgbClr val="15181D"/>
                </a:solidFill>
                <a:latin typeface="Calibri" pitchFamily="34" charset="0"/>
                <a:ea typeface="Calibri" pitchFamily="34" charset="-122"/>
                <a:cs typeface="Calibri" pitchFamily="34" charset="-120"/>
              </a:rPr>
              <a:t>Future skills tab</a:t>
            </a:r>
            <a:endParaRPr lang="en-US" sz="1150" dirty="0"/>
          </a:p>
        </p:txBody>
      </p:sp>
      <p:sp>
        <p:nvSpPr>
          <p:cNvPr id="33" name="Text 31"/>
          <p:cNvSpPr txBox="1"/>
          <p:nvPr/>
        </p:nvSpPr>
        <p:spPr>
          <a:xfrm>
            <a:off x="6355080" y="6053328"/>
            <a:ext cx="512064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Numbers from: </a:t>
            </a:r>
            <a:pPr indent="0" marL="0">
              <a:buNone/>
            </a:pPr>
            <a:r>
              <a:rPr lang="en-US" sz="1150" dirty="0">
                <a:solidFill>
                  <a:srgbClr val="15181D"/>
                </a:solidFill>
                <a:latin typeface="Calibri" pitchFamily="34" charset="0"/>
                <a:ea typeface="Calibri" pitchFamily="34" charset="-122"/>
                <a:cs typeface="Calibri" pitchFamily="34" charset="-120"/>
              </a:rPr>
              <a:t>Demo targets. Drivers are sourced: Schwan's press release, CJ CheilJedang.</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685800" y="475488"/>
            <a:ext cx="457200" cy="457200"/>
          </a:xfrm>
          <a:prstGeom prst="ellipse">
            <a:avLst/>
          </a:prstGeom>
          <a:solidFill>
            <a:srgbClr val="8E2B30"/>
          </a:solidFill>
          <a:ln/>
        </p:spPr>
      </p:sp>
      <p:sp>
        <p:nvSpPr>
          <p:cNvPr id="3" name="Text 1"/>
          <p:cNvSpPr txBox="1"/>
          <p:nvPr/>
        </p:nvSpPr>
        <p:spPr>
          <a:xfrm>
            <a:off x="685800" y="475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Q3</a:t>
            </a:r>
            <a:endParaRPr lang="en-US" sz="1400" dirty="0"/>
          </a:p>
        </p:txBody>
      </p:sp>
      <p:sp>
        <p:nvSpPr>
          <p:cNvPr id="4" name="Text 2"/>
          <p:cNvSpPr txBox="1"/>
          <p:nvPr/>
        </p:nvSpPr>
        <p:spPr>
          <a:xfrm>
            <a:off x="1344168" y="457200"/>
            <a:ext cx="10058400" cy="548640"/>
          </a:xfrm>
          <a:prstGeom prst="rect">
            <a:avLst/>
          </a:prstGeom>
          <a:noFill/>
          <a:ln/>
        </p:spPr>
        <p:txBody>
          <a:bodyPr wrap="square" lIns="0" tIns="0" rIns="0" bIns="0" rtlCol="0" anchor="ctr"/>
          <a:lstStyle/>
          <a:p>
            <a:pPr indent="0" marL="0">
              <a:buNone/>
            </a:pPr>
            <a:r>
              <a:rPr lang="en-US" sz="2100" b="1" dirty="0">
                <a:solidFill>
                  <a:srgbClr val="15181D"/>
                </a:solidFill>
                <a:latin typeface="Cambria" pitchFamily="34" charset="0"/>
                <a:ea typeface="Cambria" pitchFamily="34" charset="-122"/>
                <a:cs typeface="Cambria" pitchFamily="34" charset="-120"/>
              </a:rPr>
              <a:t>Which critical skills are concentrated in only a few individuals?</a:t>
            </a:r>
            <a:endParaRPr lang="en-US" sz="2100" dirty="0"/>
          </a:p>
        </p:txBody>
      </p:sp>
      <p:sp>
        <p:nvSpPr>
          <p:cNvPr id="5" name="Text 3"/>
          <p:cNvSpPr txBox="1"/>
          <p:nvPr/>
        </p:nvSpPr>
        <p:spPr>
          <a:xfrm>
            <a:off x="685800" y="1234440"/>
            <a:ext cx="10789920" cy="457200"/>
          </a:xfrm>
          <a:prstGeom prst="rect">
            <a:avLst/>
          </a:prstGeom>
          <a:noFill/>
          <a:ln/>
        </p:spPr>
        <p:txBody>
          <a:bodyPr wrap="square" lIns="0" tIns="0" rIns="0" bIns="0" rtlCol="0" anchor="ctr"/>
          <a:lstStyle/>
          <a:p>
            <a:pPr indent="0" marL="0">
              <a:buNone/>
            </a:pPr>
            <a:r>
              <a:rPr lang="en-US" sz="1650" b="1" dirty="0">
                <a:solidFill>
                  <a:srgbClr val="8E2B30"/>
                </a:solidFill>
                <a:latin typeface="Calibri" pitchFamily="34" charset="0"/>
                <a:ea typeface="Calibri" pitchFamily="34" charset="-122"/>
                <a:cs typeface="Calibri" pitchFamily="34" charset="-120"/>
              </a:rPr>
              <a:t>6 skills are held by three people or fewer. One is held by a single person.</a:t>
            </a:r>
            <a:endParaRPr lang="en-US" sz="1650" dirty="0"/>
          </a:p>
        </p:txBody>
      </p:sp>
      <p:sp>
        <p:nvSpPr>
          <p:cNvPr id="6" name="Shape 4"/>
          <p:cNvSpPr/>
          <p:nvPr/>
        </p:nvSpPr>
        <p:spPr>
          <a:xfrm>
            <a:off x="685800" y="1984248"/>
            <a:ext cx="10789920" cy="0"/>
          </a:xfrm>
          <a:prstGeom prst="line">
            <a:avLst/>
          </a:prstGeom>
          <a:noFill/>
          <a:ln w="12700">
            <a:solidFill>
              <a:srgbClr val="EEF0F3"/>
            </a:solidFill>
            <a:prstDash val="solid"/>
          </a:ln>
        </p:spPr>
      </p:sp>
      <p:sp>
        <p:nvSpPr>
          <p:cNvPr id="7" name="Text 5"/>
          <p:cNvSpPr txBox="1"/>
          <p:nvPr/>
        </p:nvSpPr>
        <p:spPr>
          <a:xfrm>
            <a:off x="685800" y="2057400"/>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R&amp;D, frozen dough</a:t>
            </a:r>
            <a:endParaRPr lang="en-US" sz="1400" dirty="0"/>
          </a:p>
        </p:txBody>
      </p:sp>
      <p:sp>
        <p:nvSpPr>
          <p:cNvPr id="8" name="Text 6"/>
          <p:cNvSpPr txBox="1"/>
          <p:nvPr/>
        </p:nvSpPr>
        <p:spPr>
          <a:xfrm>
            <a:off x="3520440" y="2057400"/>
            <a:ext cx="128016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1 person</a:t>
            </a:r>
            <a:endParaRPr lang="en-US" sz="1300" dirty="0"/>
          </a:p>
        </p:txBody>
      </p:sp>
      <p:sp>
        <p:nvSpPr>
          <p:cNvPr id="9" name="Text 7"/>
          <p:cNvSpPr txBox="1"/>
          <p:nvPr/>
        </p:nvSpPr>
        <p:spPr>
          <a:xfrm>
            <a:off x="4892040" y="2057400"/>
            <a:ext cx="164592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impact 4 of 5</a:t>
            </a:r>
            <a:endParaRPr lang="en-US" sz="1400" dirty="0"/>
          </a:p>
        </p:txBody>
      </p:sp>
      <p:sp>
        <p:nvSpPr>
          <p:cNvPr id="10" name="Text 8"/>
          <p:cNvSpPr txBox="1"/>
          <p:nvPr/>
        </p:nvSpPr>
        <p:spPr>
          <a:xfrm>
            <a:off x="6720840" y="2057400"/>
            <a:ext cx="4663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Marshall, MN R&amp;D centre</a:t>
            </a:r>
            <a:endParaRPr lang="en-US" sz="1400" dirty="0"/>
          </a:p>
        </p:txBody>
      </p:sp>
      <p:sp>
        <p:nvSpPr>
          <p:cNvPr id="11" name="Shape 9"/>
          <p:cNvSpPr/>
          <p:nvPr/>
        </p:nvSpPr>
        <p:spPr>
          <a:xfrm>
            <a:off x="685800" y="2459736"/>
            <a:ext cx="10789920" cy="0"/>
          </a:xfrm>
          <a:prstGeom prst="line">
            <a:avLst/>
          </a:prstGeom>
          <a:noFill/>
          <a:ln w="12700">
            <a:solidFill>
              <a:srgbClr val="EEF0F3"/>
            </a:solidFill>
            <a:prstDash val="solid"/>
          </a:ln>
        </p:spPr>
      </p:sp>
      <p:sp>
        <p:nvSpPr>
          <p:cNvPr id="12" name="Text 10"/>
          <p:cNvSpPr txBox="1"/>
          <p:nvPr/>
        </p:nvSpPr>
        <p:spPr>
          <a:xfrm>
            <a:off x="685800" y="2532888"/>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Ammonia refrigeration</a:t>
            </a:r>
            <a:endParaRPr lang="en-US" sz="1400" dirty="0"/>
          </a:p>
        </p:txBody>
      </p:sp>
      <p:sp>
        <p:nvSpPr>
          <p:cNvPr id="13" name="Text 11"/>
          <p:cNvSpPr txBox="1"/>
          <p:nvPr/>
        </p:nvSpPr>
        <p:spPr>
          <a:xfrm>
            <a:off x="3520440" y="2532888"/>
            <a:ext cx="128016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2 people</a:t>
            </a:r>
            <a:endParaRPr lang="en-US" sz="1300" dirty="0"/>
          </a:p>
        </p:txBody>
      </p:sp>
      <p:sp>
        <p:nvSpPr>
          <p:cNvPr id="14" name="Text 12"/>
          <p:cNvSpPr txBox="1"/>
          <p:nvPr/>
        </p:nvSpPr>
        <p:spPr>
          <a:xfrm>
            <a:off x="4892040" y="2532888"/>
            <a:ext cx="164592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impact 5 of 5</a:t>
            </a:r>
            <a:endParaRPr lang="en-US" sz="1400" dirty="0"/>
          </a:p>
        </p:txBody>
      </p:sp>
      <p:sp>
        <p:nvSpPr>
          <p:cNvPr id="15" name="Text 13"/>
          <p:cNvSpPr txBox="1"/>
          <p:nvPr/>
        </p:nvSpPr>
        <p:spPr>
          <a:xfrm>
            <a:off x="6720840" y="2532888"/>
            <a:ext cx="4663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Marshall, MN ice cream plant</a:t>
            </a:r>
            <a:endParaRPr lang="en-US" sz="1400" dirty="0"/>
          </a:p>
        </p:txBody>
      </p:sp>
      <p:sp>
        <p:nvSpPr>
          <p:cNvPr id="16" name="Shape 14"/>
          <p:cNvSpPr/>
          <p:nvPr/>
        </p:nvSpPr>
        <p:spPr>
          <a:xfrm>
            <a:off x="685800" y="2935224"/>
            <a:ext cx="10789920" cy="0"/>
          </a:xfrm>
          <a:prstGeom prst="line">
            <a:avLst/>
          </a:prstGeom>
          <a:noFill/>
          <a:ln w="12700">
            <a:solidFill>
              <a:srgbClr val="EEF0F3"/>
            </a:solidFill>
            <a:prstDash val="solid"/>
          </a:ln>
        </p:spPr>
      </p:sp>
      <p:sp>
        <p:nvSpPr>
          <p:cNvPr id="17" name="Text 15"/>
          <p:cNvSpPr txBox="1"/>
          <p:nvPr/>
        </p:nvSpPr>
        <p:spPr>
          <a:xfrm>
            <a:off x="685800" y="3008376"/>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Food labeling rules</a:t>
            </a:r>
            <a:endParaRPr lang="en-US" sz="1400" dirty="0"/>
          </a:p>
        </p:txBody>
      </p:sp>
      <p:sp>
        <p:nvSpPr>
          <p:cNvPr id="18" name="Text 16"/>
          <p:cNvSpPr txBox="1"/>
          <p:nvPr/>
        </p:nvSpPr>
        <p:spPr>
          <a:xfrm>
            <a:off x="3520440" y="3008376"/>
            <a:ext cx="128016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2 people</a:t>
            </a:r>
            <a:endParaRPr lang="en-US" sz="1300" dirty="0"/>
          </a:p>
        </p:txBody>
      </p:sp>
      <p:sp>
        <p:nvSpPr>
          <p:cNvPr id="19" name="Text 17"/>
          <p:cNvSpPr txBox="1"/>
          <p:nvPr/>
        </p:nvSpPr>
        <p:spPr>
          <a:xfrm>
            <a:off x="4892040" y="3008376"/>
            <a:ext cx="164592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impact 5 of 5</a:t>
            </a:r>
            <a:endParaRPr lang="en-US" sz="1400" dirty="0"/>
          </a:p>
        </p:txBody>
      </p:sp>
      <p:sp>
        <p:nvSpPr>
          <p:cNvPr id="20" name="Text 18"/>
          <p:cNvSpPr txBox="1"/>
          <p:nvPr/>
        </p:nvSpPr>
        <p:spPr>
          <a:xfrm>
            <a:off x="6720840" y="3008376"/>
            <a:ext cx="4663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Hopkins, MN corporate</a:t>
            </a:r>
            <a:endParaRPr lang="en-US" sz="1400" dirty="0"/>
          </a:p>
        </p:txBody>
      </p:sp>
      <p:sp>
        <p:nvSpPr>
          <p:cNvPr id="21" name="Shape 19"/>
          <p:cNvSpPr/>
          <p:nvPr/>
        </p:nvSpPr>
        <p:spPr>
          <a:xfrm>
            <a:off x="685800" y="3410712"/>
            <a:ext cx="10789920" cy="0"/>
          </a:xfrm>
          <a:prstGeom prst="line">
            <a:avLst/>
          </a:prstGeom>
          <a:noFill/>
          <a:ln w="12700">
            <a:solidFill>
              <a:srgbClr val="EEF0F3"/>
            </a:solidFill>
            <a:prstDash val="solid"/>
          </a:ln>
        </p:spPr>
      </p:sp>
      <p:sp>
        <p:nvSpPr>
          <p:cNvPr id="22" name="Text 20"/>
          <p:cNvSpPr txBox="1"/>
          <p:nvPr/>
        </p:nvSpPr>
        <p:spPr>
          <a:xfrm>
            <a:off x="685800" y="3483864"/>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Salina line setup</a:t>
            </a:r>
            <a:endParaRPr lang="en-US" sz="1400" dirty="0"/>
          </a:p>
        </p:txBody>
      </p:sp>
      <p:sp>
        <p:nvSpPr>
          <p:cNvPr id="23" name="Text 21"/>
          <p:cNvSpPr txBox="1"/>
          <p:nvPr/>
        </p:nvSpPr>
        <p:spPr>
          <a:xfrm>
            <a:off x="3520440" y="3483864"/>
            <a:ext cx="128016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2 people</a:t>
            </a:r>
            <a:endParaRPr lang="en-US" sz="1300" dirty="0"/>
          </a:p>
        </p:txBody>
      </p:sp>
      <p:sp>
        <p:nvSpPr>
          <p:cNvPr id="24" name="Text 22"/>
          <p:cNvSpPr txBox="1"/>
          <p:nvPr/>
        </p:nvSpPr>
        <p:spPr>
          <a:xfrm>
            <a:off x="4892040" y="3483864"/>
            <a:ext cx="164592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impact 4 of 5</a:t>
            </a:r>
            <a:endParaRPr lang="en-US" sz="1400" dirty="0"/>
          </a:p>
        </p:txBody>
      </p:sp>
      <p:sp>
        <p:nvSpPr>
          <p:cNvPr id="25" name="Text 23"/>
          <p:cNvSpPr txBox="1"/>
          <p:nvPr/>
        </p:nvSpPr>
        <p:spPr>
          <a:xfrm>
            <a:off x="6720840" y="3483864"/>
            <a:ext cx="4663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Salina, KS pizza plant</a:t>
            </a:r>
            <a:endParaRPr lang="en-US" sz="1400" dirty="0"/>
          </a:p>
        </p:txBody>
      </p:sp>
      <p:sp>
        <p:nvSpPr>
          <p:cNvPr id="26" name="Shape 24"/>
          <p:cNvSpPr/>
          <p:nvPr/>
        </p:nvSpPr>
        <p:spPr>
          <a:xfrm>
            <a:off x="685800" y="3886200"/>
            <a:ext cx="10789920" cy="0"/>
          </a:xfrm>
          <a:prstGeom prst="line">
            <a:avLst/>
          </a:prstGeom>
          <a:noFill/>
          <a:ln w="12700">
            <a:solidFill>
              <a:srgbClr val="EEF0F3"/>
            </a:solidFill>
            <a:prstDash val="solid"/>
          </a:ln>
        </p:spPr>
      </p:sp>
      <p:sp>
        <p:nvSpPr>
          <p:cNvPr id="27" name="Text 25"/>
          <p:cNvSpPr txBox="1"/>
          <p:nvPr/>
        </p:nvSpPr>
        <p:spPr>
          <a:xfrm>
            <a:off x="685800" y="3959352"/>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PLC automation</a:t>
            </a:r>
            <a:endParaRPr lang="en-US" sz="1400" dirty="0"/>
          </a:p>
        </p:txBody>
      </p:sp>
      <p:sp>
        <p:nvSpPr>
          <p:cNvPr id="28" name="Text 26"/>
          <p:cNvSpPr txBox="1"/>
          <p:nvPr/>
        </p:nvSpPr>
        <p:spPr>
          <a:xfrm>
            <a:off x="3520440" y="3959352"/>
            <a:ext cx="128016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3 people</a:t>
            </a:r>
            <a:endParaRPr lang="en-US" sz="1300" dirty="0"/>
          </a:p>
        </p:txBody>
      </p:sp>
      <p:sp>
        <p:nvSpPr>
          <p:cNvPr id="29" name="Text 27"/>
          <p:cNvSpPr txBox="1"/>
          <p:nvPr/>
        </p:nvSpPr>
        <p:spPr>
          <a:xfrm>
            <a:off x="4892040" y="3959352"/>
            <a:ext cx="164592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impact 4 of 5</a:t>
            </a:r>
            <a:endParaRPr lang="en-US" sz="1400" dirty="0"/>
          </a:p>
        </p:txBody>
      </p:sp>
      <p:sp>
        <p:nvSpPr>
          <p:cNvPr id="30" name="Text 28"/>
          <p:cNvSpPr txBox="1"/>
          <p:nvPr/>
        </p:nvSpPr>
        <p:spPr>
          <a:xfrm>
            <a:off x="6720840" y="3959352"/>
            <a:ext cx="4663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Salina, KS pizza plant</a:t>
            </a:r>
            <a:endParaRPr lang="en-US" sz="1400" dirty="0"/>
          </a:p>
        </p:txBody>
      </p:sp>
      <p:sp>
        <p:nvSpPr>
          <p:cNvPr id="31" name="Shape 29"/>
          <p:cNvSpPr/>
          <p:nvPr/>
        </p:nvSpPr>
        <p:spPr>
          <a:xfrm>
            <a:off x="685800" y="4361688"/>
            <a:ext cx="10789920" cy="0"/>
          </a:xfrm>
          <a:prstGeom prst="line">
            <a:avLst/>
          </a:prstGeom>
          <a:noFill/>
          <a:ln w="12700">
            <a:solidFill>
              <a:srgbClr val="EEF0F3"/>
            </a:solidFill>
            <a:prstDash val="solid"/>
          </a:ln>
        </p:spPr>
      </p:sp>
      <p:sp>
        <p:nvSpPr>
          <p:cNvPr id="32" name="Text 30"/>
          <p:cNvSpPr txBox="1"/>
          <p:nvPr/>
        </p:nvSpPr>
        <p:spPr>
          <a:xfrm>
            <a:off x="685800" y="4434840"/>
            <a:ext cx="274320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Culinary consulting</a:t>
            </a:r>
            <a:endParaRPr lang="en-US" sz="1400" dirty="0"/>
          </a:p>
        </p:txBody>
      </p:sp>
      <p:sp>
        <p:nvSpPr>
          <p:cNvPr id="33" name="Text 31"/>
          <p:cNvSpPr txBox="1"/>
          <p:nvPr/>
        </p:nvSpPr>
        <p:spPr>
          <a:xfrm>
            <a:off x="3520440" y="4434840"/>
            <a:ext cx="128016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3 people</a:t>
            </a:r>
            <a:endParaRPr lang="en-US" sz="1300" dirty="0"/>
          </a:p>
        </p:txBody>
      </p:sp>
      <p:sp>
        <p:nvSpPr>
          <p:cNvPr id="34" name="Text 32"/>
          <p:cNvSpPr txBox="1"/>
          <p:nvPr/>
        </p:nvSpPr>
        <p:spPr>
          <a:xfrm>
            <a:off x="4892040" y="4434840"/>
            <a:ext cx="164592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impact 3 of 5</a:t>
            </a:r>
            <a:endParaRPr lang="en-US" sz="1400" dirty="0"/>
          </a:p>
        </p:txBody>
      </p:sp>
      <p:sp>
        <p:nvSpPr>
          <p:cNvPr id="35" name="Text 33"/>
          <p:cNvSpPr txBox="1"/>
          <p:nvPr/>
        </p:nvSpPr>
        <p:spPr>
          <a:xfrm>
            <a:off x="6720840" y="4434840"/>
            <a:ext cx="4663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Field, national</a:t>
            </a:r>
            <a:endParaRPr lang="en-US" sz="1400" dirty="0"/>
          </a:p>
        </p:txBody>
      </p:sp>
      <p:sp>
        <p:nvSpPr>
          <p:cNvPr id="36" name="Shape 34"/>
          <p:cNvSpPr/>
          <p:nvPr/>
        </p:nvSpPr>
        <p:spPr>
          <a:xfrm>
            <a:off x="685800" y="5943600"/>
            <a:ext cx="10789920" cy="0"/>
          </a:xfrm>
          <a:prstGeom prst="line">
            <a:avLst/>
          </a:prstGeom>
          <a:noFill/>
          <a:ln w="12700">
            <a:solidFill>
              <a:srgbClr val="E3E6EA"/>
            </a:solidFill>
            <a:prstDash val="solid"/>
          </a:ln>
        </p:spPr>
      </p:sp>
      <p:sp>
        <p:nvSpPr>
          <p:cNvPr id="37" name="Text 35"/>
          <p:cNvSpPr txBox="1"/>
          <p:nvPr/>
        </p:nvSpPr>
        <p:spPr>
          <a:xfrm>
            <a:off x="685800" y="6053328"/>
            <a:ext cx="548640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In the app: </a:t>
            </a:r>
            <a:pPr indent="0" marL="0">
              <a:buNone/>
            </a:pPr>
            <a:r>
              <a:rPr lang="en-US" sz="1150" dirty="0">
                <a:solidFill>
                  <a:srgbClr val="15181D"/>
                </a:solidFill>
                <a:latin typeface="Calibri" pitchFamily="34" charset="0"/>
                <a:ea typeface="Calibri" pitchFamily="34" charset="-122"/>
                <a:cs typeface="Calibri" pitchFamily="34" charset="-120"/>
              </a:rPr>
              <a:t>Succession risk tab</a:t>
            </a:r>
            <a:endParaRPr lang="en-US" sz="1150" dirty="0"/>
          </a:p>
        </p:txBody>
      </p:sp>
      <p:sp>
        <p:nvSpPr>
          <p:cNvPr id="38" name="Text 36"/>
          <p:cNvSpPr txBox="1"/>
          <p:nvPr/>
        </p:nvSpPr>
        <p:spPr>
          <a:xfrm>
            <a:off x="6355080" y="6053328"/>
            <a:ext cx="512064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Numbers from: </a:t>
            </a:r>
            <a:pPr indent="0" marL="0">
              <a:buNone/>
            </a:pPr>
            <a:r>
              <a:rPr lang="en-US" sz="1150" dirty="0">
                <a:solidFill>
                  <a:srgbClr val="15181D"/>
                </a:solidFill>
                <a:latin typeface="Calibri" pitchFamily="34" charset="0"/>
                <a:ea typeface="Calibri" pitchFamily="34" charset="-122"/>
                <a:cs typeface="Calibri" pitchFamily="34" charset="-120"/>
              </a:rPr>
              <a:t>Demo headcounts. The ammonia roster exists by law: OSHA 1910.119.</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85800" y="475488"/>
            <a:ext cx="457200" cy="457200"/>
          </a:xfrm>
          <a:prstGeom prst="ellipse">
            <a:avLst/>
          </a:prstGeom>
          <a:solidFill>
            <a:srgbClr val="8E2B30"/>
          </a:solidFill>
          <a:ln/>
        </p:spPr>
      </p:sp>
      <p:sp>
        <p:nvSpPr>
          <p:cNvPr id="3" name="Text 1"/>
          <p:cNvSpPr txBox="1"/>
          <p:nvPr/>
        </p:nvSpPr>
        <p:spPr>
          <a:xfrm>
            <a:off x="685800" y="475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Q4</a:t>
            </a:r>
            <a:endParaRPr lang="en-US" sz="1400" dirty="0"/>
          </a:p>
        </p:txBody>
      </p:sp>
      <p:sp>
        <p:nvSpPr>
          <p:cNvPr id="4" name="Text 2"/>
          <p:cNvSpPr txBox="1"/>
          <p:nvPr/>
        </p:nvSpPr>
        <p:spPr>
          <a:xfrm>
            <a:off x="1344168" y="457200"/>
            <a:ext cx="10058400" cy="548640"/>
          </a:xfrm>
          <a:prstGeom prst="rect">
            <a:avLst/>
          </a:prstGeom>
          <a:noFill/>
          <a:ln/>
        </p:spPr>
        <p:txBody>
          <a:bodyPr wrap="square" lIns="0" tIns="0" rIns="0" bIns="0" rtlCol="0" anchor="ctr"/>
          <a:lstStyle/>
          <a:p>
            <a:pPr indent="0" marL="0">
              <a:buNone/>
            </a:pPr>
            <a:r>
              <a:rPr lang="en-US" sz="2100" b="1" dirty="0">
                <a:solidFill>
                  <a:srgbClr val="15181D"/>
                </a:solidFill>
                <a:latin typeface="Cambria" pitchFamily="34" charset="0"/>
                <a:ea typeface="Cambria" pitchFamily="34" charset="-122"/>
                <a:cs typeface="Cambria" pitchFamily="34" charset="-120"/>
              </a:rPr>
              <a:t>Where are our greatest capability gaps and succession risks?</a:t>
            </a:r>
            <a:endParaRPr lang="en-US" sz="2100" dirty="0"/>
          </a:p>
        </p:txBody>
      </p:sp>
      <p:sp>
        <p:nvSpPr>
          <p:cNvPr id="5" name="Text 3"/>
          <p:cNvSpPr txBox="1"/>
          <p:nvPr/>
        </p:nvSpPr>
        <p:spPr>
          <a:xfrm>
            <a:off x="685800" y="1234440"/>
            <a:ext cx="10789920" cy="457200"/>
          </a:xfrm>
          <a:prstGeom prst="rect">
            <a:avLst/>
          </a:prstGeom>
          <a:noFill/>
          <a:ln/>
        </p:spPr>
        <p:txBody>
          <a:bodyPr wrap="square" lIns="0" tIns="0" rIns="0" bIns="0" rtlCol="0" anchor="ctr"/>
          <a:lstStyle/>
          <a:p>
            <a:pPr indent="0" marL="0">
              <a:buNone/>
            </a:pPr>
            <a:r>
              <a:rPr lang="en-US" sz="1650" b="1" dirty="0">
                <a:solidFill>
                  <a:srgbClr val="8E2B30"/>
                </a:solidFill>
                <a:latin typeface="Calibri" pitchFamily="34" charset="0"/>
                <a:ea typeface="Calibri" pitchFamily="34" charset="-122"/>
                <a:cs typeface="Calibri" pitchFamily="34" charset="-120"/>
              </a:rPr>
              <a:t>7 skills under 40 percent, and a ranked order of work across both.</a:t>
            </a:r>
            <a:endParaRPr lang="en-US" sz="1650" dirty="0"/>
          </a:p>
        </p:txBody>
      </p:sp>
      <p:sp>
        <p:nvSpPr>
          <p:cNvPr id="6" name="Text 4"/>
          <p:cNvSpPr txBox="1"/>
          <p:nvPr/>
        </p:nvSpPr>
        <p:spPr>
          <a:xfrm>
            <a:off x="685800" y="1755648"/>
            <a:ext cx="10515600" cy="45720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Every at-risk skill is scored on three things and sorted. This is the part most dashboards leave to the reader.</a:t>
            </a:r>
            <a:endParaRPr lang="en-US" sz="1400" dirty="0"/>
          </a:p>
        </p:txBody>
      </p:sp>
      <p:sp>
        <p:nvSpPr>
          <p:cNvPr id="7" name="Shape 5"/>
          <p:cNvSpPr/>
          <p:nvPr/>
        </p:nvSpPr>
        <p:spPr>
          <a:xfrm>
            <a:off x="685800" y="2423160"/>
            <a:ext cx="3383280" cy="640080"/>
          </a:xfrm>
          <a:prstGeom prst="roundRect">
            <a:avLst>
              <a:gd name="adj" fmla="val 8571"/>
            </a:avLst>
          </a:prstGeom>
          <a:solidFill>
            <a:srgbClr val="8E2B30"/>
          </a:solidFill>
          <a:ln/>
        </p:spPr>
      </p:sp>
      <p:sp>
        <p:nvSpPr>
          <p:cNvPr id="8" name="Text 6"/>
          <p:cNvSpPr txBox="1"/>
          <p:nvPr/>
        </p:nvSpPr>
        <p:spPr>
          <a:xfrm>
            <a:off x="886968" y="2569464"/>
            <a:ext cx="301752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1. R&amp;D, frozen dough</a:t>
            </a:r>
            <a:endParaRPr lang="en-US" sz="1450" dirty="0"/>
          </a:p>
        </p:txBody>
      </p:sp>
      <p:sp>
        <p:nvSpPr>
          <p:cNvPr id="9" name="Shape 7"/>
          <p:cNvSpPr/>
          <p:nvPr/>
        </p:nvSpPr>
        <p:spPr>
          <a:xfrm>
            <a:off x="4343400" y="2423160"/>
            <a:ext cx="3383280" cy="640080"/>
          </a:xfrm>
          <a:prstGeom prst="roundRect">
            <a:avLst>
              <a:gd name="adj" fmla="val 8571"/>
            </a:avLst>
          </a:prstGeom>
          <a:solidFill>
            <a:srgbClr val="F4F5F7"/>
          </a:solidFill>
          <a:ln/>
        </p:spPr>
      </p:sp>
      <p:sp>
        <p:nvSpPr>
          <p:cNvPr id="10" name="Text 8"/>
          <p:cNvSpPr txBox="1"/>
          <p:nvPr/>
        </p:nvSpPr>
        <p:spPr>
          <a:xfrm>
            <a:off x="4544568" y="2569464"/>
            <a:ext cx="3017520" cy="365760"/>
          </a:xfrm>
          <a:prstGeom prst="rect">
            <a:avLst/>
          </a:prstGeom>
          <a:noFill/>
          <a:ln/>
        </p:spPr>
        <p:txBody>
          <a:bodyPr wrap="square" lIns="0" tIns="0" rIns="0" bIns="0" rtlCol="0" anchor="ctr"/>
          <a:lstStyle/>
          <a:p>
            <a:pPr indent="0" marL="0">
              <a:buNone/>
            </a:pPr>
            <a:r>
              <a:rPr lang="en-US" sz="1450" dirty="0">
                <a:solidFill>
                  <a:srgbClr val="15181D"/>
                </a:solidFill>
                <a:latin typeface="Calibri" pitchFamily="34" charset="0"/>
                <a:ea typeface="Calibri" pitchFamily="34" charset="-122"/>
                <a:cs typeface="Calibri" pitchFamily="34" charset="-120"/>
              </a:rPr>
              <a:t>2. Food labeling</a:t>
            </a:r>
            <a:endParaRPr lang="en-US" sz="1450" dirty="0"/>
          </a:p>
        </p:txBody>
      </p:sp>
      <p:sp>
        <p:nvSpPr>
          <p:cNvPr id="11" name="Shape 9"/>
          <p:cNvSpPr/>
          <p:nvPr/>
        </p:nvSpPr>
        <p:spPr>
          <a:xfrm>
            <a:off x="8001000" y="2423160"/>
            <a:ext cx="3383280" cy="640080"/>
          </a:xfrm>
          <a:prstGeom prst="roundRect">
            <a:avLst>
              <a:gd name="adj" fmla="val 8571"/>
            </a:avLst>
          </a:prstGeom>
          <a:solidFill>
            <a:srgbClr val="F4F5F7"/>
          </a:solidFill>
          <a:ln/>
        </p:spPr>
      </p:sp>
      <p:sp>
        <p:nvSpPr>
          <p:cNvPr id="12" name="Text 10"/>
          <p:cNvSpPr txBox="1"/>
          <p:nvPr/>
        </p:nvSpPr>
        <p:spPr>
          <a:xfrm>
            <a:off x="8202168" y="2569464"/>
            <a:ext cx="3017520" cy="365760"/>
          </a:xfrm>
          <a:prstGeom prst="rect">
            <a:avLst/>
          </a:prstGeom>
          <a:noFill/>
          <a:ln/>
        </p:spPr>
        <p:txBody>
          <a:bodyPr wrap="square" lIns="0" tIns="0" rIns="0" bIns="0" rtlCol="0" anchor="ctr"/>
          <a:lstStyle/>
          <a:p>
            <a:pPr indent="0" marL="0">
              <a:buNone/>
            </a:pPr>
            <a:r>
              <a:rPr lang="en-US" sz="1450" dirty="0">
                <a:solidFill>
                  <a:srgbClr val="15181D"/>
                </a:solidFill>
                <a:latin typeface="Calibri" pitchFamily="34" charset="0"/>
                <a:ea typeface="Calibri" pitchFamily="34" charset="-122"/>
                <a:cs typeface="Calibri" pitchFamily="34" charset="-120"/>
              </a:rPr>
              <a:t>3. Ammonia refrigeration</a:t>
            </a:r>
            <a:endParaRPr lang="en-US" sz="1450" dirty="0"/>
          </a:p>
        </p:txBody>
      </p:sp>
      <p:sp>
        <p:nvSpPr>
          <p:cNvPr id="13" name="Shape 11"/>
          <p:cNvSpPr/>
          <p:nvPr/>
        </p:nvSpPr>
        <p:spPr>
          <a:xfrm>
            <a:off x="685800" y="3291840"/>
            <a:ext cx="3383280" cy="640080"/>
          </a:xfrm>
          <a:prstGeom prst="roundRect">
            <a:avLst>
              <a:gd name="adj" fmla="val 8571"/>
            </a:avLst>
          </a:prstGeom>
          <a:solidFill>
            <a:srgbClr val="F4F5F7"/>
          </a:solidFill>
          <a:ln/>
        </p:spPr>
      </p:sp>
      <p:sp>
        <p:nvSpPr>
          <p:cNvPr id="14" name="Text 12"/>
          <p:cNvSpPr txBox="1"/>
          <p:nvPr/>
        </p:nvSpPr>
        <p:spPr>
          <a:xfrm>
            <a:off x="886968" y="3438144"/>
            <a:ext cx="3017520" cy="365760"/>
          </a:xfrm>
          <a:prstGeom prst="rect">
            <a:avLst/>
          </a:prstGeom>
          <a:noFill/>
          <a:ln/>
        </p:spPr>
        <p:txBody>
          <a:bodyPr wrap="square" lIns="0" tIns="0" rIns="0" bIns="0" rtlCol="0" anchor="ctr"/>
          <a:lstStyle/>
          <a:p>
            <a:pPr indent="0" marL="0">
              <a:buNone/>
            </a:pPr>
            <a:r>
              <a:rPr lang="en-US" sz="1450" dirty="0">
                <a:solidFill>
                  <a:srgbClr val="15181D"/>
                </a:solidFill>
                <a:latin typeface="Calibri" pitchFamily="34" charset="0"/>
                <a:ea typeface="Calibri" pitchFamily="34" charset="-122"/>
                <a:cs typeface="Calibri" pitchFamily="34" charset="-120"/>
              </a:rPr>
              <a:t>4. Salina line setup</a:t>
            </a:r>
            <a:endParaRPr lang="en-US" sz="1450" dirty="0"/>
          </a:p>
        </p:txBody>
      </p:sp>
      <p:sp>
        <p:nvSpPr>
          <p:cNvPr id="15" name="Shape 13"/>
          <p:cNvSpPr/>
          <p:nvPr/>
        </p:nvSpPr>
        <p:spPr>
          <a:xfrm>
            <a:off x="4343400" y="3291840"/>
            <a:ext cx="3383280" cy="640080"/>
          </a:xfrm>
          <a:prstGeom prst="roundRect">
            <a:avLst>
              <a:gd name="adj" fmla="val 8571"/>
            </a:avLst>
          </a:prstGeom>
          <a:solidFill>
            <a:srgbClr val="F4F5F7"/>
          </a:solidFill>
          <a:ln/>
        </p:spPr>
      </p:sp>
      <p:sp>
        <p:nvSpPr>
          <p:cNvPr id="16" name="Text 14"/>
          <p:cNvSpPr txBox="1"/>
          <p:nvPr/>
        </p:nvSpPr>
        <p:spPr>
          <a:xfrm>
            <a:off x="4544568" y="3438144"/>
            <a:ext cx="3017520" cy="365760"/>
          </a:xfrm>
          <a:prstGeom prst="rect">
            <a:avLst/>
          </a:prstGeom>
          <a:noFill/>
          <a:ln/>
        </p:spPr>
        <p:txBody>
          <a:bodyPr wrap="square" lIns="0" tIns="0" rIns="0" bIns="0" rtlCol="0" anchor="ctr"/>
          <a:lstStyle/>
          <a:p>
            <a:pPr indent="0" marL="0">
              <a:buNone/>
            </a:pPr>
            <a:r>
              <a:rPr lang="en-US" sz="1450" dirty="0">
                <a:solidFill>
                  <a:srgbClr val="15181D"/>
                </a:solidFill>
                <a:latin typeface="Calibri" pitchFamily="34" charset="0"/>
                <a:ea typeface="Calibri" pitchFamily="34" charset="-122"/>
                <a:cs typeface="Calibri" pitchFamily="34" charset="-120"/>
              </a:rPr>
              <a:t>5. PLC automation</a:t>
            </a:r>
            <a:endParaRPr lang="en-US" sz="1450" dirty="0"/>
          </a:p>
        </p:txBody>
      </p:sp>
      <p:sp>
        <p:nvSpPr>
          <p:cNvPr id="17" name="Shape 15"/>
          <p:cNvSpPr/>
          <p:nvPr/>
        </p:nvSpPr>
        <p:spPr>
          <a:xfrm>
            <a:off x="8001000" y="3291840"/>
            <a:ext cx="3383280" cy="640080"/>
          </a:xfrm>
          <a:prstGeom prst="roundRect">
            <a:avLst>
              <a:gd name="adj" fmla="val 8571"/>
            </a:avLst>
          </a:prstGeom>
          <a:solidFill>
            <a:srgbClr val="F4F5F7"/>
          </a:solidFill>
          <a:ln/>
        </p:spPr>
      </p:sp>
      <p:sp>
        <p:nvSpPr>
          <p:cNvPr id="18" name="Text 16"/>
          <p:cNvSpPr txBox="1"/>
          <p:nvPr/>
        </p:nvSpPr>
        <p:spPr>
          <a:xfrm>
            <a:off x="8202168" y="3438144"/>
            <a:ext cx="3017520" cy="365760"/>
          </a:xfrm>
          <a:prstGeom prst="rect">
            <a:avLst/>
          </a:prstGeom>
          <a:noFill/>
          <a:ln/>
        </p:spPr>
        <p:txBody>
          <a:bodyPr wrap="square" lIns="0" tIns="0" rIns="0" bIns="0" rtlCol="0" anchor="ctr"/>
          <a:lstStyle/>
          <a:p>
            <a:pPr indent="0" marL="0">
              <a:buNone/>
            </a:pPr>
            <a:r>
              <a:rPr lang="en-US" sz="1450" dirty="0">
                <a:solidFill>
                  <a:srgbClr val="15181D"/>
                </a:solidFill>
                <a:latin typeface="Calibri" pitchFamily="34" charset="0"/>
                <a:ea typeface="Calibri" pitchFamily="34" charset="-122"/>
                <a:cs typeface="Calibri" pitchFamily="34" charset="-120"/>
              </a:rPr>
              <a:t>6. Culinary consulting</a:t>
            </a:r>
            <a:endParaRPr lang="en-US" sz="1450" dirty="0"/>
          </a:p>
        </p:txBody>
      </p:sp>
      <p:sp>
        <p:nvSpPr>
          <p:cNvPr id="19" name="Text 17"/>
          <p:cNvSpPr txBox="1"/>
          <p:nvPr/>
        </p:nvSpPr>
        <p:spPr>
          <a:xfrm>
            <a:off x="685800" y="4343400"/>
            <a:ext cx="10515600" cy="365760"/>
          </a:xfrm>
          <a:prstGeom prst="rect">
            <a:avLst/>
          </a:prstGeom>
          <a:noFill/>
          <a:ln/>
        </p:spPr>
        <p:txBody>
          <a:bodyPr wrap="square" lIns="0" tIns="0" rIns="0" bIns="0" rtlCol="0" anchor="ctr"/>
          <a:lstStyle/>
          <a:p>
            <a:pPr indent="0" marL="0">
              <a:buNone/>
            </a:pPr>
            <a:r>
              <a:rPr lang="en-US" sz="1250" dirty="0">
                <a:solidFill>
                  <a:srgbClr val="6B7280"/>
                </a:solidFill>
                <a:latin typeface="Consolas" pitchFamily="34" charset="0"/>
                <a:ea typeface="Consolas" pitchFamily="34" charset="-122"/>
                <a:cs typeface="Consolas" pitchFamily="34" charset="-120"/>
              </a:rPr>
              <a:t>Score = impact out of 5,  times scarcity as 3 divided by the number of holders,  times the size of the coverage gap.</a:t>
            </a:r>
            <a:endParaRPr lang="en-US" sz="1250" dirty="0"/>
          </a:p>
        </p:txBody>
      </p:sp>
      <p:sp>
        <p:nvSpPr>
          <p:cNvPr id="20" name="Text 18"/>
          <p:cNvSpPr txBox="1"/>
          <p:nvPr/>
        </p:nvSpPr>
        <p:spPr>
          <a:xfrm>
            <a:off x="685800" y="4800600"/>
            <a:ext cx="10515600" cy="365760"/>
          </a:xfrm>
          <a:prstGeom prst="rect">
            <a:avLst/>
          </a:prstGeom>
          <a:noFill/>
          <a:ln/>
        </p:spPr>
        <p:txBody>
          <a:bodyPr wrap="square" lIns="0" tIns="0" rIns="0" bIns="0" rtlCol="0" anchor="ctr"/>
          <a:lstStyle/>
          <a:p>
            <a:pPr indent="0" marL="0">
              <a:buNone/>
            </a:pPr>
            <a:r>
              <a:rPr lang="en-US" sz="1400" dirty="0">
                <a:solidFill>
                  <a:srgbClr val="15181D"/>
                </a:solidFill>
                <a:latin typeface="Calibri" pitchFamily="34" charset="0"/>
                <a:ea typeface="Calibri" pitchFamily="34" charset="-122"/>
                <a:cs typeface="Calibri" pitchFamily="34" charset="-120"/>
              </a:rPr>
              <a:t>Frozen dough wins because it is the only skill held by one person and it scores 4 of 5 on impact.</a:t>
            </a:r>
            <a:endParaRPr lang="en-US" sz="1400" dirty="0"/>
          </a:p>
        </p:txBody>
      </p:sp>
      <p:sp>
        <p:nvSpPr>
          <p:cNvPr id="21" name="Shape 19"/>
          <p:cNvSpPr/>
          <p:nvPr/>
        </p:nvSpPr>
        <p:spPr>
          <a:xfrm>
            <a:off x="685800" y="5943600"/>
            <a:ext cx="10789920" cy="0"/>
          </a:xfrm>
          <a:prstGeom prst="line">
            <a:avLst/>
          </a:prstGeom>
          <a:noFill/>
          <a:ln w="12700">
            <a:solidFill>
              <a:srgbClr val="E3E6EA"/>
            </a:solidFill>
            <a:prstDash val="solid"/>
          </a:ln>
        </p:spPr>
      </p:sp>
      <p:sp>
        <p:nvSpPr>
          <p:cNvPr id="22" name="Text 20"/>
          <p:cNvSpPr txBox="1"/>
          <p:nvPr/>
        </p:nvSpPr>
        <p:spPr>
          <a:xfrm>
            <a:off x="685800" y="6053328"/>
            <a:ext cx="548640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In the app: </a:t>
            </a:r>
            <a:pPr indent="0" marL="0">
              <a:buNone/>
            </a:pPr>
            <a:r>
              <a:rPr lang="en-US" sz="1150" dirty="0">
                <a:solidFill>
                  <a:srgbClr val="15181D"/>
                </a:solidFill>
                <a:latin typeface="Calibri" pitchFamily="34" charset="0"/>
                <a:ea typeface="Calibri" pitchFamily="34" charset="-122"/>
                <a:cs typeface="Calibri" pitchFamily="34" charset="-120"/>
              </a:rPr>
              <a:t>Overview tab, Do this first</a:t>
            </a:r>
            <a:endParaRPr lang="en-US" sz="1150" dirty="0"/>
          </a:p>
        </p:txBody>
      </p:sp>
      <p:sp>
        <p:nvSpPr>
          <p:cNvPr id="23" name="Text 21"/>
          <p:cNvSpPr txBox="1"/>
          <p:nvPr/>
        </p:nvSpPr>
        <p:spPr>
          <a:xfrm>
            <a:off x="6355080" y="6053328"/>
            <a:ext cx="512064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Numbers from: </a:t>
            </a:r>
            <a:pPr indent="0" marL="0">
              <a:buNone/>
            </a:pPr>
            <a:r>
              <a:rPr lang="en-US" sz="1150" dirty="0">
                <a:solidFill>
                  <a:srgbClr val="15181D"/>
                </a:solidFill>
                <a:latin typeface="Calibri" pitchFamily="34" charset="0"/>
                <a:ea typeface="Calibri" pitchFamily="34" charset="-122"/>
                <a:cs typeface="Calibri" pitchFamily="34" charset="-120"/>
              </a:rPr>
              <a:t>Demo inputs. The formula is shown on screen, not hidden.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685800" y="475488"/>
            <a:ext cx="457200" cy="457200"/>
          </a:xfrm>
          <a:prstGeom prst="ellipse">
            <a:avLst/>
          </a:prstGeom>
          <a:solidFill>
            <a:srgbClr val="8E2B30"/>
          </a:solidFill>
          <a:ln/>
        </p:spPr>
      </p:sp>
      <p:sp>
        <p:nvSpPr>
          <p:cNvPr id="3" name="Text 1"/>
          <p:cNvSpPr txBox="1"/>
          <p:nvPr/>
        </p:nvSpPr>
        <p:spPr>
          <a:xfrm>
            <a:off x="685800" y="475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Q5</a:t>
            </a:r>
            <a:endParaRPr lang="en-US" sz="1400" dirty="0"/>
          </a:p>
        </p:txBody>
      </p:sp>
      <p:sp>
        <p:nvSpPr>
          <p:cNvPr id="4" name="Text 2"/>
          <p:cNvSpPr txBox="1"/>
          <p:nvPr/>
        </p:nvSpPr>
        <p:spPr>
          <a:xfrm>
            <a:off x="1344168" y="457200"/>
            <a:ext cx="10058400" cy="548640"/>
          </a:xfrm>
          <a:prstGeom prst="rect">
            <a:avLst/>
          </a:prstGeom>
          <a:noFill/>
          <a:ln/>
        </p:spPr>
        <p:txBody>
          <a:bodyPr wrap="square" lIns="0" tIns="0" rIns="0" bIns="0" rtlCol="0" anchor="ctr"/>
          <a:lstStyle/>
          <a:p>
            <a:pPr indent="0" marL="0">
              <a:buNone/>
            </a:pPr>
            <a:r>
              <a:rPr lang="en-US" sz="2100" b="1" dirty="0">
                <a:solidFill>
                  <a:srgbClr val="15181D"/>
                </a:solidFill>
                <a:latin typeface="Cambria" pitchFamily="34" charset="0"/>
                <a:ea typeface="Cambria" pitchFamily="34" charset="-122"/>
                <a:cs typeface="Cambria" pitchFamily="34" charset="-120"/>
              </a:rPr>
              <a:t>How can employees close skill gaps through training, mentoring, certifications, job rotations, or project experiences?</a:t>
            </a:r>
            <a:endParaRPr lang="en-US" sz="2100" dirty="0"/>
          </a:p>
        </p:txBody>
      </p:sp>
      <p:sp>
        <p:nvSpPr>
          <p:cNvPr id="5" name="Text 3"/>
          <p:cNvSpPr txBox="1"/>
          <p:nvPr/>
        </p:nvSpPr>
        <p:spPr>
          <a:xfrm>
            <a:off x="685800" y="1371600"/>
            <a:ext cx="10789920" cy="457200"/>
          </a:xfrm>
          <a:prstGeom prst="rect">
            <a:avLst/>
          </a:prstGeom>
          <a:noFill/>
          <a:ln/>
        </p:spPr>
        <p:txBody>
          <a:bodyPr wrap="square" lIns="0" tIns="0" rIns="0" bIns="0" rtlCol="0" anchor="ctr"/>
          <a:lstStyle/>
          <a:p>
            <a:pPr indent="0" marL="0">
              <a:buNone/>
            </a:pPr>
            <a:r>
              <a:rPr lang="en-US" sz="1650" b="1" dirty="0">
                <a:solidFill>
                  <a:srgbClr val="8E2B30"/>
                </a:solidFill>
                <a:latin typeface="Calibri" pitchFamily="34" charset="0"/>
                <a:ea typeface="Calibri" pitchFamily="34" charset="-122"/>
                <a:cs typeface="Calibri" pitchFamily="34" charset="-120"/>
              </a:rPr>
              <a:t>10 first steps and 16 backup options, covering all five methods the prompt names.</a:t>
            </a:r>
            <a:endParaRPr lang="en-US" sz="1650" dirty="0"/>
          </a:p>
        </p:txBody>
      </p:sp>
      <p:sp>
        <p:nvSpPr>
          <p:cNvPr id="6" name="Shape 4"/>
          <p:cNvSpPr/>
          <p:nvPr/>
        </p:nvSpPr>
        <p:spPr>
          <a:xfrm>
            <a:off x="685800" y="2075688"/>
            <a:ext cx="10789920" cy="0"/>
          </a:xfrm>
          <a:prstGeom prst="line">
            <a:avLst/>
          </a:prstGeom>
          <a:noFill/>
          <a:ln w="12700">
            <a:solidFill>
              <a:srgbClr val="EEF0F3"/>
            </a:solidFill>
            <a:prstDash val="solid"/>
          </a:ln>
        </p:spPr>
      </p:sp>
      <p:sp>
        <p:nvSpPr>
          <p:cNvPr id="7" name="Text 5"/>
          <p:cNvSpPr txBox="1"/>
          <p:nvPr/>
        </p:nvSpPr>
        <p:spPr>
          <a:xfrm>
            <a:off x="685800" y="2148840"/>
            <a:ext cx="237744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Training</a:t>
            </a:r>
            <a:endParaRPr lang="en-US" sz="1400" dirty="0"/>
          </a:p>
        </p:txBody>
      </p:sp>
      <p:sp>
        <p:nvSpPr>
          <p:cNvPr id="8" name="Text 6"/>
          <p:cNvSpPr txBox="1"/>
          <p:nvPr/>
        </p:nvSpPr>
        <p:spPr>
          <a:xfrm>
            <a:off x="3154680" y="2148840"/>
            <a:ext cx="109728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8 uses</a:t>
            </a:r>
            <a:endParaRPr lang="en-US" sz="1300" dirty="0"/>
          </a:p>
        </p:txBody>
      </p:sp>
      <p:sp>
        <p:nvSpPr>
          <p:cNvPr id="9" name="Text 7"/>
          <p:cNvSpPr txBox="1"/>
          <p:nvPr/>
        </p:nvSpPr>
        <p:spPr>
          <a:xfrm>
            <a:off x="4434840" y="2148840"/>
            <a:ext cx="6949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Vendor-led PLC course, labeling workshop, analytics bootcamp</a:t>
            </a:r>
            <a:endParaRPr lang="en-US" sz="1400" dirty="0"/>
          </a:p>
        </p:txBody>
      </p:sp>
      <p:sp>
        <p:nvSpPr>
          <p:cNvPr id="10" name="Shape 8"/>
          <p:cNvSpPr/>
          <p:nvPr/>
        </p:nvSpPr>
        <p:spPr>
          <a:xfrm>
            <a:off x="685800" y="2551176"/>
            <a:ext cx="10789920" cy="0"/>
          </a:xfrm>
          <a:prstGeom prst="line">
            <a:avLst/>
          </a:prstGeom>
          <a:noFill/>
          <a:ln w="12700">
            <a:solidFill>
              <a:srgbClr val="EEF0F3"/>
            </a:solidFill>
            <a:prstDash val="solid"/>
          </a:ln>
        </p:spPr>
      </p:sp>
      <p:sp>
        <p:nvSpPr>
          <p:cNvPr id="11" name="Text 9"/>
          <p:cNvSpPr txBox="1"/>
          <p:nvPr/>
        </p:nvSpPr>
        <p:spPr>
          <a:xfrm>
            <a:off x="685800" y="2624328"/>
            <a:ext cx="237744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Mentoring</a:t>
            </a:r>
            <a:endParaRPr lang="en-US" sz="1400" dirty="0"/>
          </a:p>
        </p:txBody>
      </p:sp>
      <p:sp>
        <p:nvSpPr>
          <p:cNvPr id="12" name="Text 10"/>
          <p:cNvSpPr txBox="1"/>
          <p:nvPr/>
        </p:nvSpPr>
        <p:spPr>
          <a:xfrm>
            <a:off x="3154680" y="2624328"/>
            <a:ext cx="109728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6 uses</a:t>
            </a:r>
            <a:endParaRPr lang="en-US" sz="1300" dirty="0"/>
          </a:p>
        </p:txBody>
      </p:sp>
      <p:sp>
        <p:nvSpPr>
          <p:cNvPr id="13" name="Text 11"/>
          <p:cNvSpPr txBox="1"/>
          <p:nvPr/>
        </p:nvSpPr>
        <p:spPr>
          <a:xfrm>
            <a:off x="4434840" y="2624328"/>
            <a:ext cx="6949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Pair the single expert with two mentees, apprentice each certified tech</a:t>
            </a:r>
            <a:endParaRPr lang="en-US" sz="1400" dirty="0"/>
          </a:p>
        </p:txBody>
      </p:sp>
      <p:sp>
        <p:nvSpPr>
          <p:cNvPr id="14" name="Shape 12"/>
          <p:cNvSpPr/>
          <p:nvPr/>
        </p:nvSpPr>
        <p:spPr>
          <a:xfrm>
            <a:off x="685800" y="3026664"/>
            <a:ext cx="10789920" cy="0"/>
          </a:xfrm>
          <a:prstGeom prst="line">
            <a:avLst/>
          </a:prstGeom>
          <a:noFill/>
          <a:ln w="12700">
            <a:solidFill>
              <a:srgbClr val="EEF0F3"/>
            </a:solidFill>
            <a:prstDash val="solid"/>
          </a:ln>
        </p:spPr>
      </p:sp>
      <p:sp>
        <p:nvSpPr>
          <p:cNvPr id="15" name="Text 13"/>
          <p:cNvSpPr txBox="1"/>
          <p:nvPr/>
        </p:nvSpPr>
        <p:spPr>
          <a:xfrm>
            <a:off x="685800" y="3099816"/>
            <a:ext cx="237744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Project experience</a:t>
            </a:r>
            <a:endParaRPr lang="en-US" sz="1400" dirty="0"/>
          </a:p>
        </p:txBody>
      </p:sp>
      <p:sp>
        <p:nvSpPr>
          <p:cNvPr id="16" name="Text 14"/>
          <p:cNvSpPr txBox="1"/>
          <p:nvPr/>
        </p:nvSpPr>
        <p:spPr>
          <a:xfrm>
            <a:off x="3154680" y="3099816"/>
            <a:ext cx="109728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5 uses</a:t>
            </a:r>
            <a:endParaRPr lang="en-US" sz="1300" dirty="0"/>
          </a:p>
        </p:txBody>
      </p:sp>
      <p:sp>
        <p:nvSpPr>
          <p:cNvPr id="17" name="Text 15"/>
          <p:cNvSpPr txBox="1"/>
          <p:nvPr/>
        </p:nvSpPr>
        <p:spPr>
          <a:xfrm>
            <a:off x="4434840" y="3099816"/>
            <a:ext cx="6949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Put two techs on the Sioux Falls commissioning team</a:t>
            </a:r>
            <a:endParaRPr lang="en-US" sz="1400" dirty="0"/>
          </a:p>
        </p:txBody>
      </p:sp>
      <p:sp>
        <p:nvSpPr>
          <p:cNvPr id="18" name="Shape 16"/>
          <p:cNvSpPr/>
          <p:nvPr/>
        </p:nvSpPr>
        <p:spPr>
          <a:xfrm>
            <a:off x="685800" y="3502152"/>
            <a:ext cx="10789920" cy="0"/>
          </a:xfrm>
          <a:prstGeom prst="line">
            <a:avLst/>
          </a:prstGeom>
          <a:noFill/>
          <a:ln w="12700">
            <a:solidFill>
              <a:srgbClr val="EEF0F3"/>
            </a:solidFill>
            <a:prstDash val="solid"/>
          </a:ln>
        </p:spPr>
      </p:sp>
      <p:sp>
        <p:nvSpPr>
          <p:cNvPr id="19" name="Text 17"/>
          <p:cNvSpPr txBox="1"/>
          <p:nvPr/>
        </p:nvSpPr>
        <p:spPr>
          <a:xfrm>
            <a:off x="685800" y="3575304"/>
            <a:ext cx="237744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Certification</a:t>
            </a:r>
            <a:endParaRPr lang="en-US" sz="1400" dirty="0"/>
          </a:p>
        </p:txBody>
      </p:sp>
      <p:sp>
        <p:nvSpPr>
          <p:cNvPr id="20" name="Text 18"/>
          <p:cNvSpPr txBox="1"/>
          <p:nvPr/>
        </p:nvSpPr>
        <p:spPr>
          <a:xfrm>
            <a:off x="3154680" y="3575304"/>
            <a:ext cx="109728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4 uses</a:t>
            </a:r>
            <a:endParaRPr lang="en-US" sz="1300" dirty="0"/>
          </a:p>
        </p:txBody>
      </p:sp>
      <p:sp>
        <p:nvSpPr>
          <p:cNvPr id="21" name="Text 19"/>
          <p:cNvSpPr txBox="1"/>
          <p:nvPr/>
        </p:nvSpPr>
        <p:spPr>
          <a:xfrm>
            <a:off x="4434840" y="3575304"/>
            <a:ext cx="6949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Sponsor RETA ammonia certification, Green Belt for supervisors</a:t>
            </a:r>
            <a:endParaRPr lang="en-US" sz="1400" dirty="0"/>
          </a:p>
        </p:txBody>
      </p:sp>
      <p:sp>
        <p:nvSpPr>
          <p:cNvPr id="22" name="Shape 20"/>
          <p:cNvSpPr/>
          <p:nvPr/>
        </p:nvSpPr>
        <p:spPr>
          <a:xfrm>
            <a:off x="685800" y="3977640"/>
            <a:ext cx="10789920" cy="0"/>
          </a:xfrm>
          <a:prstGeom prst="line">
            <a:avLst/>
          </a:prstGeom>
          <a:noFill/>
          <a:ln w="12700">
            <a:solidFill>
              <a:srgbClr val="EEF0F3"/>
            </a:solidFill>
            <a:prstDash val="solid"/>
          </a:ln>
        </p:spPr>
      </p:sp>
      <p:sp>
        <p:nvSpPr>
          <p:cNvPr id="23" name="Text 21"/>
          <p:cNvSpPr txBox="1"/>
          <p:nvPr/>
        </p:nvSpPr>
        <p:spPr>
          <a:xfrm>
            <a:off x="685800" y="4050792"/>
            <a:ext cx="2377440" cy="384048"/>
          </a:xfrm>
          <a:prstGeom prst="rect">
            <a:avLst/>
          </a:prstGeom>
          <a:noFill/>
          <a:ln/>
        </p:spPr>
        <p:txBody>
          <a:bodyPr wrap="square" lIns="0" tIns="0" rIns="0" bIns="0" rtlCol="0" anchor="ctr"/>
          <a:lstStyle/>
          <a:p>
            <a:pPr algn="l" indent="0" marL="0">
              <a:buNone/>
            </a:pPr>
            <a:r>
              <a:rPr lang="en-US" sz="1400" b="1" dirty="0">
                <a:solidFill>
                  <a:srgbClr val="15181D"/>
                </a:solidFill>
                <a:latin typeface="Calibri" pitchFamily="34" charset="0"/>
                <a:ea typeface="Calibri" pitchFamily="34" charset="-122"/>
                <a:cs typeface="Calibri" pitchFamily="34" charset="-120"/>
              </a:rPr>
              <a:t>Job rotation</a:t>
            </a:r>
            <a:endParaRPr lang="en-US" sz="1400" dirty="0"/>
          </a:p>
        </p:txBody>
      </p:sp>
      <p:sp>
        <p:nvSpPr>
          <p:cNvPr id="24" name="Text 22"/>
          <p:cNvSpPr txBox="1"/>
          <p:nvPr/>
        </p:nvSpPr>
        <p:spPr>
          <a:xfrm>
            <a:off x="3154680" y="4050792"/>
            <a:ext cx="1097280" cy="384048"/>
          </a:xfrm>
          <a:prstGeom prst="rect">
            <a:avLst/>
          </a:prstGeom>
          <a:noFill/>
          <a:ln/>
        </p:spPr>
        <p:txBody>
          <a:bodyPr wrap="square" lIns="0" tIns="0" rIns="0" bIns="0" rtlCol="0" anchor="ctr"/>
          <a:lstStyle/>
          <a:p>
            <a:pPr algn="l" indent="0" marL="0">
              <a:buNone/>
            </a:pPr>
            <a:r>
              <a:rPr lang="en-US" sz="1300" dirty="0">
                <a:solidFill>
                  <a:srgbClr val="8E2B30"/>
                </a:solidFill>
                <a:latin typeface="Consolas" pitchFamily="34" charset="0"/>
                <a:ea typeface="Consolas" pitchFamily="34" charset="-122"/>
                <a:cs typeface="Consolas" pitchFamily="34" charset="-120"/>
              </a:rPr>
              <a:t>3 uses</a:t>
            </a:r>
            <a:endParaRPr lang="en-US" sz="1300" dirty="0"/>
          </a:p>
        </p:txBody>
      </p:sp>
      <p:sp>
        <p:nvSpPr>
          <p:cNvPr id="25" name="Text 23"/>
          <p:cNvSpPr txBox="1"/>
          <p:nvPr/>
        </p:nvSpPr>
        <p:spPr>
          <a:xfrm>
            <a:off x="4434840" y="4050792"/>
            <a:ext cx="6949440" cy="384048"/>
          </a:xfrm>
          <a:prstGeom prst="rect">
            <a:avLst/>
          </a:prstGeom>
          <a:noFill/>
          <a:ln/>
        </p:spPr>
        <p:txBody>
          <a:bodyPr wrap="square" lIns="0" tIns="0" rIns="0" bIns="0" rtlCol="0" anchor="ctr"/>
          <a:lstStyle/>
          <a:p>
            <a:pPr algn="l" indent="0" marL="0">
              <a:buNone/>
            </a:pPr>
            <a:r>
              <a:rPr lang="en-US" sz="1400" dirty="0">
                <a:solidFill>
                  <a:srgbClr val="6B7280"/>
                </a:solidFill>
                <a:latin typeface="Calibri" pitchFamily="34" charset="0"/>
                <a:ea typeface="Calibri" pitchFamily="34" charset="-122"/>
                <a:cs typeface="Calibri" pitchFamily="34" charset="-120"/>
              </a:rPr>
              <a:t>Rotate techs through Salina's automation lines before Sioux Falls opens</a:t>
            </a:r>
            <a:endParaRPr lang="en-US" sz="1400" dirty="0"/>
          </a:p>
        </p:txBody>
      </p:sp>
      <p:sp>
        <p:nvSpPr>
          <p:cNvPr id="26" name="Text 24"/>
          <p:cNvSpPr txBox="1"/>
          <p:nvPr/>
        </p:nvSpPr>
        <p:spPr>
          <a:xfrm>
            <a:off x="685800" y="4846320"/>
            <a:ext cx="10515600" cy="731520"/>
          </a:xfrm>
          <a:prstGeom prst="rect">
            <a:avLst/>
          </a:prstGeom>
          <a:noFill/>
          <a:ln/>
        </p:spPr>
        <p:txBody>
          <a:bodyPr wrap="square" lIns="0" tIns="0" rIns="0" bIns="0" rtlCol="0" anchor="ctr"/>
          <a:lstStyle/>
          <a:p>
            <a:pPr indent="0" marL="0">
              <a:lnSpc>
                <a:spcPct val="120000"/>
              </a:lnSpc>
              <a:buNone/>
            </a:pPr>
            <a:r>
              <a:rPr lang="en-US" sz="1400" dirty="0">
                <a:solidFill>
                  <a:srgbClr val="15181D"/>
                </a:solidFill>
                <a:latin typeface="Calibri" pitchFamily="34" charset="0"/>
                <a:ea typeface="Calibri" pitchFamily="34" charset="-122"/>
                <a:cs typeface="Calibri" pitchFamily="34" charset="-120"/>
              </a:rPr>
              <a:t>The Employee view answers it from the employee's side: three profiles, their own plans, and the same tick box the manager sees. Sam K. is one of two people who hold the ammonia certification, so his step is to pass it on.</a:t>
            </a:r>
            <a:endParaRPr lang="en-US" sz="1400" dirty="0"/>
          </a:p>
        </p:txBody>
      </p:sp>
      <p:sp>
        <p:nvSpPr>
          <p:cNvPr id="27" name="Shape 25"/>
          <p:cNvSpPr/>
          <p:nvPr/>
        </p:nvSpPr>
        <p:spPr>
          <a:xfrm>
            <a:off x="685800" y="5943600"/>
            <a:ext cx="10789920" cy="0"/>
          </a:xfrm>
          <a:prstGeom prst="line">
            <a:avLst/>
          </a:prstGeom>
          <a:noFill/>
          <a:ln w="12700">
            <a:solidFill>
              <a:srgbClr val="E3E6EA"/>
            </a:solidFill>
            <a:prstDash val="solid"/>
          </a:ln>
        </p:spPr>
      </p:sp>
      <p:sp>
        <p:nvSpPr>
          <p:cNvPr id="28" name="Text 26"/>
          <p:cNvSpPr txBox="1"/>
          <p:nvPr/>
        </p:nvSpPr>
        <p:spPr>
          <a:xfrm>
            <a:off x="685800" y="6053328"/>
            <a:ext cx="548640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In the app: </a:t>
            </a:r>
            <a:pPr indent="0" marL="0">
              <a:buNone/>
            </a:pPr>
            <a:r>
              <a:rPr lang="en-US" sz="1150" dirty="0">
                <a:solidFill>
                  <a:srgbClr val="15181D"/>
                </a:solidFill>
                <a:latin typeface="Calibri" pitchFamily="34" charset="0"/>
                <a:ea typeface="Calibri" pitchFamily="34" charset="-122"/>
                <a:cs typeface="Calibri" pitchFamily="34" charset="-120"/>
              </a:rPr>
              <a:t>Every skill page, plus the Employee view tab</a:t>
            </a:r>
            <a:endParaRPr lang="en-US" sz="1150" dirty="0"/>
          </a:p>
        </p:txBody>
      </p:sp>
      <p:sp>
        <p:nvSpPr>
          <p:cNvPr id="29" name="Text 27"/>
          <p:cNvSpPr txBox="1"/>
          <p:nvPr/>
        </p:nvSpPr>
        <p:spPr>
          <a:xfrm>
            <a:off x="6355080" y="6053328"/>
            <a:ext cx="512064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Numbers from: </a:t>
            </a:r>
            <a:pPr indent="0" marL="0">
              <a:buNone/>
            </a:pPr>
            <a:r>
              <a:rPr lang="en-US" sz="1150" dirty="0">
                <a:solidFill>
                  <a:srgbClr val="15181D"/>
                </a:solidFill>
                <a:latin typeface="Calibri" pitchFamily="34" charset="0"/>
                <a:ea typeface="Calibri" pitchFamily="34" charset="-122"/>
                <a:cs typeface="Calibri" pitchFamily="34" charset="-120"/>
              </a:rPr>
              <a:t>Demo plans. Methods are the five named in the prompt.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502920"/>
            <a:ext cx="10515600" cy="548640"/>
          </a:xfrm>
          <a:prstGeom prst="rect">
            <a:avLst/>
          </a:prstGeom>
          <a:noFill/>
          <a:ln/>
        </p:spPr>
        <p:txBody>
          <a:bodyPr wrap="square" lIns="0" tIns="0" rIns="0" bIns="0" rtlCol="0" anchor="ctr"/>
          <a:lstStyle/>
          <a:p>
            <a:pPr indent="0" marL="0">
              <a:buNone/>
            </a:pPr>
            <a:r>
              <a:rPr lang="en-US" sz="2800" b="1" dirty="0">
                <a:solidFill>
                  <a:srgbClr val="15181D"/>
                </a:solidFill>
                <a:latin typeface="Cambria" pitchFamily="34" charset="0"/>
                <a:ea typeface="Cambria" pitchFamily="34" charset="-122"/>
                <a:cs typeface="Cambria" pitchFamily="34" charset="-120"/>
              </a:rPr>
              <a:t>Two things the questions imply but do not ask</a:t>
            </a:r>
            <a:endParaRPr lang="en-US" sz="2800" dirty="0"/>
          </a:p>
        </p:txBody>
      </p:sp>
      <p:sp>
        <p:nvSpPr>
          <p:cNvPr id="3" name="Text 1"/>
          <p:cNvSpPr txBox="1"/>
          <p:nvPr/>
        </p:nvSpPr>
        <p:spPr>
          <a:xfrm>
            <a:off x="685800" y="1371600"/>
            <a:ext cx="10515600" cy="411480"/>
          </a:xfrm>
          <a:prstGeom prst="rect">
            <a:avLst/>
          </a:prstGeom>
          <a:noFill/>
          <a:ln/>
        </p:spPr>
        <p:txBody>
          <a:bodyPr wrap="square" lIns="0" tIns="0" rIns="0" bIns="0" rtlCol="0" anchor="ctr"/>
          <a:lstStyle/>
          <a:p>
            <a:pPr indent="0" marL="0">
              <a:buNone/>
            </a:pPr>
            <a:r>
              <a:rPr lang="en-US" sz="1800" b="1" dirty="0">
                <a:solidFill>
                  <a:srgbClr val="8E2B30"/>
                </a:solidFill>
                <a:latin typeface="Calibri" pitchFamily="34" charset="0"/>
                <a:ea typeface="Calibri" pitchFamily="34" charset="-122"/>
                <a:cs typeface="Calibri" pitchFamily="34" charset="-120"/>
              </a:rPr>
              <a:t>Where would this data come from?</a:t>
            </a:r>
            <a:endParaRPr lang="en-US" sz="1800" dirty="0"/>
          </a:p>
        </p:txBody>
      </p:sp>
      <p:sp>
        <p:nvSpPr>
          <p:cNvPr id="4" name="Text 2"/>
          <p:cNvSpPr txBox="1"/>
          <p:nvPr/>
        </p:nvSpPr>
        <p:spPr>
          <a:xfrm>
            <a:off x="685800" y="1828800"/>
            <a:ext cx="10515600" cy="1554480"/>
          </a:xfrm>
          <a:prstGeom prst="rect">
            <a:avLst/>
          </a:prstGeom>
          <a:noFill/>
          <a:ln/>
        </p:spPr>
        <p:txBody>
          <a:bodyPr wrap="square" lIns="0" tIns="0" rIns="0" bIns="0" rtlCol="0" anchor="ctr"/>
          <a:lstStyle/>
          <a:p>
            <a:pPr indent="0" marL="0">
              <a:lnSpc>
                <a:spcPct val="130000"/>
              </a:lnSpc>
              <a:buNone/>
            </a:pPr>
            <a:r>
              <a:rPr lang="en-US" sz="1450" dirty="0">
                <a:solidFill>
                  <a:srgbClr val="6B7280"/>
                </a:solidFill>
                <a:latin typeface="Calibri" pitchFamily="34" charset="0"/>
                <a:ea typeface="Calibri" pitchFamily="34" charset="-122"/>
                <a:cs typeface="Calibri" pitchFamily="34" charset="-120"/>
              </a:rPr>
              <a:t>The prompt says leaders lack visibility because skills data is scattered. Every skill page names the systems a real deployment would read it from. Ammonia systems over 10,000 pounds are an OSHA covered process, so the trained-operator roster and its three year refresher dates are kept by law. A facility's food safety plan must be overseen by a preventive controls qualified individual. One skill honestly says there is no system of record anywhere, and that is the finding.</a:t>
            </a:r>
            <a:endParaRPr lang="en-US" sz="1450" dirty="0"/>
          </a:p>
        </p:txBody>
      </p:sp>
      <p:sp>
        <p:nvSpPr>
          <p:cNvPr id="5" name="Text 3"/>
          <p:cNvSpPr txBox="1"/>
          <p:nvPr/>
        </p:nvSpPr>
        <p:spPr>
          <a:xfrm>
            <a:off x="685800" y="3657600"/>
            <a:ext cx="10515600" cy="411480"/>
          </a:xfrm>
          <a:prstGeom prst="rect">
            <a:avLst/>
          </a:prstGeom>
          <a:noFill/>
          <a:ln/>
        </p:spPr>
        <p:txBody>
          <a:bodyPr wrap="square" lIns="0" tIns="0" rIns="0" bIns="0" rtlCol="0" anchor="ctr"/>
          <a:lstStyle/>
          <a:p>
            <a:pPr indent="0" marL="0">
              <a:buNone/>
            </a:pPr>
            <a:r>
              <a:rPr lang="en-US" sz="1800" b="1" dirty="0">
                <a:solidFill>
                  <a:srgbClr val="8E2B30"/>
                </a:solidFill>
                <a:latin typeface="Calibri" pitchFamily="34" charset="0"/>
                <a:ea typeface="Calibri" pitchFamily="34" charset="-122"/>
                <a:cs typeface="Calibri" pitchFamily="34" charset="-120"/>
              </a:rPr>
              <a:t>Is any of this made up?</a:t>
            </a:r>
            <a:endParaRPr lang="en-US" sz="1800" dirty="0"/>
          </a:p>
        </p:txBody>
      </p:sp>
      <p:sp>
        <p:nvSpPr>
          <p:cNvPr id="6" name="Text 4"/>
          <p:cNvSpPr txBox="1"/>
          <p:nvPr/>
        </p:nvSpPr>
        <p:spPr>
          <a:xfrm>
            <a:off x="685800" y="4114800"/>
            <a:ext cx="10515600" cy="1554480"/>
          </a:xfrm>
          <a:prstGeom prst="rect">
            <a:avLst/>
          </a:prstGeom>
          <a:noFill/>
          <a:ln/>
        </p:spPr>
        <p:txBody>
          <a:bodyPr wrap="square" lIns="0" tIns="0" rIns="0" bIns="0" rtlCol="0" anchor="ctr"/>
          <a:lstStyle/>
          <a:p>
            <a:pPr indent="0" marL="0">
              <a:lnSpc>
                <a:spcPct val="130000"/>
              </a:lnSpc>
              <a:buNone/>
            </a:pPr>
            <a:r>
              <a:rPr lang="en-US" sz="1450" dirty="0">
                <a:solidFill>
                  <a:srgbClr val="6B7280"/>
                </a:solidFill>
                <a:latin typeface="Calibri" pitchFamily="34" charset="0"/>
                <a:ea typeface="Calibri" pitchFamily="34" charset="-122"/>
                <a:cs typeface="Calibri" pitchFamily="34" charset="-120"/>
              </a:rPr>
              <a:t>Yes, and the app says which parts. Coverage percentages, per-site headcounts and employee records are invented. The job groups, locations, business drivers and regulations are sourced, ten sources in all. Three claims were cut during a fact check because they only traced back to blogs.</a:t>
            </a:r>
            <a:endParaRPr lang="en-US" sz="1450" dirty="0"/>
          </a:p>
        </p:txBody>
      </p:sp>
      <p:sp>
        <p:nvSpPr>
          <p:cNvPr id="7" name="Shape 5"/>
          <p:cNvSpPr/>
          <p:nvPr/>
        </p:nvSpPr>
        <p:spPr>
          <a:xfrm>
            <a:off x="685800" y="5943600"/>
            <a:ext cx="10789920" cy="0"/>
          </a:xfrm>
          <a:prstGeom prst="line">
            <a:avLst/>
          </a:prstGeom>
          <a:noFill/>
          <a:ln w="12700">
            <a:solidFill>
              <a:srgbClr val="E3E6EA"/>
            </a:solidFill>
            <a:prstDash val="solid"/>
          </a:ln>
        </p:spPr>
      </p:sp>
      <p:sp>
        <p:nvSpPr>
          <p:cNvPr id="8" name="Text 6"/>
          <p:cNvSpPr txBox="1"/>
          <p:nvPr/>
        </p:nvSpPr>
        <p:spPr>
          <a:xfrm>
            <a:off x="685800" y="6053328"/>
            <a:ext cx="548640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In the app: </a:t>
            </a:r>
            <a:pPr indent="0" marL="0">
              <a:buNone/>
            </a:pPr>
            <a:r>
              <a:rPr lang="en-US" sz="1150" dirty="0">
                <a:solidFill>
                  <a:srgbClr val="15181D"/>
                </a:solidFill>
                <a:latin typeface="Calibri" pitchFamily="34" charset="0"/>
                <a:ea typeface="Calibri" pitchFamily="34" charset="-122"/>
                <a:cs typeface="Calibri" pitchFamily="34" charset="-120"/>
              </a:rPr>
              <a:t>Read more on the Overview, and every skill page</a:t>
            </a:r>
            <a:endParaRPr lang="en-US" sz="1150" dirty="0"/>
          </a:p>
        </p:txBody>
      </p:sp>
      <p:sp>
        <p:nvSpPr>
          <p:cNvPr id="9" name="Text 7"/>
          <p:cNvSpPr txBox="1"/>
          <p:nvPr/>
        </p:nvSpPr>
        <p:spPr>
          <a:xfrm>
            <a:off x="6355080" y="6053328"/>
            <a:ext cx="5120640" cy="320040"/>
          </a:xfrm>
          <a:prstGeom prst="rect">
            <a:avLst/>
          </a:prstGeom>
          <a:noFill/>
          <a:ln/>
        </p:spPr>
        <p:txBody>
          <a:bodyPr wrap="square" lIns="0" tIns="0" rIns="0" bIns="0" rtlCol="0" anchor="ctr"/>
          <a:lstStyle/>
          <a:p>
            <a:pPr indent="0" marL="0">
              <a:buNone/>
            </a:pPr>
            <a:r>
              <a:rPr lang="en-US" sz="1150" b="1" dirty="0">
                <a:solidFill>
                  <a:srgbClr val="6B7280"/>
                </a:solidFill>
                <a:latin typeface="Calibri" pitchFamily="34" charset="0"/>
                <a:ea typeface="Calibri" pitchFamily="34" charset="-122"/>
                <a:cs typeface="Calibri" pitchFamily="34" charset="-120"/>
              </a:rPr>
              <a:t>Numbers from: </a:t>
            </a:r>
            <a:pPr indent="0" marL="0">
              <a:buNone/>
            </a:pPr>
            <a:r>
              <a:rPr lang="en-US" sz="1150" dirty="0">
                <a:solidFill>
                  <a:srgbClr val="15181D"/>
                </a:solidFill>
                <a:latin typeface="Calibri" pitchFamily="34" charset="0"/>
                <a:ea typeface="Calibri" pitchFamily="34" charset="-122"/>
                <a:cs typeface="Calibri" pitchFamily="34" charset="-120"/>
              </a:rPr>
              <a:t>FACTS.md lists every claim, its source, and what was cut.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81D"/>
        </a:solidFill>
      </p:bgPr>
    </p:bg>
    <p:spTree>
      <p:nvGrpSpPr>
        <p:cNvPr id="1" name=""/>
        <p:cNvGrpSpPr/>
        <p:nvPr/>
      </p:nvGrpSpPr>
      <p:grpSpPr>
        <a:xfrm>
          <a:off x="0" y="0"/>
          <a:ext cx="0" cy="0"/>
          <a:chOff x="0" y="0"/>
          <a:chExt cx="0" cy="0"/>
        </a:xfrm>
      </p:grpSpPr>
      <p:sp>
        <p:nvSpPr>
          <p:cNvPr id="2" name="Text 0"/>
          <p:cNvSpPr txBox="1"/>
          <p:nvPr/>
        </p:nvSpPr>
        <p:spPr>
          <a:xfrm>
            <a:off x="685800" y="146304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Five questions, five tabs, in the same order</a:t>
            </a:r>
            <a:endParaRPr lang="en-US" sz="3000" dirty="0"/>
          </a:p>
        </p:txBody>
      </p:sp>
      <p:sp>
        <p:nvSpPr>
          <p:cNvPr id="3" name="Text 1"/>
          <p:cNvSpPr txBox="1"/>
          <p:nvPr/>
        </p:nvSpPr>
        <p:spPr>
          <a:xfrm>
            <a:off x="685800" y="2468880"/>
            <a:ext cx="31089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Skills</a:t>
            </a:r>
            <a:endParaRPr lang="en-US" sz="1600" dirty="0"/>
          </a:p>
        </p:txBody>
      </p:sp>
      <p:sp>
        <p:nvSpPr>
          <p:cNvPr id="4" name="Text 2"/>
          <p:cNvSpPr txBox="1"/>
          <p:nvPr/>
        </p:nvSpPr>
        <p:spPr>
          <a:xfrm>
            <a:off x="3977640" y="2468880"/>
            <a:ext cx="6858000" cy="411480"/>
          </a:xfrm>
          <a:prstGeom prst="rect">
            <a:avLst/>
          </a:prstGeom>
          <a:noFill/>
          <a:ln/>
        </p:spPr>
        <p:txBody>
          <a:bodyPr wrap="square" lIns="0" tIns="0" rIns="0" bIns="0" rtlCol="0" anchor="ctr"/>
          <a:lstStyle/>
          <a:p>
            <a:pPr indent="0" marL="0">
              <a:buNone/>
            </a:pPr>
            <a:r>
              <a:rPr lang="en-US" sz="1500" dirty="0">
                <a:solidFill>
                  <a:srgbClr val="9AA1AB"/>
                </a:solidFill>
                <a:latin typeface="Calibri" pitchFamily="34" charset="0"/>
                <a:ea typeface="Calibri" pitchFamily="34" charset="-122"/>
                <a:cs typeface="Calibri" pitchFamily="34" charset="-120"/>
              </a:rPr>
              <a:t>Q1  what exists today</a:t>
            </a:r>
            <a:endParaRPr lang="en-US" sz="1500" dirty="0"/>
          </a:p>
        </p:txBody>
      </p:sp>
      <p:sp>
        <p:nvSpPr>
          <p:cNvPr id="5" name="Text 3"/>
          <p:cNvSpPr txBox="1"/>
          <p:nvPr/>
        </p:nvSpPr>
        <p:spPr>
          <a:xfrm>
            <a:off x="685800" y="3035808"/>
            <a:ext cx="31089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Future skills</a:t>
            </a:r>
            <a:endParaRPr lang="en-US" sz="1600" dirty="0"/>
          </a:p>
        </p:txBody>
      </p:sp>
      <p:sp>
        <p:nvSpPr>
          <p:cNvPr id="6" name="Text 4"/>
          <p:cNvSpPr txBox="1"/>
          <p:nvPr/>
        </p:nvSpPr>
        <p:spPr>
          <a:xfrm>
            <a:off x="3977640" y="3035808"/>
            <a:ext cx="6858000" cy="411480"/>
          </a:xfrm>
          <a:prstGeom prst="rect">
            <a:avLst/>
          </a:prstGeom>
          <a:noFill/>
          <a:ln/>
        </p:spPr>
        <p:txBody>
          <a:bodyPr wrap="square" lIns="0" tIns="0" rIns="0" bIns="0" rtlCol="0" anchor="ctr"/>
          <a:lstStyle/>
          <a:p>
            <a:pPr indent="0" marL="0">
              <a:buNone/>
            </a:pPr>
            <a:r>
              <a:rPr lang="en-US" sz="1500" dirty="0">
                <a:solidFill>
                  <a:srgbClr val="9AA1AB"/>
                </a:solidFill>
                <a:latin typeface="Calibri" pitchFamily="34" charset="0"/>
                <a:ea typeface="Calibri" pitchFamily="34" charset="-122"/>
                <a:cs typeface="Calibri" pitchFamily="34" charset="-120"/>
              </a:rPr>
              <a:t>Q2  what will be needed</a:t>
            </a:r>
            <a:endParaRPr lang="en-US" sz="1500" dirty="0"/>
          </a:p>
        </p:txBody>
      </p:sp>
      <p:sp>
        <p:nvSpPr>
          <p:cNvPr id="7" name="Text 5"/>
          <p:cNvSpPr txBox="1"/>
          <p:nvPr/>
        </p:nvSpPr>
        <p:spPr>
          <a:xfrm>
            <a:off x="685800" y="3602736"/>
            <a:ext cx="31089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Succession risk</a:t>
            </a:r>
            <a:endParaRPr lang="en-US" sz="1600" dirty="0"/>
          </a:p>
        </p:txBody>
      </p:sp>
      <p:sp>
        <p:nvSpPr>
          <p:cNvPr id="8" name="Text 6"/>
          <p:cNvSpPr txBox="1"/>
          <p:nvPr/>
        </p:nvSpPr>
        <p:spPr>
          <a:xfrm>
            <a:off x="3977640" y="3602736"/>
            <a:ext cx="6858000" cy="411480"/>
          </a:xfrm>
          <a:prstGeom prst="rect">
            <a:avLst/>
          </a:prstGeom>
          <a:noFill/>
          <a:ln/>
        </p:spPr>
        <p:txBody>
          <a:bodyPr wrap="square" lIns="0" tIns="0" rIns="0" bIns="0" rtlCol="0" anchor="ctr"/>
          <a:lstStyle/>
          <a:p>
            <a:pPr indent="0" marL="0">
              <a:buNone/>
            </a:pPr>
            <a:r>
              <a:rPr lang="en-US" sz="1500" dirty="0">
                <a:solidFill>
                  <a:srgbClr val="9AA1AB"/>
                </a:solidFill>
                <a:latin typeface="Calibri" pitchFamily="34" charset="0"/>
                <a:ea typeface="Calibri" pitchFamily="34" charset="-122"/>
                <a:cs typeface="Calibri" pitchFamily="34" charset="-120"/>
              </a:rPr>
              <a:t>Q3  who holds it alone</a:t>
            </a:r>
            <a:endParaRPr lang="en-US" sz="1500" dirty="0"/>
          </a:p>
        </p:txBody>
      </p:sp>
      <p:sp>
        <p:nvSpPr>
          <p:cNvPr id="9" name="Text 7"/>
          <p:cNvSpPr txBox="1"/>
          <p:nvPr/>
        </p:nvSpPr>
        <p:spPr>
          <a:xfrm>
            <a:off x="685800" y="4169664"/>
            <a:ext cx="31089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Overview</a:t>
            </a:r>
            <a:endParaRPr lang="en-US" sz="1600" dirty="0"/>
          </a:p>
        </p:txBody>
      </p:sp>
      <p:sp>
        <p:nvSpPr>
          <p:cNvPr id="10" name="Text 8"/>
          <p:cNvSpPr txBox="1"/>
          <p:nvPr/>
        </p:nvSpPr>
        <p:spPr>
          <a:xfrm>
            <a:off x="3977640" y="4169664"/>
            <a:ext cx="6858000" cy="411480"/>
          </a:xfrm>
          <a:prstGeom prst="rect">
            <a:avLst/>
          </a:prstGeom>
          <a:noFill/>
          <a:ln/>
        </p:spPr>
        <p:txBody>
          <a:bodyPr wrap="square" lIns="0" tIns="0" rIns="0" bIns="0" rtlCol="0" anchor="ctr"/>
          <a:lstStyle/>
          <a:p>
            <a:pPr indent="0" marL="0">
              <a:buNone/>
            </a:pPr>
            <a:r>
              <a:rPr lang="en-US" sz="1500" dirty="0">
                <a:solidFill>
                  <a:srgbClr val="9AA1AB"/>
                </a:solidFill>
                <a:latin typeface="Calibri" pitchFamily="34" charset="0"/>
                <a:ea typeface="Calibri" pitchFamily="34" charset="-122"/>
                <a:cs typeface="Calibri" pitchFamily="34" charset="-120"/>
              </a:rPr>
              <a:t>Q4  the gaps, ranked</a:t>
            </a:r>
            <a:endParaRPr lang="en-US" sz="1500" dirty="0"/>
          </a:p>
        </p:txBody>
      </p:sp>
      <p:sp>
        <p:nvSpPr>
          <p:cNvPr id="11" name="Text 9"/>
          <p:cNvSpPr txBox="1"/>
          <p:nvPr/>
        </p:nvSpPr>
        <p:spPr>
          <a:xfrm>
            <a:off x="685800" y="4736592"/>
            <a:ext cx="31089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Employee view</a:t>
            </a:r>
            <a:endParaRPr lang="en-US" sz="1600" dirty="0"/>
          </a:p>
        </p:txBody>
      </p:sp>
      <p:sp>
        <p:nvSpPr>
          <p:cNvPr id="12" name="Text 10"/>
          <p:cNvSpPr txBox="1"/>
          <p:nvPr/>
        </p:nvSpPr>
        <p:spPr>
          <a:xfrm>
            <a:off x="3977640" y="4736592"/>
            <a:ext cx="6858000" cy="411480"/>
          </a:xfrm>
          <a:prstGeom prst="rect">
            <a:avLst/>
          </a:prstGeom>
          <a:noFill/>
          <a:ln/>
        </p:spPr>
        <p:txBody>
          <a:bodyPr wrap="square" lIns="0" tIns="0" rIns="0" bIns="0" rtlCol="0" anchor="ctr"/>
          <a:lstStyle/>
          <a:p>
            <a:pPr indent="0" marL="0">
              <a:buNone/>
            </a:pPr>
            <a:r>
              <a:rPr lang="en-US" sz="1500" dirty="0">
                <a:solidFill>
                  <a:srgbClr val="9AA1AB"/>
                </a:solidFill>
                <a:latin typeface="Calibri" pitchFamily="34" charset="0"/>
                <a:ea typeface="Calibri" pitchFamily="34" charset="-122"/>
                <a:cs typeface="Calibri" pitchFamily="34" charset="-120"/>
              </a:rPr>
              <a:t>Q5  how a person closes one</a:t>
            </a:r>
            <a:endParaRPr lang="en-US" sz="1500" dirty="0"/>
          </a:p>
        </p:txBody>
      </p:sp>
      <p:sp>
        <p:nvSpPr>
          <p:cNvPr id="13" name="Text 11"/>
          <p:cNvSpPr txBox="1"/>
          <p:nvPr/>
        </p:nvSpPr>
        <p:spPr>
          <a:xfrm>
            <a:off x="685800" y="5669280"/>
            <a:ext cx="73152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github.com/Aj-Networks/schwan_s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SkillSight: the five questions</dc:title>
  <dc:subject>PptxGenJS Presentation</dc:subject>
  <dc:creator>Ajay Angdembe</dc:creator>
  <cp:lastModifiedBy>Ajay Angdembe</cp:lastModifiedBy>
  <cp:revision>1</cp:revision>
  <dcterms:created xsi:type="dcterms:W3CDTF">2026-09-13T05:50:07Z</dcterms:created>
  <dcterms:modified xsi:type="dcterms:W3CDTF">2026-09-13T05:50:07Z</dcterms:modified>
</cp:coreProperties>
</file>