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Aj" userId="6857a7655e0290f7" providerId="LiveId" clId="{1269664D-8E21-4D12-9992-D2CA9025F01D}"/>
    <pc:docChg chg="custSel modSld">
      <pc:chgData name="Mr Aj" userId="6857a7655e0290f7" providerId="LiveId" clId="{1269664D-8E21-4D12-9992-D2CA9025F01D}" dt="2026-09-13T06:23:35.332" v="16" actId="14100"/>
      <pc:docMkLst>
        <pc:docMk/>
      </pc:docMkLst>
      <pc:sldChg chg="modSp mod">
        <pc:chgData name="Mr Aj" userId="6857a7655e0290f7" providerId="LiveId" clId="{1269664D-8E21-4D12-9992-D2CA9025F01D}" dt="2026-09-13T06:22:07.407" v="3" actId="14100"/>
        <pc:sldMkLst>
          <pc:docMk/>
          <pc:sldMk cId="0" sldId="256"/>
        </pc:sldMkLst>
        <pc:spChg chg="mod">
          <ac:chgData name="Mr Aj" userId="6857a7655e0290f7" providerId="LiveId" clId="{1269664D-8E21-4D12-9992-D2CA9025F01D}" dt="2026-09-13T06:22:07.407" v="3" actId="14100"/>
          <ac:spMkLst>
            <pc:docMk/>
            <pc:sldMk cId="0" sldId="256"/>
            <ac:spMk id="3" creationId="{00000000-0000-0000-0000-000000000000}"/>
          </ac:spMkLst>
        </pc:spChg>
      </pc:sldChg>
      <pc:sldChg chg="modSp mod">
        <pc:chgData name="Mr Aj" userId="6857a7655e0290f7" providerId="LiveId" clId="{1269664D-8E21-4D12-9992-D2CA9025F01D}" dt="2026-09-13T06:22:20.981" v="5" actId="14100"/>
        <pc:sldMkLst>
          <pc:docMk/>
          <pc:sldMk cId="0" sldId="260"/>
        </pc:sldMkLst>
        <pc:spChg chg="mod">
          <ac:chgData name="Mr Aj" userId="6857a7655e0290f7" providerId="LiveId" clId="{1269664D-8E21-4D12-9992-D2CA9025F01D}" dt="2026-09-13T06:22:20.981" v="5" actId="14100"/>
          <ac:spMkLst>
            <pc:docMk/>
            <pc:sldMk cId="0" sldId="260"/>
            <ac:spMk id="3" creationId="{00000000-0000-0000-0000-000000000000}"/>
          </ac:spMkLst>
        </pc:spChg>
      </pc:sldChg>
      <pc:sldChg chg="delSp modSp mod">
        <pc:chgData name="Mr Aj" userId="6857a7655e0290f7" providerId="LiveId" clId="{1269664D-8E21-4D12-9992-D2CA9025F01D}" dt="2026-09-13T06:22:52.871" v="9" actId="14100"/>
        <pc:sldMkLst>
          <pc:docMk/>
          <pc:sldMk cId="0" sldId="261"/>
        </pc:sldMkLst>
        <pc:spChg chg="mod">
          <ac:chgData name="Mr Aj" userId="6857a7655e0290f7" providerId="LiveId" clId="{1269664D-8E21-4D12-9992-D2CA9025F01D}" dt="2026-09-13T06:22:52.871" v="9" actId="14100"/>
          <ac:spMkLst>
            <pc:docMk/>
            <pc:sldMk cId="0" sldId="261"/>
            <ac:spMk id="3" creationId="{00000000-0000-0000-0000-000000000000}"/>
          </ac:spMkLst>
        </pc:spChg>
        <pc:spChg chg="del">
          <ac:chgData name="Mr Aj" userId="6857a7655e0290f7" providerId="LiveId" clId="{1269664D-8E21-4D12-9992-D2CA9025F01D}" dt="2026-09-13T06:22:34.367" v="6" actId="478"/>
          <ac:spMkLst>
            <pc:docMk/>
            <pc:sldMk cId="0" sldId="261"/>
            <ac:spMk id="6" creationId="{00000000-0000-0000-0000-000000000000}"/>
          </ac:spMkLst>
        </pc:spChg>
        <pc:spChg chg="mod">
          <ac:chgData name="Mr Aj" userId="6857a7655e0290f7" providerId="LiveId" clId="{1269664D-8E21-4D12-9992-D2CA9025F01D}" dt="2026-09-13T06:22:41.326" v="7" actId="207"/>
          <ac:spMkLst>
            <pc:docMk/>
            <pc:sldMk cId="0" sldId="261"/>
            <ac:spMk id="8" creationId="{00000000-0000-0000-0000-000000000000}"/>
          </ac:spMkLst>
        </pc:spChg>
        <pc:spChg chg="mod">
          <ac:chgData name="Mr Aj" userId="6857a7655e0290f7" providerId="LiveId" clId="{1269664D-8E21-4D12-9992-D2CA9025F01D}" dt="2026-09-13T06:22:47.593" v="8" actId="207"/>
          <ac:spMkLst>
            <pc:docMk/>
            <pc:sldMk cId="0" sldId="261"/>
            <ac:spMk id="9" creationId="{00000000-0000-0000-0000-000000000000}"/>
          </ac:spMkLst>
        </pc:spChg>
      </pc:sldChg>
      <pc:sldChg chg="modSp mod">
        <pc:chgData name="Mr Aj" userId="6857a7655e0290f7" providerId="LiveId" clId="{1269664D-8E21-4D12-9992-D2CA9025F01D}" dt="2026-09-13T06:23:05.401" v="12" actId="14100"/>
        <pc:sldMkLst>
          <pc:docMk/>
          <pc:sldMk cId="0" sldId="262"/>
        </pc:sldMkLst>
        <pc:spChg chg="mod">
          <ac:chgData name="Mr Aj" userId="6857a7655e0290f7" providerId="LiveId" clId="{1269664D-8E21-4D12-9992-D2CA9025F01D}" dt="2026-09-13T06:23:05.401" v="12" actId="14100"/>
          <ac:spMkLst>
            <pc:docMk/>
            <pc:sldMk cId="0" sldId="262"/>
            <ac:spMk id="3" creationId="{00000000-0000-0000-0000-000000000000}"/>
          </ac:spMkLst>
        </pc:spChg>
      </pc:sldChg>
      <pc:sldChg chg="modSp mod">
        <pc:chgData name="Mr Aj" userId="6857a7655e0290f7" providerId="LiveId" clId="{1269664D-8E21-4D12-9992-D2CA9025F01D}" dt="2026-09-13T06:23:17.790" v="13" actId="14100"/>
        <pc:sldMkLst>
          <pc:docMk/>
          <pc:sldMk cId="0" sldId="263"/>
        </pc:sldMkLst>
        <pc:spChg chg="mod">
          <ac:chgData name="Mr Aj" userId="6857a7655e0290f7" providerId="LiveId" clId="{1269664D-8E21-4D12-9992-D2CA9025F01D}" dt="2026-09-13T06:23:17.790" v="13" actId="14100"/>
          <ac:spMkLst>
            <pc:docMk/>
            <pc:sldMk cId="0" sldId="263"/>
            <ac:spMk id="4" creationId="{00000000-0000-0000-0000-000000000000}"/>
          </ac:spMkLst>
        </pc:spChg>
      </pc:sldChg>
      <pc:sldChg chg="modSp mod">
        <pc:chgData name="Mr Aj" userId="6857a7655e0290f7" providerId="LiveId" clId="{1269664D-8E21-4D12-9992-D2CA9025F01D}" dt="2026-09-13T06:23:35.332" v="16" actId="14100"/>
        <pc:sldMkLst>
          <pc:docMk/>
          <pc:sldMk cId="0" sldId="264"/>
        </pc:sldMkLst>
        <pc:spChg chg="mod">
          <ac:chgData name="Mr Aj" userId="6857a7655e0290f7" providerId="LiveId" clId="{1269664D-8E21-4D12-9992-D2CA9025F01D}" dt="2026-09-13T06:23:35.332" v="16" actId="14100"/>
          <ac:spMkLst>
            <pc:docMk/>
            <pc:sldMk cId="0" sldId="26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66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five answers, in the order the prompt asks them. The app's tabs run in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tabs in the app run in this order, so nothing has to be hunted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skills. The answer is not the list, it is which band you look at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target is attached to a real business driver, not a guess about technology in general.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person at Marshall knows frozen dough formulation. That is the slide judges remember.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 dough wins because it is the only skill held by one person and it scores 4 of 5 on impact.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first steps and sixteen backups, covering every method the prompt lists.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is always the data. Answer it before it is asked.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question is not on this list, the honest answer is fine: I do not know, and I would rather find out than guess.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p:cNvSpPr/>
          <p:nvPr/>
        </p:nvSpPr>
        <p:spPr>
          <a:xfrm>
            <a:off x="0" y="8275318"/>
            <a:ext cx="18288000" cy="2011681"/>
          </a:xfrm>
          <a:prstGeom prst="rect">
            <a:avLst/>
          </a:prstGeom>
          <a:solidFill>
            <a:srgbClr val="324070"/>
          </a:solidFill>
          <a:ln w="12700">
            <a:solidFill>
              <a:srgbClr val="324070"/>
            </a:solidFill>
            <a:prstDash val="solid"/>
          </a:ln>
        </p:spPr>
        <p:txBody>
          <a:bodyPr/>
          <a:lstStyle/>
          <a:p>
            <a:endParaRPr lang="en-US"/>
          </a:p>
        </p:txBody>
      </p:sp>
      <p:sp>
        <p:nvSpPr>
          <p:cNvPr id="4" name="Text 2"/>
          <p:cNvSpPr txBox="1"/>
          <p:nvPr/>
        </p:nvSpPr>
        <p:spPr>
          <a:xfrm>
            <a:off x="1280160" y="2286000"/>
            <a:ext cx="8412480" cy="2011680"/>
          </a:xfrm>
          <a:prstGeom prst="rect">
            <a:avLst/>
          </a:prstGeom>
          <a:noFill/>
          <a:ln/>
        </p:spPr>
        <p:txBody>
          <a:bodyPr wrap="square" lIns="0" tIns="0" rIns="0" bIns="0" rtlCol="0" anchor="ctr"/>
          <a:lstStyle/>
          <a:p>
            <a:pPr marL="0" indent="0">
              <a:lnSpc>
                <a:spcPct val="90000"/>
              </a:lnSpc>
              <a:buNone/>
            </a:pPr>
            <a:r>
              <a:rPr lang="en-US" sz="11600" dirty="0">
                <a:solidFill>
                  <a:srgbClr val="FFFFFF"/>
                </a:solidFill>
                <a:latin typeface="Bahnschrift SemiBold" pitchFamily="34" charset="0"/>
                <a:ea typeface="Bahnschrift SemiBold" pitchFamily="34" charset="-122"/>
                <a:cs typeface="Bahnschrift SemiBold" pitchFamily="34" charset="-120"/>
              </a:rPr>
              <a:t>SkillSight</a:t>
            </a:r>
            <a:endParaRPr lang="en-US" sz="11600" dirty="0"/>
          </a:p>
        </p:txBody>
      </p:sp>
      <p:sp>
        <p:nvSpPr>
          <p:cNvPr id="5" name="Shape 3"/>
          <p:cNvSpPr/>
          <p:nvPr/>
        </p:nvSpPr>
        <p:spPr>
          <a:xfrm>
            <a:off x="1280160" y="4526280"/>
            <a:ext cx="5852160" cy="0"/>
          </a:xfrm>
          <a:prstGeom prst="line">
            <a:avLst/>
          </a:prstGeom>
          <a:noFill/>
          <a:ln w="25400">
            <a:solidFill>
              <a:srgbClr val="44528A"/>
            </a:solidFill>
            <a:prstDash val="solid"/>
          </a:ln>
        </p:spPr>
        <p:txBody>
          <a:bodyPr/>
          <a:lstStyle/>
          <a:p>
            <a:endParaRPr lang="en-US"/>
          </a:p>
        </p:txBody>
      </p:sp>
      <p:sp>
        <p:nvSpPr>
          <p:cNvPr id="6" name="Text 4"/>
          <p:cNvSpPr txBox="1"/>
          <p:nvPr/>
        </p:nvSpPr>
        <p:spPr>
          <a:xfrm>
            <a:off x="1280160" y="4754880"/>
            <a:ext cx="11887200" cy="548640"/>
          </a:xfrm>
          <a:prstGeom prst="rect">
            <a:avLst/>
          </a:prstGeom>
          <a:noFill/>
          <a:ln/>
        </p:spPr>
        <p:txBody>
          <a:bodyPr wrap="square" lIns="0" tIns="0" rIns="0" bIns="0" rtlCol="0" anchor="ctr"/>
          <a:lstStyle/>
          <a:p>
            <a:pPr marL="0" indent="0">
              <a:buNone/>
            </a:pPr>
            <a:r>
              <a:rPr lang="en-US" sz="2000" b="1" kern="0" spc="600" dirty="0">
                <a:solidFill>
                  <a:srgbClr val="FFFFFF"/>
                </a:solidFill>
                <a:latin typeface="Calibri" pitchFamily="34" charset="0"/>
                <a:ea typeface="Calibri" pitchFamily="34" charset="-122"/>
                <a:cs typeface="Calibri" pitchFamily="34" charset="-120"/>
              </a:rPr>
              <a:t>THE FIVE QUESTIONS, ANSWERED IN ORDER</a:t>
            </a:r>
            <a:endParaRPr lang="en-US" sz="2000" dirty="0"/>
          </a:p>
        </p:txBody>
      </p:sp>
      <p:sp>
        <p:nvSpPr>
          <p:cNvPr id="7" name="Text 5"/>
          <p:cNvSpPr txBox="1"/>
          <p:nvPr/>
        </p:nvSpPr>
        <p:spPr>
          <a:xfrm>
            <a:off x="1280160" y="5577840"/>
            <a:ext cx="10515600" cy="1280160"/>
          </a:xfrm>
          <a:prstGeom prst="rect">
            <a:avLst/>
          </a:prstGeom>
          <a:noFill/>
          <a:ln/>
        </p:spPr>
        <p:txBody>
          <a:bodyPr wrap="square" lIns="0" tIns="0" rIns="0" bIns="0" rtlCol="0" anchor="ctr"/>
          <a:lstStyle/>
          <a:p>
            <a:pPr marL="0" indent="0">
              <a:lnSpc>
                <a:spcPct val="135000"/>
              </a:lnSpc>
              <a:buNone/>
            </a:pPr>
            <a:r>
              <a:rPr lang="en-US" sz="2100" dirty="0">
                <a:solidFill>
                  <a:srgbClr val="B9C2D4"/>
                </a:solidFill>
                <a:latin typeface="Calibri" pitchFamily="34" charset="0"/>
                <a:ea typeface="Calibri" pitchFamily="34" charset="-122"/>
                <a:cs typeface="Calibri" pitchFamily="34" charset="-120"/>
              </a:rPr>
              <a:t>What skills Schwan's has, what it will need, who holds the rare ones,</a:t>
            </a:r>
            <a:endParaRPr lang="en-US" sz="2100" dirty="0"/>
          </a:p>
          <a:p>
            <a:pPr marL="0" indent="0">
              <a:lnSpc>
                <a:spcPct val="135000"/>
              </a:lnSpc>
              <a:buNone/>
            </a:pPr>
            <a:r>
              <a:rPr lang="en-US" sz="2100" dirty="0">
                <a:solidFill>
                  <a:srgbClr val="B9C2D4"/>
                </a:solidFill>
                <a:latin typeface="Calibri" pitchFamily="34" charset="0"/>
                <a:ea typeface="Calibri" pitchFamily="34" charset="-122"/>
                <a:cs typeface="Calibri" pitchFamily="34" charset="-120"/>
              </a:rPr>
              <a:t>what to fix first, and how one person closes a gap.</a:t>
            </a:r>
            <a:endParaRPr lang="en-US" sz="2100" dirty="0"/>
          </a:p>
        </p:txBody>
      </p:sp>
      <p:sp>
        <p:nvSpPr>
          <p:cNvPr id="8" name="Text 6"/>
          <p:cNvSpPr txBox="1"/>
          <p:nvPr/>
        </p:nvSpPr>
        <p:spPr>
          <a:xfrm>
            <a:off x="14996160" y="2194560"/>
            <a:ext cx="2011680" cy="1645920"/>
          </a:xfrm>
          <a:prstGeom prst="rect">
            <a:avLst/>
          </a:prstGeom>
          <a:noFill/>
          <a:ln/>
        </p:spPr>
        <p:txBody>
          <a:bodyPr wrap="square" lIns="0" tIns="0" rIns="0" bIns="0" rtlCol="0" anchor="ctr"/>
          <a:lstStyle/>
          <a:p>
            <a:pPr marL="0" indent="0" algn="r">
              <a:buNone/>
            </a:pPr>
            <a:r>
              <a:rPr lang="en-US" sz="9200" dirty="0">
                <a:solidFill>
                  <a:srgbClr val="324070"/>
                </a:solidFill>
                <a:latin typeface="Bahnschrift Light" pitchFamily="34" charset="0"/>
                <a:ea typeface="Bahnschrift Light" pitchFamily="34" charset="-122"/>
                <a:cs typeface="Bahnschrift Light" pitchFamily="34" charset="-120"/>
              </a:rPr>
              <a:t>01</a:t>
            </a:r>
            <a:endParaRPr lang="en-US" sz="9200" dirty="0"/>
          </a:p>
        </p:txBody>
      </p:sp>
      <p:sp>
        <p:nvSpPr>
          <p:cNvPr id="9" name="Shape 7"/>
          <p:cNvSpPr/>
          <p:nvPr/>
        </p:nvSpPr>
        <p:spPr>
          <a:xfrm>
            <a:off x="16047720" y="3749040"/>
            <a:ext cx="960120" cy="0"/>
          </a:xfrm>
          <a:prstGeom prst="line">
            <a:avLst/>
          </a:prstGeom>
          <a:noFill/>
          <a:ln w="25400">
            <a:solidFill>
              <a:srgbClr val="44528A"/>
            </a:solidFill>
            <a:prstDash val="solid"/>
          </a:ln>
        </p:spPr>
        <p:txBody>
          <a:bodyPr/>
          <a:lstStyle/>
          <a:p>
            <a:endParaRPr lang="en-US"/>
          </a:p>
        </p:txBody>
      </p:sp>
      <p:sp>
        <p:nvSpPr>
          <p:cNvPr id="10" name="Text 8"/>
          <p:cNvSpPr txBox="1"/>
          <p:nvPr/>
        </p:nvSpPr>
        <p:spPr>
          <a:xfrm>
            <a:off x="14996160" y="3931920"/>
            <a:ext cx="2011680" cy="1645920"/>
          </a:xfrm>
          <a:prstGeom prst="rect">
            <a:avLst/>
          </a:prstGeom>
          <a:noFill/>
          <a:ln/>
        </p:spPr>
        <p:txBody>
          <a:bodyPr wrap="square" lIns="0" tIns="0" rIns="0" bIns="0" rtlCol="0" anchor="ctr"/>
          <a:lstStyle/>
          <a:p>
            <a:pPr marL="0" indent="0" algn="r">
              <a:buNone/>
            </a:pPr>
            <a:r>
              <a:rPr lang="en-US" sz="9200" dirty="0">
                <a:solidFill>
                  <a:srgbClr val="324070"/>
                </a:solidFill>
                <a:latin typeface="Bahnschrift Light" pitchFamily="34" charset="0"/>
                <a:ea typeface="Bahnschrift Light" pitchFamily="34" charset="-122"/>
                <a:cs typeface="Bahnschrift Light" pitchFamily="34" charset="-120"/>
              </a:rPr>
              <a:t>05</a:t>
            </a:r>
            <a:endParaRPr lang="en-US" sz="9200" dirty="0"/>
          </a:p>
        </p:txBody>
      </p:sp>
      <p:sp>
        <p:nvSpPr>
          <p:cNvPr id="11" name="Text 9"/>
          <p:cNvSpPr txBox="1"/>
          <p:nvPr/>
        </p:nvSpPr>
        <p:spPr>
          <a:xfrm>
            <a:off x="1280160" y="8686800"/>
            <a:ext cx="8229600" cy="365760"/>
          </a:xfrm>
          <a:prstGeom prst="rect">
            <a:avLst/>
          </a:prstGeom>
          <a:noFill/>
          <a:ln/>
        </p:spPr>
        <p:txBody>
          <a:bodyPr wrap="square" lIns="0" tIns="0" rIns="0" bIns="0" rtlCol="0" anchor="ctr"/>
          <a:lstStyle/>
          <a:p>
            <a:pPr marL="0" indent="0">
              <a:buNone/>
            </a:pPr>
            <a:r>
              <a:rPr lang="en-US" sz="1300" b="1" kern="0" spc="300" dirty="0">
                <a:solidFill>
                  <a:srgbClr val="8E98AE"/>
                </a:solidFill>
                <a:latin typeface="Calibri" pitchFamily="34" charset="0"/>
                <a:ea typeface="Calibri" pitchFamily="34" charset="-122"/>
                <a:cs typeface="Calibri" pitchFamily="34" charset="-120"/>
              </a:rPr>
              <a:t>SOUTHWEST MN HACKS 2026</a:t>
            </a:r>
            <a:endParaRPr lang="en-US" sz="1300" dirty="0"/>
          </a:p>
        </p:txBody>
      </p:sp>
      <p:sp>
        <p:nvSpPr>
          <p:cNvPr id="12" name="Text 10"/>
          <p:cNvSpPr txBox="1"/>
          <p:nvPr/>
        </p:nvSpPr>
        <p:spPr>
          <a:xfrm>
            <a:off x="1280160" y="9098280"/>
            <a:ext cx="12801600" cy="45720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Schwan's Prompt 01  ·  Talent Readiness and Skills Intelligence  ·  Ajay Angdembe, solo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6583680" cy="10287000"/>
          </a:xfrm>
          <a:prstGeom prst="rect">
            <a:avLst/>
          </a:prstGeom>
          <a:solidFill>
            <a:srgbClr val="EEF2F5"/>
          </a:solidFill>
          <a:ln w="12700">
            <a:solidFill>
              <a:srgbClr val="EEF2F5"/>
            </a:solidFill>
            <a:prstDash val="solid"/>
          </a:ln>
        </p:spPr>
        <p:txBody>
          <a:bodyPr/>
          <a:lstStyle/>
          <a:p>
            <a:endParaRPr lang="en-US"/>
          </a:p>
        </p:txBody>
      </p:sp>
      <p:sp>
        <p:nvSpPr>
          <p:cNvPr id="3" name="Text 1"/>
          <p:cNvSpPr txBox="1"/>
          <p:nvPr/>
        </p:nvSpPr>
        <p:spPr>
          <a:xfrm>
            <a:off x="1280160" y="914400"/>
            <a:ext cx="45720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CONTENTS</a:t>
            </a:r>
            <a:endParaRPr lang="en-US" sz="1300" dirty="0"/>
          </a:p>
        </p:txBody>
      </p:sp>
      <p:sp>
        <p:nvSpPr>
          <p:cNvPr id="4" name="Text 2"/>
          <p:cNvSpPr txBox="1"/>
          <p:nvPr/>
        </p:nvSpPr>
        <p:spPr>
          <a:xfrm>
            <a:off x="1280160" y="1463040"/>
            <a:ext cx="4937760" cy="2377440"/>
          </a:xfrm>
          <a:prstGeom prst="rect">
            <a:avLst/>
          </a:prstGeom>
          <a:noFill/>
          <a:ln/>
        </p:spPr>
        <p:txBody>
          <a:bodyPr wrap="square" lIns="0" tIns="0" rIns="0" bIns="0" rtlCol="0" anchor="ctr"/>
          <a:lstStyle/>
          <a:p>
            <a:pPr marL="0" indent="0">
              <a:lnSpc>
                <a:spcPct val="105000"/>
              </a:lnSpc>
              <a:buNone/>
            </a:pPr>
            <a:r>
              <a:rPr lang="en-US" sz="4400" dirty="0">
                <a:solidFill>
                  <a:srgbClr val="232E54"/>
                </a:solidFill>
                <a:latin typeface="Bahnschrift SemiBold" pitchFamily="34" charset="0"/>
                <a:ea typeface="Bahnschrift SemiBold" pitchFamily="34" charset="-122"/>
                <a:cs typeface="Bahnschrift SemiBold" pitchFamily="34" charset="-120"/>
              </a:rPr>
              <a:t>Five questions,</a:t>
            </a:r>
            <a:endParaRPr lang="en-US" sz="4400" dirty="0"/>
          </a:p>
          <a:p>
            <a:pPr marL="0" indent="0">
              <a:lnSpc>
                <a:spcPct val="105000"/>
              </a:lnSpc>
              <a:buNone/>
            </a:pPr>
            <a:r>
              <a:rPr lang="en-US" sz="4400" dirty="0">
                <a:solidFill>
                  <a:srgbClr val="232E54"/>
                </a:solidFill>
                <a:latin typeface="Bahnschrift SemiBold" pitchFamily="34" charset="0"/>
                <a:ea typeface="Bahnschrift SemiBold" pitchFamily="34" charset="-122"/>
                <a:cs typeface="Bahnschrift SemiBold" pitchFamily="34" charset="-120"/>
              </a:rPr>
              <a:t>five answers.</a:t>
            </a:r>
            <a:endParaRPr lang="en-US" sz="4400" dirty="0"/>
          </a:p>
        </p:txBody>
      </p:sp>
      <p:sp>
        <p:nvSpPr>
          <p:cNvPr id="5" name="Text 3"/>
          <p:cNvSpPr txBox="1"/>
          <p:nvPr/>
        </p:nvSpPr>
        <p:spPr>
          <a:xfrm>
            <a:off x="1280160" y="4206240"/>
            <a:ext cx="4023360" cy="1828800"/>
          </a:xfrm>
          <a:prstGeom prst="rect">
            <a:avLst/>
          </a:prstGeom>
          <a:noFill/>
          <a:ln/>
        </p:spPr>
        <p:txBody>
          <a:bodyPr wrap="square" lIns="0" tIns="0" rIns="0" bIns="0" rtlCol="0" anchor="ctr"/>
          <a:lstStyle/>
          <a:p>
            <a:pPr marL="0" indent="0">
              <a:lnSpc>
                <a:spcPct val="135000"/>
              </a:lnSpc>
              <a:buNone/>
            </a:pPr>
            <a:r>
              <a:rPr lang="en-US" sz="1700" dirty="0">
                <a:solidFill>
                  <a:srgbClr val="6E7788"/>
                </a:solidFill>
                <a:latin typeface="Calibri" pitchFamily="34" charset="0"/>
                <a:ea typeface="Calibri" pitchFamily="34" charset="-122"/>
                <a:cs typeface="Calibri" pitchFamily="34" charset="-120"/>
              </a:rPr>
              <a:t>Each answer names the tab it lives on, and whether its numbers are demo data or a sourced fact.</a:t>
            </a:r>
            <a:endParaRPr lang="en-US" sz="1700" dirty="0"/>
          </a:p>
        </p:txBody>
      </p:sp>
      <p:sp>
        <p:nvSpPr>
          <p:cNvPr id="6" name="Text 4"/>
          <p:cNvSpPr txBox="1"/>
          <p:nvPr/>
        </p:nvSpPr>
        <p:spPr>
          <a:xfrm>
            <a:off x="7589520" y="1216152"/>
            <a:ext cx="1371600" cy="1005840"/>
          </a:xfrm>
          <a:prstGeom prst="rect">
            <a:avLst/>
          </a:prstGeom>
          <a:noFill/>
          <a:ln/>
        </p:spPr>
        <p:txBody>
          <a:bodyPr wrap="square" lIns="0" tIns="0" rIns="0" bIns="0" rtlCol="0" anchor="ctr"/>
          <a:lstStyle/>
          <a:p>
            <a:pPr marL="0" indent="0">
              <a:buNone/>
            </a:pPr>
            <a:r>
              <a:rPr lang="en-US" sz="5800" dirty="0">
                <a:solidFill>
                  <a:srgbClr val="324070"/>
                </a:solidFill>
                <a:latin typeface="Bahnschrift Light" pitchFamily="34" charset="0"/>
                <a:ea typeface="Bahnschrift Light" pitchFamily="34" charset="-122"/>
                <a:cs typeface="Bahnschrift Light" pitchFamily="34" charset="-120"/>
              </a:rPr>
              <a:t>01</a:t>
            </a:r>
            <a:endParaRPr lang="en-US" sz="5800" dirty="0"/>
          </a:p>
        </p:txBody>
      </p:sp>
      <p:sp>
        <p:nvSpPr>
          <p:cNvPr id="7" name="Text 5"/>
          <p:cNvSpPr txBox="1"/>
          <p:nvPr/>
        </p:nvSpPr>
        <p:spPr>
          <a:xfrm>
            <a:off x="9144000" y="1399032"/>
            <a:ext cx="5394960" cy="640080"/>
          </a:xfrm>
          <a:prstGeom prst="rect">
            <a:avLst/>
          </a:prstGeom>
          <a:noFill/>
          <a:ln/>
        </p:spPr>
        <p:txBody>
          <a:bodyPr wrap="square" lIns="0" tIns="0" rIns="0" bIns="0" rtlCol="0" anchor="ctr"/>
          <a:lstStyle/>
          <a:p>
            <a:pPr marL="0" indent="0">
              <a:buNone/>
            </a:pPr>
            <a:r>
              <a:rPr lang="en-US" sz="2600" dirty="0">
                <a:solidFill>
                  <a:srgbClr val="232E54"/>
                </a:solidFill>
                <a:latin typeface="Bahnschrift SemiBold" pitchFamily="34" charset="0"/>
                <a:ea typeface="Bahnschrift SemiBold" pitchFamily="34" charset="-122"/>
                <a:cs typeface="Bahnschrift SemiBold" pitchFamily="34" charset="-120"/>
              </a:rPr>
              <a:t>What skills exist today</a:t>
            </a:r>
            <a:endParaRPr lang="en-US" sz="2600" dirty="0"/>
          </a:p>
        </p:txBody>
      </p:sp>
      <p:sp>
        <p:nvSpPr>
          <p:cNvPr id="8" name="Text 6"/>
          <p:cNvSpPr txBox="1"/>
          <p:nvPr/>
        </p:nvSpPr>
        <p:spPr>
          <a:xfrm>
            <a:off x="14721840" y="1545336"/>
            <a:ext cx="2377440" cy="457200"/>
          </a:xfrm>
          <a:prstGeom prst="rect">
            <a:avLst/>
          </a:prstGeom>
          <a:noFill/>
          <a:ln/>
        </p:spPr>
        <p:txBody>
          <a:bodyPr wrap="square" lIns="0" tIns="0" rIns="0" bIns="0" rtlCol="0" anchor="ctr"/>
          <a:lstStyle/>
          <a:p>
            <a:pPr marL="0" indent="0" algn="r">
              <a:buNone/>
            </a:pPr>
            <a:r>
              <a:rPr lang="en-US" sz="1500" dirty="0">
                <a:solidFill>
                  <a:srgbClr val="6E7788"/>
                </a:solidFill>
                <a:latin typeface="Calibri" pitchFamily="34" charset="0"/>
                <a:ea typeface="Calibri" pitchFamily="34" charset="-122"/>
                <a:cs typeface="Calibri" pitchFamily="34" charset="-120"/>
              </a:rPr>
              <a:t>Skills tab</a:t>
            </a:r>
            <a:endParaRPr lang="en-US" sz="1500" dirty="0"/>
          </a:p>
        </p:txBody>
      </p:sp>
      <p:sp>
        <p:nvSpPr>
          <p:cNvPr id="9" name="Shape 7"/>
          <p:cNvSpPr/>
          <p:nvPr/>
        </p:nvSpPr>
        <p:spPr>
          <a:xfrm>
            <a:off x="7589520" y="2478024"/>
            <a:ext cx="9509760" cy="0"/>
          </a:xfrm>
          <a:prstGeom prst="line">
            <a:avLst/>
          </a:prstGeom>
          <a:noFill/>
          <a:ln w="12700">
            <a:solidFill>
              <a:srgbClr val="D9D9D9"/>
            </a:solidFill>
            <a:prstDash val="solid"/>
          </a:ln>
        </p:spPr>
        <p:txBody>
          <a:bodyPr/>
          <a:lstStyle/>
          <a:p>
            <a:endParaRPr lang="en-US"/>
          </a:p>
        </p:txBody>
      </p:sp>
      <p:sp>
        <p:nvSpPr>
          <p:cNvPr id="10" name="Text 8"/>
          <p:cNvSpPr txBox="1"/>
          <p:nvPr/>
        </p:nvSpPr>
        <p:spPr>
          <a:xfrm>
            <a:off x="7589520" y="2697480"/>
            <a:ext cx="1371600" cy="1005840"/>
          </a:xfrm>
          <a:prstGeom prst="rect">
            <a:avLst/>
          </a:prstGeom>
          <a:noFill/>
          <a:ln/>
        </p:spPr>
        <p:txBody>
          <a:bodyPr wrap="square" lIns="0" tIns="0" rIns="0" bIns="0" rtlCol="0" anchor="ctr"/>
          <a:lstStyle/>
          <a:p>
            <a:pPr marL="0" indent="0">
              <a:buNone/>
            </a:pPr>
            <a:r>
              <a:rPr lang="en-US" sz="5800" dirty="0">
                <a:solidFill>
                  <a:srgbClr val="324070"/>
                </a:solidFill>
                <a:latin typeface="Bahnschrift Light" pitchFamily="34" charset="0"/>
                <a:ea typeface="Bahnschrift Light" pitchFamily="34" charset="-122"/>
                <a:cs typeface="Bahnschrift Light" pitchFamily="34" charset="-120"/>
              </a:rPr>
              <a:t>02</a:t>
            </a:r>
            <a:endParaRPr lang="en-US" sz="5800" dirty="0"/>
          </a:p>
        </p:txBody>
      </p:sp>
      <p:sp>
        <p:nvSpPr>
          <p:cNvPr id="11" name="Text 9"/>
          <p:cNvSpPr txBox="1"/>
          <p:nvPr/>
        </p:nvSpPr>
        <p:spPr>
          <a:xfrm>
            <a:off x="9144000" y="2880360"/>
            <a:ext cx="5394960" cy="640080"/>
          </a:xfrm>
          <a:prstGeom prst="rect">
            <a:avLst/>
          </a:prstGeom>
          <a:noFill/>
          <a:ln/>
        </p:spPr>
        <p:txBody>
          <a:bodyPr wrap="square" lIns="0" tIns="0" rIns="0" bIns="0" rtlCol="0" anchor="ctr"/>
          <a:lstStyle/>
          <a:p>
            <a:pPr marL="0" indent="0">
              <a:buNone/>
            </a:pPr>
            <a:r>
              <a:rPr lang="en-US" sz="2600" dirty="0">
                <a:solidFill>
                  <a:srgbClr val="232E54"/>
                </a:solidFill>
                <a:latin typeface="Bahnschrift SemiBold" pitchFamily="34" charset="0"/>
                <a:ea typeface="Bahnschrift SemiBold" pitchFamily="34" charset="-122"/>
                <a:cs typeface="Bahnschrift SemiBold" pitchFamily="34" charset="-120"/>
              </a:rPr>
              <a:t>What will be needed next</a:t>
            </a:r>
            <a:endParaRPr lang="en-US" sz="2600" dirty="0"/>
          </a:p>
        </p:txBody>
      </p:sp>
      <p:sp>
        <p:nvSpPr>
          <p:cNvPr id="12" name="Text 10"/>
          <p:cNvSpPr txBox="1"/>
          <p:nvPr/>
        </p:nvSpPr>
        <p:spPr>
          <a:xfrm>
            <a:off x="14721840" y="3026664"/>
            <a:ext cx="2377440" cy="457200"/>
          </a:xfrm>
          <a:prstGeom prst="rect">
            <a:avLst/>
          </a:prstGeom>
          <a:noFill/>
          <a:ln/>
        </p:spPr>
        <p:txBody>
          <a:bodyPr wrap="square" lIns="0" tIns="0" rIns="0" bIns="0" rtlCol="0" anchor="ctr"/>
          <a:lstStyle/>
          <a:p>
            <a:pPr marL="0" indent="0" algn="r">
              <a:buNone/>
            </a:pPr>
            <a:r>
              <a:rPr lang="en-US" sz="1500" dirty="0">
                <a:solidFill>
                  <a:srgbClr val="6E7788"/>
                </a:solidFill>
                <a:latin typeface="Calibri" pitchFamily="34" charset="0"/>
                <a:ea typeface="Calibri" pitchFamily="34" charset="-122"/>
                <a:cs typeface="Calibri" pitchFamily="34" charset="-120"/>
              </a:rPr>
              <a:t>Future skills tab</a:t>
            </a:r>
            <a:endParaRPr lang="en-US" sz="1500" dirty="0"/>
          </a:p>
        </p:txBody>
      </p:sp>
      <p:sp>
        <p:nvSpPr>
          <p:cNvPr id="13" name="Shape 11"/>
          <p:cNvSpPr/>
          <p:nvPr/>
        </p:nvSpPr>
        <p:spPr>
          <a:xfrm>
            <a:off x="7589520" y="3959352"/>
            <a:ext cx="9509760" cy="0"/>
          </a:xfrm>
          <a:prstGeom prst="line">
            <a:avLst/>
          </a:prstGeom>
          <a:noFill/>
          <a:ln w="12700">
            <a:solidFill>
              <a:srgbClr val="D9D9D9"/>
            </a:solidFill>
            <a:prstDash val="solid"/>
          </a:ln>
        </p:spPr>
        <p:txBody>
          <a:bodyPr/>
          <a:lstStyle/>
          <a:p>
            <a:endParaRPr lang="en-US"/>
          </a:p>
        </p:txBody>
      </p:sp>
      <p:sp>
        <p:nvSpPr>
          <p:cNvPr id="14" name="Text 12"/>
          <p:cNvSpPr txBox="1"/>
          <p:nvPr/>
        </p:nvSpPr>
        <p:spPr>
          <a:xfrm>
            <a:off x="7589520" y="4178808"/>
            <a:ext cx="1371600" cy="1005840"/>
          </a:xfrm>
          <a:prstGeom prst="rect">
            <a:avLst/>
          </a:prstGeom>
          <a:noFill/>
          <a:ln/>
        </p:spPr>
        <p:txBody>
          <a:bodyPr wrap="square" lIns="0" tIns="0" rIns="0" bIns="0" rtlCol="0" anchor="ctr"/>
          <a:lstStyle/>
          <a:p>
            <a:pPr marL="0" indent="0">
              <a:buNone/>
            </a:pPr>
            <a:r>
              <a:rPr lang="en-US" sz="5800" dirty="0">
                <a:solidFill>
                  <a:srgbClr val="324070"/>
                </a:solidFill>
                <a:latin typeface="Bahnschrift Light" pitchFamily="34" charset="0"/>
                <a:ea typeface="Bahnschrift Light" pitchFamily="34" charset="-122"/>
                <a:cs typeface="Bahnschrift Light" pitchFamily="34" charset="-120"/>
              </a:rPr>
              <a:t>03</a:t>
            </a:r>
            <a:endParaRPr lang="en-US" sz="5800" dirty="0"/>
          </a:p>
        </p:txBody>
      </p:sp>
      <p:sp>
        <p:nvSpPr>
          <p:cNvPr id="15" name="Text 13"/>
          <p:cNvSpPr txBox="1"/>
          <p:nvPr/>
        </p:nvSpPr>
        <p:spPr>
          <a:xfrm>
            <a:off x="9144000" y="4361688"/>
            <a:ext cx="5394960" cy="640080"/>
          </a:xfrm>
          <a:prstGeom prst="rect">
            <a:avLst/>
          </a:prstGeom>
          <a:noFill/>
          <a:ln/>
        </p:spPr>
        <p:txBody>
          <a:bodyPr wrap="square" lIns="0" tIns="0" rIns="0" bIns="0" rtlCol="0" anchor="ctr"/>
          <a:lstStyle/>
          <a:p>
            <a:pPr marL="0" indent="0">
              <a:buNone/>
            </a:pPr>
            <a:r>
              <a:rPr lang="en-US" sz="2600" dirty="0">
                <a:solidFill>
                  <a:srgbClr val="232E54"/>
                </a:solidFill>
                <a:latin typeface="Bahnschrift SemiBold" pitchFamily="34" charset="0"/>
                <a:ea typeface="Bahnschrift SemiBold" pitchFamily="34" charset="-122"/>
                <a:cs typeface="Bahnschrift SemiBold" pitchFamily="34" charset="-120"/>
              </a:rPr>
              <a:t>Who holds the rare ones</a:t>
            </a:r>
            <a:endParaRPr lang="en-US" sz="2600" dirty="0"/>
          </a:p>
        </p:txBody>
      </p:sp>
      <p:sp>
        <p:nvSpPr>
          <p:cNvPr id="16" name="Text 14"/>
          <p:cNvSpPr txBox="1"/>
          <p:nvPr/>
        </p:nvSpPr>
        <p:spPr>
          <a:xfrm>
            <a:off x="14721840" y="4507992"/>
            <a:ext cx="2377440" cy="457200"/>
          </a:xfrm>
          <a:prstGeom prst="rect">
            <a:avLst/>
          </a:prstGeom>
          <a:noFill/>
          <a:ln/>
        </p:spPr>
        <p:txBody>
          <a:bodyPr wrap="square" lIns="0" tIns="0" rIns="0" bIns="0" rtlCol="0" anchor="ctr"/>
          <a:lstStyle/>
          <a:p>
            <a:pPr marL="0" indent="0" algn="r">
              <a:buNone/>
            </a:pPr>
            <a:r>
              <a:rPr lang="en-US" sz="1500" dirty="0">
                <a:solidFill>
                  <a:srgbClr val="6E7788"/>
                </a:solidFill>
                <a:latin typeface="Calibri" pitchFamily="34" charset="0"/>
                <a:ea typeface="Calibri" pitchFamily="34" charset="-122"/>
                <a:cs typeface="Calibri" pitchFamily="34" charset="-120"/>
              </a:rPr>
              <a:t>Succession risk tab</a:t>
            </a:r>
            <a:endParaRPr lang="en-US" sz="1500" dirty="0"/>
          </a:p>
        </p:txBody>
      </p:sp>
      <p:sp>
        <p:nvSpPr>
          <p:cNvPr id="17" name="Shape 15"/>
          <p:cNvSpPr/>
          <p:nvPr/>
        </p:nvSpPr>
        <p:spPr>
          <a:xfrm>
            <a:off x="7589520" y="5440680"/>
            <a:ext cx="9509760" cy="0"/>
          </a:xfrm>
          <a:prstGeom prst="line">
            <a:avLst/>
          </a:prstGeom>
          <a:noFill/>
          <a:ln w="12700">
            <a:solidFill>
              <a:srgbClr val="D9D9D9"/>
            </a:solidFill>
            <a:prstDash val="solid"/>
          </a:ln>
        </p:spPr>
        <p:txBody>
          <a:bodyPr/>
          <a:lstStyle/>
          <a:p>
            <a:endParaRPr lang="en-US"/>
          </a:p>
        </p:txBody>
      </p:sp>
      <p:sp>
        <p:nvSpPr>
          <p:cNvPr id="18" name="Text 16"/>
          <p:cNvSpPr txBox="1"/>
          <p:nvPr/>
        </p:nvSpPr>
        <p:spPr>
          <a:xfrm>
            <a:off x="7589520" y="5660136"/>
            <a:ext cx="1371600" cy="1005840"/>
          </a:xfrm>
          <a:prstGeom prst="rect">
            <a:avLst/>
          </a:prstGeom>
          <a:noFill/>
          <a:ln/>
        </p:spPr>
        <p:txBody>
          <a:bodyPr wrap="square" lIns="0" tIns="0" rIns="0" bIns="0" rtlCol="0" anchor="ctr"/>
          <a:lstStyle/>
          <a:p>
            <a:pPr marL="0" indent="0">
              <a:buNone/>
            </a:pPr>
            <a:r>
              <a:rPr lang="en-US" sz="5800" dirty="0">
                <a:solidFill>
                  <a:srgbClr val="324070"/>
                </a:solidFill>
                <a:latin typeface="Bahnschrift Light" pitchFamily="34" charset="0"/>
                <a:ea typeface="Bahnschrift Light" pitchFamily="34" charset="-122"/>
                <a:cs typeface="Bahnschrift Light" pitchFamily="34" charset="-120"/>
              </a:rPr>
              <a:t>04</a:t>
            </a:r>
            <a:endParaRPr lang="en-US" sz="5800" dirty="0"/>
          </a:p>
        </p:txBody>
      </p:sp>
      <p:sp>
        <p:nvSpPr>
          <p:cNvPr id="19" name="Text 17"/>
          <p:cNvSpPr txBox="1"/>
          <p:nvPr/>
        </p:nvSpPr>
        <p:spPr>
          <a:xfrm>
            <a:off x="9144000" y="5843016"/>
            <a:ext cx="5394960" cy="640080"/>
          </a:xfrm>
          <a:prstGeom prst="rect">
            <a:avLst/>
          </a:prstGeom>
          <a:noFill/>
          <a:ln/>
        </p:spPr>
        <p:txBody>
          <a:bodyPr wrap="square" lIns="0" tIns="0" rIns="0" bIns="0" rtlCol="0" anchor="ctr"/>
          <a:lstStyle/>
          <a:p>
            <a:pPr marL="0" indent="0">
              <a:buNone/>
            </a:pPr>
            <a:r>
              <a:rPr lang="en-US" sz="2600" dirty="0">
                <a:solidFill>
                  <a:srgbClr val="232E54"/>
                </a:solidFill>
                <a:latin typeface="Bahnschrift SemiBold" pitchFamily="34" charset="0"/>
                <a:ea typeface="Bahnschrift SemiBold" pitchFamily="34" charset="-122"/>
                <a:cs typeface="Bahnschrift SemiBold" pitchFamily="34" charset="-120"/>
              </a:rPr>
              <a:t>What to fix first</a:t>
            </a:r>
            <a:endParaRPr lang="en-US" sz="2600" dirty="0"/>
          </a:p>
        </p:txBody>
      </p:sp>
      <p:sp>
        <p:nvSpPr>
          <p:cNvPr id="20" name="Text 18"/>
          <p:cNvSpPr txBox="1"/>
          <p:nvPr/>
        </p:nvSpPr>
        <p:spPr>
          <a:xfrm>
            <a:off x="14721840" y="5989320"/>
            <a:ext cx="2377440" cy="457200"/>
          </a:xfrm>
          <a:prstGeom prst="rect">
            <a:avLst/>
          </a:prstGeom>
          <a:noFill/>
          <a:ln/>
        </p:spPr>
        <p:txBody>
          <a:bodyPr wrap="square" lIns="0" tIns="0" rIns="0" bIns="0" rtlCol="0" anchor="ctr"/>
          <a:lstStyle/>
          <a:p>
            <a:pPr marL="0" indent="0" algn="r">
              <a:buNone/>
            </a:pPr>
            <a:r>
              <a:rPr lang="en-US" sz="1500" dirty="0">
                <a:solidFill>
                  <a:srgbClr val="6E7788"/>
                </a:solidFill>
                <a:latin typeface="Calibri" pitchFamily="34" charset="0"/>
                <a:ea typeface="Calibri" pitchFamily="34" charset="-122"/>
                <a:cs typeface="Calibri" pitchFamily="34" charset="-120"/>
              </a:rPr>
              <a:t>Overview tab</a:t>
            </a:r>
            <a:endParaRPr lang="en-US" sz="1500" dirty="0"/>
          </a:p>
        </p:txBody>
      </p:sp>
      <p:sp>
        <p:nvSpPr>
          <p:cNvPr id="21" name="Shape 19"/>
          <p:cNvSpPr/>
          <p:nvPr/>
        </p:nvSpPr>
        <p:spPr>
          <a:xfrm>
            <a:off x="7589520" y="6922008"/>
            <a:ext cx="9509760" cy="0"/>
          </a:xfrm>
          <a:prstGeom prst="line">
            <a:avLst/>
          </a:prstGeom>
          <a:noFill/>
          <a:ln w="12700">
            <a:solidFill>
              <a:srgbClr val="D9D9D9"/>
            </a:solidFill>
            <a:prstDash val="solid"/>
          </a:ln>
        </p:spPr>
        <p:txBody>
          <a:bodyPr/>
          <a:lstStyle/>
          <a:p>
            <a:endParaRPr lang="en-US"/>
          </a:p>
        </p:txBody>
      </p:sp>
      <p:sp>
        <p:nvSpPr>
          <p:cNvPr id="22" name="Text 20"/>
          <p:cNvSpPr txBox="1"/>
          <p:nvPr/>
        </p:nvSpPr>
        <p:spPr>
          <a:xfrm>
            <a:off x="7589520" y="7141464"/>
            <a:ext cx="1371600" cy="1005840"/>
          </a:xfrm>
          <a:prstGeom prst="rect">
            <a:avLst/>
          </a:prstGeom>
          <a:noFill/>
          <a:ln/>
        </p:spPr>
        <p:txBody>
          <a:bodyPr wrap="square" lIns="0" tIns="0" rIns="0" bIns="0" rtlCol="0" anchor="ctr"/>
          <a:lstStyle/>
          <a:p>
            <a:pPr marL="0" indent="0">
              <a:buNone/>
            </a:pPr>
            <a:r>
              <a:rPr lang="en-US" sz="5800" dirty="0">
                <a:solidFill>
                  <a:srgbClr val="324070"/>
                </a:solidFill>
                <a:latin typeface="Bahnschrift Light" pitchFamily="34" charset="0"/>
                <a:ea typeface="Bahnschrift Light" pitchFamily="34" charset="-122"/>
                <a:cs typeface="Bahnschrift Light" pitchFamily="34" charset="-120"/>
              </a:rPr>
              <a:t>05</a:t>
            </a:r>
            <a:endParaRPr lang="en-US" sz="5800" dirty="0"/>
          </a:p>
        </p:txBody>
      </p:sp>
      <p:sp>
        <p:nvSpPr>
          <p:cNvPr id="23" name="Text 21"/>
          <p:cNvSpPr txBox="1"/>
          <p:nvPr/>
        </p:nvSpPr>
        <p:spPr>
          <a:xfrm>
            <a:off x="9144000" y="7324344"/>
            <a:ext cx="5394960" cy="640080"/>
          </a:xfrm>
          <a:prstGeom prst="rect">
            <a:avLst/>
          </a:prstGeom>
          <a:noFill/>
          <a:ln/>
        </p:spPr>
        <p:txBody>
          <a:bodyPr wrap="square" lIns="0" tIns="0" rIns="0" bIns="0" rtlCol="0" anchor="ctr"/>
          <a:lstStyle/>
          <a:p>
            <a:pPr marL="0" indent="0">
              <a:buNone/>
            </a:pPr>
            <a:r>
              <a:rPr lang="en-US" sz="2600" dirty="0">
                <a:solidFill>
                  <a:srgbClr val="232E54"/>
                </a:solidFill>
                <a:latin typeface="Bahnschrift SemiBold" pitchFamily="34" charset="0"/>
                <a:ea typeface="Bahnschrift SemiBold" pitchFamily="34" charset="-122"/>
                <a:cs typeface="Bahnschrift SemiBold" pitchFamily="34" charset="-120"/>
              </a:rPr>
              <a:t>How a person closes a gap</a:t>
            </a:r>
            <a:endParaRPr lang="en-US" sz="2600" dirty="0"/>
          </a:p>
        </p:txBody>
      </p:sp>
      <p:sp>
        <p:nvSpPr>
          <p:cNvPr id="24" name="Text 22"/>
          <p:cNvSpPr txBox="1"/>
          <p:nvPr/>
        </p:nvSpPr>
        <p:spPr>
          <a:xfrm>
            <a:off x="14721840" y="7470648"/>
            <a:ext cx="2377440" cy="457200"/>
          </a:xfrm>
          <a:prstGeom prst="rect">
            <a:avLst/>
          </a:prstGeom>
          <a:noFill/>
          <a:ln/>
        </p:spPr>
        <p:txBody>
          <a:bodyPr wrap="square" lIns="0" tIns="0" rIns="0" bIns="0" rtlCol="0" anchor="ctr"/>
          <a:lstStyle/>
          <a:p>
            <a:pPr marL="0" indent="0" algn="r">
              <a:buNone/>
            </a:pPr>
            <a:r>
              <a:rPr lang="en-US" sz="1500" dirty="0">
                <a:solidFill>
                  <a:srgbClr val="6E7788"/>
                </a:solidFill>
                <a:latin typeface="Calibri" pitchFamily="34" charset="0"/>
                <a:ea typeface="Calibri" pitchFamily="34" charset="-122"/>
                <a:cs typeface="Calibri" pitchFamily="34" charset="-120"/>
              </a:rPr>
              <a:t>Employee view tab</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170432" y="566928"/>
            <a:ext cx="2286000" cy="2194560"/>
          </a:xfrm>
          <a:prstGeom prst="rect">
            <a:avLst/>
          </a:prstGeom>
          <a:noFill/>
          <a:ln/>
        </p:spPr>
        <p:txBody>
          <a:bodyPr wrap="square" lIns="0" tIns="0" rIns="0" bIns="0" rtlCol="0" anchor="ctr"/>
          <a:lstStyle/>
          <a:p>
            <a:pPr marL="0" indent="0">
              <a:lnSpc>
                <a:spcPct val="82000"/>
              </a:lnSpc>
              <a:buNone/>
            </a:pPr>
            <a:r>
              <a:rPr lang="en-US" sz="14000" dirty="0">
                <a:solidFill>
                  <a:srgbClr val="EEF2F5"/>
                </a:solidFill>
                <a:latin typeface="Bahnschrift SemiBold" pitchFamily="34" charset="0"/>
                <a:ea typeface="Bahnschrift SemiBold" pitchFamily="34" charset="-122"/>
                <a:cs typeface="Bahnschrift SemiBold" pitchFamily="34" charset="-120"/>
              </a:rPr>
              <a:t>01</a:t>
            </a:r>
            <a:endParaRPr lang="en-US" sz="14000" dirty="0"/>
          </a:p>
        </p:txBody>
      </p:sp>
      <p:sp>
        <p:nvSpPr>
          <p:cNvPr id="3" name="Text 1"/>
          <p:cNvSpPr txBox="1"/>
          <p:nvPr/>
        </p:nvSpPr>
        <p:spPr>
          <a:xfrm>
            <a:off x="3931920" y="868680"/>
            <a:ext cx="13075920" cy="1463040"/>
          </a:xfrm>
          <a:prstGeom prst="rect">
            <a:avLst/>
          </a:prstGeom>
          <a:noFill/>
          <a:ln/>
        </p:spPr>
        <p:txBody>
          <a:bodyPr wrap="square" lIns="0" tIns="0" rIns="0" bIns="0" rtlCol="0" anchor="ctr"/>
          <a:lstStyle/>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What skills and competencies exist</a:t>
            </a:r>
            <a:endParaRPr lang="en-US" sz="3000" dirty="0"/>
          </a:p>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across our workforce today?</a:t>
            </a:r>
            <a:endParaRPr lang="en-US" sz="3000" dirty="0"/>
          </a:p>
        </p:txBody>
      </p:sp>
      <p:sp>
        <p:nvSpPr>
          <p:cNvPr id="4" name="Text 2"/>
          <p:cNvSpPr txBox="1"/>
          <p:nvPr/>
        </p:nvSpPr>
        <p:spPr>
          <a:xfrm>
            <a:off x="1280160" y="2743200"/>
            <a:ext cx="13716000" cy="1554480"/>
          </a:xfrm>
          <a:prstGeom prst="rect">
            <a:avLst/>
          </a:prstGeom>
          <a:noFill/>
          <a:ln/>
        </p:spPr>
        <p:txBody>
          <a:bodyPr wrap="square" lIns="0" tIns="0" rIns="0" bIns="0" rtlCol="0" anchor="ctr"/>
          <a:lstStyle/>
          <a:p>
            <a:pPr marL="0" indent="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20 skills tracked across four job groups.</a:t>
            </a:r>
            <a:endParaRPr lang="en-US" sz="3800" dirty="0"/>
          </a:p>
          <a:p>
            <a:pPr marL="0" indent="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Average coverage 50 percent.</a:t>
            </a:r>
            <a:endParaRPr lang="en-US" sz="3800" dirty="0"/>
          </a:p>
        </p:txBody>
      </p:sp>
      <p:sp>
        <p:nvSpPr>
          <p:cNvPr id="5" name="Text 3"/>
          <p:cNvSpPr txBox="1"/>
          <p:nvPr/>
        </p:nvSpPr>
        <p:spPr>
          <a:xfrm>
            <a:off x="1280160" y="4526280"/>
            <a:ext cx="12435840" cy="822960"/>
          </a:xfrm>
          <a:prstGeom prst="rect">
            <a:avLst/>
          </a:prstGeom>
          <a:noFill/>
          <a:ln/>
        </p:spPr>
        <p:txBody>
          <a:bodyPr wrap="square" lIns="0" tIns="0" rIns="0" bIns="0" rtlCol="0" anchor="ctr"/>
          <a:lstStyle/>
          <a:p>
            <a:pPr marL="0" indent="0">
              <a:lnSpc>
                <a:spcPct val="130000"/>
              </a:lnSpc>
              <a:buNone/>
            </a:pPr>
            <a:r>
              <a:rPr lang="en-US" sz="1800" dirty="0">
                <a:solidFill>
                  <a:srgbClr val="6E7788"/>
                </a:solidFill>
                <a:latin typeface="Calibri" pitchFamily="34" charset="0"/>
                <a:ea typeface="Calibri" pitchFamily="34" charset="-122"/>
                <a:cs typeface="Calibri" pitchFamily="34" charset="-120"/>
              </a:rPr>
              <a:t>Coverage is the share of a job group that holds the skill. The Skills tab sorts them into three bands and opens only the critical one, because twenty rows at once tells you nothing.</a:t>
            </a:r>
            <a:endParaRPr lang="en-US" sz="1800" dirty="0"/>
          </a:p>
        </p:txBody>
      </p:sp>
      <p:sp>
        <p:nvSpPr>
          <p:cNvPr id="6" name="Shape 4"/>
          <p:cNvSpPr/>
          <p:nvPr/>
        </p:nvSpPr>
        <p:spPr>
          <a:xfrm>
            <a:off x="1280160" y="5431536"/>
            <a:ext cx="15727680" cy="0"/>
          </a:xfrm>
          <a:prstGeom prst="line">
            <a:avLst/>
          </a:prstGeom>
          <a:noFill/>
          <a:ln w="12700">
            <a:solidFill>
              <a:srgbClr val="D9D9D9"/>
            </a:solidFill>
            <a:prstDash val="solid"/>
          </a:ln>
        </p:spPr>
        <p:txBody>
          <a:bodyPr/>
          <a:lstStyle/>
          <a:p>
            <a:endParaRPr lang="en-US"/>
          </a:p>
        </p:txBody>
      </p:sp>
      <p:sp>
        <p:nvSpPr>
          <p:cNvPr id="7" name="Text 5"/>
          <p:cNvSpPr txBox="1"/>
          <p:nvPr/>
        </p:nvSpPr>
        <p:spPr>
          <a:xfrm>
            <a:off x="1280160" y="5522976"/>
            <a:ext cx="1005840" cy="777240"/>
          </a:xfrm>
          <a:prstGeom prst="rect">
            <a:avLst/>
          </a:prstGeom>
          <a:noFill/>
          <a:ln/>
        </p:spPr>
        <p:txBody>
          <a:bodyPr wrap="square" lIns="0" tIns="0" rIns="0" bIns="0" rtlCol="0" anchor="ctr"/>
          <a:lstStyle/>
          <a:p>
            <a:pPr marL="0" indent="0">
              <a:buNone/>
            </a:pPr>
            <a:r>
              <a:rPr lang="en-US" sz="4200" dirty="0">
                <a:solidFill>
                  <a:srgbClr val="232E54"/>
                </a:solidFill>
                <a:latin typeface="Bahnschrift SemiBold" pitchFamily="34" charset="0"/>
                <a:ea typeface="Bahnschrift SemiBold" pitchFamily="34" charset="-122"/>
                <a:cs typeface="Bahnschrift SemiBold" pitchFamily="34" charset="-120"/>
              </a:rPr>
              <a:t>7</a:t>
            </a:r>
            <a:endParaRPr lang="en-US" sz="4200" dirty="0"/>
          </a:p>
        </p:txBody>
      </p:sp>
      <p:sp>
        <p:nvSpPr>
          <p:cNvPr id="8" name="Text 6"/>
          <p:cNvSpPr txBox="1"/>
          <p:nvPr/>
        </p:nvSpPr>
        <p:spPr>
          <a:xfrm>
            <a:off x="2377440" y="5650992"/>
            <a:ext cx="3017520" cy="411480"/>
          </a:xfrm>
          <a:prstGeom prst="rect">
            <a:avLst/>
          </a:prstGeom>
          <a:noFill/>
          <a:ln/>
        </p:spPr>
        <p:txBody>
          <a:bodyPr wrap="square" lIns="0" tIns="0" rIns="0" bIns="0" rtlCol="0" anchor="ctr"/>
          <a:lstStyle/>
          <a:p>
            <a:pPr marL="0" indent="0">
              <a:buNone/>
            </a:pPr>
            <a:r>
              <a:rPr lang="en-US" sz="2100" dirty="0">
                <a:solidFill>
                  <a:srgbClr val="18212F"/>
                </a:solidFill>
                <a:latin typeface="Bahnschrift SemiBold" pitchFamily="34" charset="0"/>
                <a:ea typeface="Bahnschrift SemiBold" pitchFamily="34" charset="-122"/>
                <a:cs typeface="Bahnschrift SemiBold" pitchFamily="34" charset="-120"/>
              </a:rPr>
              <a:t>Critical gap</a:t>
            </a:r>
            <a:endParaRPr lang="en-US" sz="2100" dirty="0"/>
          </a:p>
        </p:txBody>
      </p:sp>
      <p:sp>
        <p:nvSpPr>
          <p:cNvPr id="9" name="Text 7"/>
          <p:cNvSpPr txBox="1"/>
          <p:nvPr/>
        </p:nvSpPr>
        <p:spPr>
          <a:xfrm>
            <a:off x="2377440" y="6053328"/>
            <a:ext cx="3017520" cy="32004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under 40 percent</a:t>
            </a:r>
            <a:endParaRPr lang="en-US" sz="1400" dirty="0"/>
          </a:p>
        </p:txBody>
      </p:sp>
      <p:sp>
        <p:nvSpPr>
          <p:cNvPr id="10" name="Shape 8"/>
          <p:cNvSpPr/>
          <p:nvPr/>
        </p:nvSpPr>
        <p:spPr>
          <a:xfrm>
            <a:off x="5760720" y="5815584"/>
            <a:ext cx="5852160" cy="237744"/>
          </a:xfrm>
          <a:prstGeom prst="roundRect">
            <a:avLst>
              <a:gd name="adj" fmla="val 192308"/>
            </a:avLst>
          </a:prstGeom>
          <a:solidFill>
            <a:srgbClr val="EEF2F5"/>
          </a:solidFill>
          <a:ln w="12700">
            <a:solidFill>
              <a:srgbClr val="EEF2F5"/>
            </a:solidFill>
            <a:prstDash val="solid"/>
          </a:ln>
        </p:spPr>
        <p:txBody>
          <a:bodyPr/>
          <a:lstStyle/>
          <a:p>
            <a:endParaRPr lang="en-US"/>
          </a:p>
        </p:txBody>
      </p:sp>
      <p:sp>
        <p:nvSpPr>
          <p:cNvPr id="11" name="Shape 9"/>
          <p:cNvSpPr/>
          <p:nvPr/>
        </p:nvSpPr>
        <p:spPr>
          <a:xfrm>
            <a:off x="5760720" y="5815584"/>
            <a:ext cx="1053389"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12" name="Text 10"/>
          <p:cNvSpPr txBox="1"/>
          <p:nvPr/>
        </p:nvSpPr>
        <p:spPr>
          <a:xfrm>
            <a:off x="11887200" y="5705856"/>
            <a:ext cx="5120640" cy="45720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Worst: Salina line setup, 12 percent</a:t>
            </a:r>
            <a:endParaRPr lang="en-US" sz="1600" dirty="0"/>
          </a:p>
        </p:txBody>
      </p:sp>
      <p:sp>
        <p:nvSpPr>
          <p:cNvPr id="13" name="Shape 11"/>
          <p:cNvSpPr/>
          <p:nvPr/>
        </p:nvSpPr>
        <p:spPr>
          <a:xfrm>
            <a:off x="1280160" y="6601968"/>
            <a:ext cx="15727680" cy="0"/>
          </a:xfrm>
          <a:prstGeom prst="line">
            <a:avLst/>
          </a:prstGeom>
          <a:noFill/>
          <a:ln w="12700">
            <a:solidFill>
              <a:srgbClr val="D9D9D9"/>
            </a:solidFill>
            <a:prstDash val="solid"/>
          </a:ln>
        </p:spPr>
        <p:txBody>
          <a:bodyPr/>
          <a:lstStyle/>
          <a:p>
            <a:endParaRPr lang="en-US"/>
          </a:p>
        </p:txBody>
      </p:sp>
      <p:sp>
        <p:nvSpPr>
          <p:cNvPr id="14" name="Text 12"/>
          <p:cNvSpPr txBox="1"/>
          <p:nvPr/>
        </p:nvSpPr>
        <p:spPr>
          <a:xfrm>
            <a:off x="1280160" y="6693408"/>
            <a:ext cx="1005840" cy="777240"/>
          </a:xfrm>
          <a:prstGeom prst="rect">
            <a:avLst/>
          </a:prstGeom>
          <a:noFill/>
          <a:ln/>
        </p:spPr>
        <p:txBody>
          <a:bodyPr wrap="square" lIns="0" tIns="0" rIns="0" bIns="0" rtlCol="0" anchor="ctr"/>
          <a:lstStyle/>
          <a:p>
            <a:pPr marL="0" indent="0">
              <a:buNone/>
            </a:pPr>
            <a:r>
              <a:rPr lang="en-US" sz="4200" dirty="0">
                <a:solidFill>
                  <a:srgbClr val="232E54"/>
                </a:solidFill>
                <a:latin typeface="Bahnschrift SemiBold" pitchFamily="34" charset="0"/>
                <a:ea typeface="Bahnschrift SemiBold" pitchFamily="34" charset="-122"/>
                <a:cs typeface="Bahnschrift SemiBold" pitchFamily="34" charset="-120"/>
              </a:rPr>
              <a:t>6</a:t>
            </a:r>
            <a:endParaRPr lang="en-US" sz="4200" dirty="0"/>
          </a:p>
        </p:txBody>
      </p:sp>
      <p:sp>
        <p:nvSpPr>
          <p:cNvPr id="15" name="Text 13"/>
          <p:cNvSpPr txBox="1"/>
          <p:nvPr/>
        </p:nvSpPr>
        <p:spPr>
          <a:xfrm>
            <a:off x="2377440" y="6821424"/>
            <a:ext cx="3017520" cy="411480"/>
          </a:xfrm>
          <a:prstGeom prst="rect">
            <a:avLst/>
          </a:prstGeom>
          <a:noFill/>
          <a:ln/>
        </p:spPr>
        <p:txBody>
          <a:bodyPr wrap="square" lIns="0" tIns="0" rIns="0" bIns="0" rtlCol="0" anchor="ctr"/>
          <a:lstStyle/>
          <a:p>
            <a:pPr marL="0" indent="0">
              <a:buNone/>
            </a:pPr>
            <a:r>
              <a:rPr lang="en-US" sz="2100" dirty="0">
                <a:solidFill>
                  <a:srgbClr val="18212F"/>
                </a:solidFill>
                <a:latin typeface="Bahnschrift SemiBold" pitchFamily="34" charset="0"/>
                <a:ea typeface="Bahnschrift SemiBold" pitchFamily="34" charset="-122"/>
                <a:cs typeface="Bahnschrift SemiBold" pitchFamily="34" charset="-120"/>
              </a:rPr>
              <a:t>Needs attention</a:t>
            </a:r>
            <a:endParaRPr lang="en-US" sz="2100" dirty="0"/>
          </a:p>
        </p:txBody>
      </p:sp>
      <p:sp>
        <p:nvSpPr>
          <p:cNvPr id="16" name="Text 14"/>
          <p:cNvSpPr txBox="1"/>
          <p:nvPr/>
        </p:nvSpPr>
        <p:spPr>
          <a:xfrm>
            <a:off x="2377440" y="7223760"/>
            <a:ext cx="3017520" cy="32004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40 to 59 percent</a:t>
            </a:r>
            <a:endParaRPr lang="en-US" sz="1400" dirty="0"/>
          </a:p>
        </p:txBody>
      </p:sp>
      <p:sp>
        <p:nvSpPr>
          <p:cNvPr id="17" name="Shape 15"/>
          <p:cNvSpPr/>
          <p:nvPr/>
        </p:nvSpPr>
        <p:spPr>
          <a:xfrm>
            <a:off x="5760720" y="6986016"/>
            <a:ext cx="5852160" cy="237744"/>
          </a:xfrm>
          <a:prstGeom prst="roundRect">
            <a:avLst>
              <a:gd name="adj" fmla="val 192308"/>
            </a:avLst>
          </a:prstGeom>
          <a:solidFill>
            <a:srgbClr val="EEF2F5"/>
          </a:solidFill>
          <a:ln w="12700">
            <a:solidFill>
              <a:srgbClr val="EEF2F5"/>
            </a:solidFill>
            <a:prstDash val="solid"/>
          </a:ln>
        </p:spPr>
        <p:txBody>
          <a:bodyPr/>
          <a:lstStyle/>
          <a:p>
            <a:endParaRPr lang="en-US"/>
          </a:p>
        </p:txBody>
      </p:sp>
      <p:sp>
        <p:nvSpPr>
          <p:cNvPr id="18" name="Shape 16"/>
          <p:cNvSpPr/>
          <p:nvPr/>
        </p:nvSpPr>
        <p:spPr>
          <a:xfrm>
            <a:off x="5760720" y="6986016"/>
            <a:ext cx="2867558"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19" name="Text 17"/>
          <p:cNvSpPr txBox="1"/>
          <p:nvPr/>
        </p:nvSpPr>
        <p:spPr>
          <a:xfrm>
            <a:off x="11887200" y="6876288"/>
            <a:ext cx="5120640" cy="45720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Analytics, supply chain, packaging</a:t>
            </a:r>
            <a:endParaRPr lang="en-US" sz="1600" dirty="0"/>
          </a:p>
        </p:txBody>
      </p:sp>
      <p:sp>
        <p:nvSpPr>
          <p:cNvPr id="20" name="Shape 18"/>
          <p:cNvSpPr/>
          <p:nvPr/>
        </p:nvSpPr>
        <p:spPr>
          <a:xfrm>
            <a:off x="1280160" y="7772400"/>
            <a:ext cx="15727680" cy="0"/>
          </a:xfrm>
          <a:prstGeom prst="line">
            <a:avLst/>
          </a:prstGeom>
          <a:noFill/>
          <a:ln w="12700">
            <a:solidFill>
              <a:srgbClr val="D9D9D9"/>
            </a:solidFill>
            <a:prstDash val="solid"/>
          </a:ln>
        </p:spPr>
        <p:txBody>
          <a:bodyPr/>
          <a:lstStyle/>
          <a:p>
            <a:endParaRPr lang="en-US"/>
          </a:p>
        </p:txBody>
      </p:sp>
      <p:sp>
        <p:nvSpPr>
          <p:cNvPr id="21" name="Text 19"/>
          <p:cNvSpPr txBox="1"/>
          <p:nvPr/>
        </p:nvSpPr>
        <p:spPr>
          <a:xfrm>
            <a:off x="1280160" y="7863840"/>
            <a:ext cx="1005840" cy="777240"/>
          </a:xfrm>
          <a:prstGeom prst="rect">
            <a:avLst/>
          </a:prstGeom>
          <a:noFill/>
          <a:ln/>
        </p:spPr>
        <p:txBody>
          <a:bodyPr wrap="square" lIns="0" tIns="0" rIns="0" bIns="0" rtlCol="0" anchor="ctr"/>
          <a:lstStyle/>
          <a:p>
            <a:pPr marL="0" indent="0">
              <a:buNone/>
            </a:pPr>
            <a:r>
              <a:rPr lang="en-US" sz="4200" dirty="0">
                <a:solidFill>
                  <a:srgbClr val="232E54"/>
                </a:solidFill>
                <a:latin typeface="Bahnschrift SemiBold" pitchFamily="34" charset="0"/>
                <a:ea typeface="Bahnschrift SemiBold" pitchFamily="34" charset="-122"/>
                <a:cs typeface="Bahnschrift SemiBold" pitchFamily="34" charset="-120"/>
              </a:rPr>
              <a:t>7</a:t>
            </a:r>
            <a:endParaRPr lang="en-US" sz="4200" dirty="0"/>
          </a:p>
        </p:txBody>
      </p:sp>
      <p:sp>
        <p:nvSpPr>
          <p:cNvPr id="22" name="Text 20"/>
          <p:cNvSpPr txBox="1"/>
          <p:nvPr/>
        </p:nvSpPr>
        <p:spPr>
          <a:xfrm>
            <a:off x="2377440" y="7991856"/>
            <a:ext cx="3017520" cy="411480"/>
          </a:xfrm>
          <a:prstGeom prst="rect">
            <a:avLst/>
          </a:prstGeom>
          <a:noFill/>
          <a:ln/>
        </p:spPr>
        <p:txBody>
          <a:bodyPr wrap="square" lIns="0" tIns="0" rIns="0" bIns="0" rtlCol="0" anchor="ctr"/>
          <a:lstStyle/>
          <a:p>
            <a:pPr marL="0" indent="0">
              <a:buNone/>
            </a:pPr>
            <a:r>
              <a:rPr lang="en-US" sz="2100" dirty="0">
                <a:solidFill>
                  <a:srgbClr val="18212F"/>
                </a:solidFill>
                <a:latin typeface="Bahnschrift SemiBold" pitchFamily="34" charset="0"/>
                <a:ea typeface="Bahnschrift SemiBold" pitchFamily="34" charset="-122"/>
                <a:cs typeface="Bahnschrift SemiBold" pitchFamily="34" charset="-120"/>
              </a:rPr>
              <a:t>Well covered</a:t>
            </a:r>
            <a:endParaRPr lang="en-US" sz="2100" dirty="0"/>
          </a:p>
        </p:txBody>
      </p:sp>
      <p:sp>
        <p:nvSpPr>
          <p:cNvPr id="23" name="Text 21"/>
          <p:cNvSpPr txBox="1"/>
          <p:nvPr/>
        </p:nvSpPr>
        <p:spPr>
          <a:xfrm>
            <a:off x="2377440" y="8394192"/>
            <a:ext cx="3017520" cy="32004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60 percent and up</a:t>
            </a:r>
            <a:endParaRPr lang="en-US" sz="1400" dirty="0"/>
          </a:p>
        </p:txBody>
      </p:sp>
      <p:sp>
        <p:nvSpPr>
          <p:cNvPr id="24" name="Shape 22"/>
          <p:cNvSpPr/>
          <p:nvPr/>
        </p:nvSpPr>
        <p:spPr>
          <a:xfrm>
            <a:off x="5760720" y="8156448"/>
            <a:ext cx="5852160" cy="237744"/>
          </a:xfrm>
          <a:prstGeom prst="roundRect">
            <a:avLst>
              <a:gd name="adj" fmla="val 192308"/>
            </a:avLst>
          </a:prstGeom>
          <a:solidFill>
            <a:srgbClr val="EEF2F5"/>
          </a:solidFill>
          <a:ln w="12700">
            <a:solidFill>
              <a:srgbClr val="EEF2F5"/>
            </a:solidFill>
            <a:prstDash val="solid"/>
          </a:ln>
        </p:spPr>
        <p:txBody>
          <a:bodyPr/>
          <a:lstStyle/>
          <a:p>
            <a:endParaRPr lang="en-US"/>
          </a:p>
        </p:txBody>
      </p:sp>
      <p:sp>
        <p:nvSpPr>
          <p:cNvPr id="25" name="Shape 23"/>
          <p:cNvSpPr/>
          <p:nvPr/>
        </p:nvSpPr>
        <p:spPr>
          <a:xfrm>
            <a:off x="5760720" y="8156448"/>
            <a:ext cx="4681728"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26" name="Text 24"/>
          <p:cNvSpPr txBox="1"/>
          <p:nvPr/>
        </p:nvSpPr>
        <p:spPr>
          <a:xfrm>
            <a:off x="11887200" y="8046720"/>
            <a:ext cx="5120640" cy="45720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Food safety 91, route sales 88</a:t>
            </a:r>
            <a:endParaRPr lang="en-US" sz="1600" dirty="0"/>
          </a:p>
        </p:txBody>
      </p:sp>
      <p:sp>
        <p:nvSpPr>
          <p:cNvPr id="27" name="Shape 25"/>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28" name="Text 26"/>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Skills tab</a:t>
            </a:r>
            <a:endParaRPr lang="en-US" sz="1400" dirty="0"/>
          </a:p>
        </p:txBody>
      </p:sp>
      <p:sp>
        <p:nvSpPr>
          <p:cNvPr id="29" name="Text 27"/>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Demo coverage. Job groups are Schwan's own career areas.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EF2F5"/>
          </a:solidFill>
          <a:ln w="12700">
            <a:solidFill>
              <a:srgbClr val="EEF2F5"/>
            </a:solidFill>
            <a:prstDash val="solid"/>
          </a:ln>
        </p:spPr>
        <p:txBody>
          <a:bodyPr/>
          <a:lstStyle/>
          <a:p>
            <a:endParaRPr lang="en-US"/>
          </a:p>
        </p:txBody>
      </p:sp>
      <p:sp>
        <p:nvSpPr>
          <p:cNvPr id="3" name="Text 1"/>
          <p:cNvSpPr txBox="1"/>
          <p:nvPr/>
        </p:nvSpPr>
        <p:spPr>
          <a:xfrm>
            <a:off x="1170432" y="566928"/>
            <a:ext cx="2286000" cy="2194560"/>
          </a:xfrm>
          <a:prstGeom prst="rect">
            <a:avLst/>
          </a:prstGeom>
          <a:noFill/>
          <a:ln/>
        </p:spPr>
        <p:txBody>
          <a:bodyPr wrap="square" lIns="0" tIns="0" rIns="0" bIns="0" rtlCol="0" anchor="ctr"/>
          <a:lstStyle/>
          <a:p>
            <a:pPr marL="0" indent="0">
              <a:lnSpc>
                <a:spcPct val="82000"/>
              </a:lnSpc>
              <a:buNone/>
            </a:pPr>
            <a:r>
              <a:rPr lang="en-US" sz="14000" dirty="0">
                <a:solidFill>
                  <a:srgbClr val="DCE3EA"/>
                </a:solidFill>
                <a:latin typeface="Bahnschrift SemiBold" pitchFamily="34" charset="0"/>
                <a:ea typeface="Bahnschrift SemiBold" pitchFamily="34" charset="-122"/>
                <a:cs typeface="Bahnschrift SemiBold" pitchFamily="34" charset="-120"/>
              </a:rPr>
              <a:t>02</a:t>
            </a:r>
            <a:endParaRPr lang="en-US" sz="14000" dirty="0"/>
          </a:p>
        </p:txBody>
      </p:sp>
      <p:sp>
        <p:nvSpPr>
          <p:cNvPr id="4" name="Text 2"/>
          <p:cNvSpPr txBox="1"/>
          <p:nvPr/>
        </p:nvSpPr>
        <p:spPr>
          <a:xfrm>
            <a:off x="3931920" y="868680"/>
            <a:ext cx="13075920" cy="1463040"/>
          </a:xfrm>
          <a:prstGeom prst="rect">
            <a:avLst/>
          </a:prstGeom>
          <a:noFill/>
          <a:ln/>
        </p:spPr>
        <p:txBody>
          <a:bodyPr wrap="square" lIns="0" tIns="0" rIns="0" bIns="0" rtlCol="0" anchor="ctr"/>
          <a:lstStyle/>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What skills will be needed to support</a:t>
            </a:r>
            <a:endParaRPr lang="en-US" sz="3000" dirty="0"/>
          </a:p>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future business and technology strategies?</a:t>
            </a:r>
            <a:endParaRPr lang="en-US" sz="3000" dirty="0"/>
          </a:p>
        </p:txBody>
      </p:sp>
      <p:sp>
        <p:nvSpPr>
          <p:cNvPr id="5" name="Text 3"/>
          <p:cNvSpPr txBox="1"/>
          <p:nvPr/>
        </p:nvSpPr>
        <p:spPr>
          <a:xfrm>
            <a:off x="1280160" y="2743200"/>
            <a:ext cx="14081760" cy="1554480"/>
          </a:xfrm>
          <a:prstGeom prst="rect">
            <a:avLst/>
          </a:prstGeom>
          <a:noFill/>
          <a:ln/>
        </p:spPr>
        <p:txBody>
          <a:bodyPr wrap="square" lIns="0" tIns="0" rIns="0" bIns="0" rtlCol="0" anchor="ctr"/>
          <a:lstStyle/>
          <a:p>
            <a:pPr marL="0" indent="0">
              <a:lnSpc>
                <a:spcPct val="106000"/>
              </a:lnSpc>
              <a:buNone/>
            </a:pPr>
            <a:r>
              <a:rPr lang="en-US" sz="3600" dirty="0">
                <a:solidFill>
                  <a:srgbClr val="18212F"/>
                </a:solidFill>
                <a:latin typeface="Bahnschrift SemiBold" pitchFamily="34" charset="0"/>
                <a:ea typeface="Bahnschrift SemiBold" pitchFamily="34" charset="-122"/>
                <a:cs typeface="Bahnschrift SemiBold" pitchFamily="34" charset="-120"/>
              </a:rPr>
              <a:t>Five skills carry a 2027 target, each tied</a:t>
            </a:r>
            <a:endParaRPr lang="en-US" sz="3600" dirty="0"/>
          </a:p>
          <a:p>
            <a:pPr marL="0" indent="0">
              <a:lnSpc>
                <a:spcPct val="106000"/>
              </a:lnSpc>
              <a:buNone/>
            </a:pPr>
            <a:r>
              <a:rPr lang="en-US" sz="3600" dirty="0">
                <a:solidFill>
                  <a:srgbClr val="18212F"/>
                </a:solidFill>
                <a:latin typeface="Bahnschrift SemiBold" pitchFamily="34" charset="0"/>
                <a:ea typeface="Bahnschrift SemiBold" pitchFamily="34" charset="-122"/>
                <a:cs typeface="Bahnschrift SemiBold" pitchFamily="34" charset="-120"/>
              </a:rPr>
              <a:t>to something the company is already doing.</a:t>
            </a:r>
            <a:endParaRPr lang="en-US" sz="3600" dirty="0"/>
          </a:p>
        </p:txBody>
      </p:sp>
      <p:sp>
        <p:nvSpPr>
          <p:cNvPr id="6" name="Text 4"/>
          <p:cNvSpPr txBox="1"/>
          <p:nvPr/>
        </p:nvSpPr>
        <p:spPr>
          <a:xfrm>
            <a:off x="1280160" y="4754880"/>
            <a:ext cx="402336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Legal and compliance</a:t>
            </a:r>
            <a:endParaRPr lang="en-US" sz="1900" dirty="0"/>
          </a:p>
        </p:txBody>
      </p:sp>
      <p:sp>
        <p:nvSpPr>
          <p:cNvPr id="7" name="Shape 5"/>
          <p:cNvSpPr/>
          <p:nvPr/>
        </p:nvSpPr>
        <p:spPr>
          <a:xfrm>
            <a:off x="5669280" y="4846320"/>
            <a:ext cx="4572000" cy="237744"/>
          </a:xfrm>
          <a:prstGeom prst="roundRect">
            <a:avLst>
              <a:gd name="adj" fmla="val 192308"/>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5669280" y="4846320"/>
            <a:ext cx="2514600"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9" name="Shape 7"/>
          <p:cNvSpPr/>
          <p:nvPr/>
        </p:nvSpPr>
        <p:spPr>
          <a:xfrm>
            <a:off x="5669280" y="4846320"/>
            <a:ext cx="914400"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10" name="Text 8"/>
          <p:cNvSpPr txBox="1"/>
          <p:nvPr/>
        </p:nvSpPr>
        <p:spPr>
          <a:xfrm>
            <a:off x="10469880" y="4773168"/>
            <a:ext cx="1645920" cy="411480"/>
          </a:xfrm>
          <a:prstGeom prst="rect">
            <a:avLst/>
          </a:prstGeom>
          <a:noFill/>
          <a:ln/>
        </p:spPr>
        <p:txBody>
          <a:bodyPr wrap="square" lIns="0" tIns="0" rIns="0" bIns="0" rtlCol="0" anchor="ctr"/>
          <a:lstStyle/>
          <a:p>
            <a:pPr marL="0" indent="0">
              <a:buNone/>
            </a:pPr>
            <a:r>
              <a:rPr lang="en-US" sz="1500" dirty="0">
                <a:solidFill>
                  <a:srgbClr val="18212F"/>
                </a:solidFill>
                <a:latin typeface="Consolas" pitchFamily="34" charset="0"/>
                <a:ea typeface="Consolas" pitchFamily="34" charset="-122"/>
                <a:cs typeface="Consolas" pitchFamily="34" charset="-120"/>
              </a:rPr>
              <a:t>20 to 55</a:t>
            </a:r>
            <a:endParaRPr lang="en-US" sz="1500" dirty="0"/>
          </a:p>
        </p:txBody>
      </p:sp>
      <p:sp>
        <p:nvSpPr>
          <p:cNvPr id="11" name="Text 9"/>
          <p:cNvSpPr txBox="1"/>
          <p:nvPr/>
        </p:nvSpPr>
        <p:spPr>
          <a:xfrm>
            <a:off x="12115800" y="4764024"/>
            <a:ext cx="777240" cy="411480"/>
          </a:xfrm>
          <a:prstGeom prst="rect">
            <a:avLst/>
          </a:prstGeom>
          <a:noFill/>
          <a:ln/>
        </p:spPr>
        <p:txBody>
          <a:bodyPr wrap="square" lIns="0" tIns="0" rIns="0" bIns="0" rtlCol="0" anchor="ctr"/>
          <a:lstStyle/>
          <a:p>
            <a:pPr marL="0" indent="0">
              <a:buNone/>
            </a:pPr>
            <a:r>
              <a:rPr lang="en-US" sz="1900" dirty="0">
                <a:solidFill>
                  <a:srgbClr val="232E54"/>
                </a:solidFill>
                <a:latin typeface="Bahnschrift SemiBold" pitchFamily="34" charset="0"/>
                <a:ea typeface="Bahnschrift SemiBold" pitchFamily="34" charset="-122"/>
                <a:cs typeface="Bahnschrift SemiBold" pitchFamily="34" charset="-120"/>
              </a:rPr>
              <a:t>+35</a:t>
            </a:r>
            <a:endParaRPr lang="en-US" sz="1900" dirty="0"/>
          </a:p>
        </p:txBody>
      </p:sp>
      <p:sp>
        <p:nvSpPr>
          <p:cNvPr id="12" name="Text 10"/>
          <p:cNvSpPr txBox="1"/>
          <p:nvPr/>
        </p:nvSpPr>
        <p:spPr>
          <a:xfrm>
            <a:off x="13075920" y="4791456"/>
            <a:ext cx="393192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CJ CheilJedang integration</a:t>
            </a:r>
            <a:endParaRPr lang="en-US" sz="1500" dirty="0"/>
          </a:p>
        </p:txBody>
      </p:sp>
      <p:sp>
        <p:nvSpPr>
          <p:cNvPr id="13" name="Shape 11"/>
          <p:cNvSpPr/>
          <p:nvPr/>
        </p:nvSpPr>
        <p:spPr>
          <a:xfrm>
            <a:off x="1280160" y="5449824"/>
            <a:ext cx="15727680" cy="0"/>
          </a:xfrm>
          <a:prstGeom prst="line">
            <a:avLst/>
          </a:prstGeom>
          <a:noFill/>
          <a:ln w="12700">
            <a:solidFill>
              <a:srgbClr val="DCE3EA"/>
            </a:solidFill>
            <a:prstDash val="solid"/>
          </a:ln>
        </p:spPr>
        <p:txBody>
          <a:bodyPr/>
          <a:lstStyle/>
          <a:p>
            <a:endParaRPr lang="en-US"/>
          </a:p>
        </p:txBody>
      </p:sp>
      <p:sp>
        <p:nvSpPr>
          <p:cNvPr id="14" name="Text 12"/>
          <p:cNvSpPr txBox="1"/>
          <p:nvPr/>
        </p:nvSpPr>
        <p:spPr>
          <a:xfrm>
            <a:off x="1280160" y="5623560"/>
            <a:ext cx="402336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PLC and automation</a:t>
            </a:r>
            <a:endParaRPr lang="en-US" sz="1900" dirty="0"/>
          </a:p>
        </p:txBody>
      </p:sp>
      <p:sp>
        <p:nvSpPr>
          <p:cNvPr id="15" name="Shape 13"/>
          <p:cNvSpPr/>
          <p:nvPr/>
        </p:nvSpPr>
        <p:spPr>
          <a:xfrm>
            <a:off x="5669280" y="5715000"/>
            <a:ext cx="4572000" cy="237744"/>
          </a:xfrm>
          <a:prstGeom prst="roundRect">
            <a:avLst>
              <a:gd name="adj" fmla="val 192308"/>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5669280" y="5715000"/>
            <a:ext cx="2971800"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17" name="Shape 15"/>
          <p:cNvSpPr/>
          <p:nvPr/>
        </p:nvSpPr>
        <p:spPr>
          <a:xfrm>
            <a:off x="5669280" y="5715000"/>
            <a:ext cx="1554480"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18" name="Text 16"/>
          <p:cNvSpPr txBox="1"/>
          <p:nvPr/>
        </p:nvSpPr>
        <p:spPr>
          <a:xfrm>
            <a:off x="10469880" y="5641848"/>
            <a:ext cx="1645920" cy="411480"/>
          </a:xfrm>
          <a:prstGeom prst="rect">
            <a:avLst/>
          </a:prstGeom>
          <a:noFill/>
          <a:ln/>
        </p:spPr>
        <p:txBody>
          <a:bodyPr wrap="square" lIns="0" tIns="0" rIns="0" bIns="0" rtlCol="0" anchor="ctr"/>
          <a:lstStyle/>
          <a:p>
            <a:pPr marL="0" indent="0">
              <a:buNone/>
            </a:pPr>
            <a:r>
              <a:rPr lang="en-US" sz="1500" dirty="0">
                <a:solidFill>
                  <a:srgbClr val="18212F"/>
                </a:solidFill>
                <a:latin typeface="Consolas" pitchFamily="34" charset="0"/>
                <a:ea typeface="Consolas" pitchFamily="34" charset="-122"/>
                <a:cs typeface="Consolas" pitchFamily="34" charset="-120"/>
              </a:rPr>
              <a:t>34 to 65</a:t>
            </a:r>
            <a:endParaRPr lang="en-US" sz="1500" dirty="0"/>
          </a:p>
        </p:txBody>
      </p:sp>
      <p:sp>
        <p:nvSpPr>
          <p:cNvPr id="19" name="Text 17"/>
          <p:cNvSpPr txBox="1"/>
          <p:nvPr/>
        </p:nvSpPr>
        <p:spPr>
          <a:xfrm>
            <a:off x="12115800" y="5632704"/>
            <a:ext cx="777240" cy="411480"/>
          </a:xfrm>
          <a:prstGeom prst="rect">
            <a:avLst/>
          </a:prstGeom>
          <a:noFill/>
          <a:ln/>
        </p:spPr>
        <p:txBody>
          <a:bodyPr wrap="square" lIns="0" tIns="0" rIns="0" bIns="0" rtlCol="0" anchor="ctr"/>
          <a:lstStyle/>
          <a:p>
            <a:pPr marL="0" indent="0">
              <a:buNone/>
            </a:pPr>
            <a:r>
              <a:rPr lang="en-US" sz="1900" dirty="0">
                <a:solidFill>
                  <a:srgbClr val="232E54"/>
                </a:solidFill>
                <a:latin typeface="Bahnschrift SemiBold" pitchFamily="34" charset="0"/>
                <a:ea typeface="Bahnschrift SemiBold" pitchFamily="34" charset="-122"/>
                <a:cs typeface="Bahnschrift SemiBold" pitchFamily="34" charset="-120"/>
              </a:rPr>
              <a:t>+31</a:t>
            </a:r>
            <a:endParaRPr lang="en-US" sz="1900" dirty="0"/>
          </a:p>
        </p:txBody>
      </p:sp>
      <p:sp>
        <p:nvSpPr>
          <p:cNvPr id="20" name="Text 18"/>
          <p:cNvSpPr txBox="1"/>
          <p:nvPr/>
        </p:nvSpPr>
        <p:spPr>
          <a:xfrm>
            <a:off x="13075920" y="5660136"/>
            <a:ext cx="393192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Sioux Falls plant opens 2027</a:t>
            </a:r>
            <a:endParaRPr lang="en-US" sz="1500" dirty="0"/>
          </a:p>
        </p:txBody>
      </p:sp>
      <p:sp>
        <p:nvSpPr>
          <p:cNvPr id="21" name="Shape 19"/>
          <p:cNvSpPr/>
          <p:nvPr/>
        </p:nvSpPr>
        <p:spPr>
          <a:xfrm>
            <a:off x="1280160" y="6318504"/>
            <a:ext cx="15727680" cy="0"/>
          </a:xfrm>
          <a:prstGeom prst="line">
            <a:avLst/>
          </a:prstGeom>
          <a:noFill/>
          <a:ln w="12700">
            <a:solidFill>
              <a:srgbClr val="DCE3EA"/>
            </a:solidFill>
            <a:prstDash val="solid"/>
          </a:ln>
        </p:spPr>
        <p:txBody>
          <a:bodyPr/>
          <a:lstStyle/>
          <a:p>
            <a:endParaRPr lang="en-US"/>
          </a:p>
        </p:txBody>
      </p:sp>
      <p:sp>
        <p:nvSpPr>
          <p:cNvPr id="22" name="Text 20"/>
          <p:cNvSpPr txBox="1"/>
          <p:nvPr/>
        </p:nvSpPr>
        <p:spPr>
          <a:xfrm>
            <a:off x="1280160" y="6492240"/>
            <a:ext cx="402336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Data analytics</a:t>
            </a:r>
            <a:endParaRPr lang="en-US" sz="1900" dirty="0"/>
          </a:p>
        </p:txBody>
      </p:sp>
      <p:sp>
        <p:nvSpPr>
          <p:cNvPr id="23" name="Shape 21"/>
          <p:cNvSpPr/>
          <p:nvPr/>
        </p:nvSpPr>
        <p:spPr>
          <a:xfrm>
            <a:off x="5669280" y="6583680"/>
            <a:ext cx="4572000" cy="237744"/>
          </a:xfrm>
          <a:prstGeom prst="roundRect">
            <a:avLst>
              <a:gd name="adj" fmla="val 192308"/>
            </a:avLst>
          </a:prstGeom>
          <a:solidFill>
            <a:srgbClr val="FFFFFF"/>
          </a:solidFill>
          <a:ln w="12700">
            <a:solidFill>
              <a:srgbClr val="FFFFFF"/>
            </a:solidFill>
            <a:prstDash val="solid"/>
          </a:ln>
        </p:spPr>
        <p:txBody>
          <a:bodyPr/>
          <a:lstStyle/>
          <a:p>
            <a:endParaRPr lang="en-US"/>
          </a:p>
        </p:txBody>
      </p:sp>
      <p:sp>
        <p:nvSpPr>
          <p:cNvPr id="24" name="Shape 22"/>
          <p:cNvSpPr/>
          <p:nvPr/>
        </p:nvSpPr>
        <p:spPr>
          <a:xfrm>
            <a:off x="5669280" y="6583680"/>
            <a:ext cx="3200400"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25" name="Shape 23"/>
          <p:cNvSpPr/>
          <p:nvPr/>
        </p:nvSpPr>
        <p:spPr>
          <a:xfrm>
            <a:off x="5669280" y="6583680"/>
            <a:ext cx="1874520"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26" name="Text 24"/>
          <p:cNvSpPr txBox="1"/>
          <p:nvPr/>
        </p:nvSpPr>
        <p:spPr>
          <a:xfrm>
            <a:off x="10469880" y="6510528"/>
            <a:ext cx="1645920" cy="411480"/>
          </a:xfrm>
          <a:prstGeom prst="rect">
            <a:avLst/>
          </a:prstGeom>
          <a:noFill/>
          <a:ln/>
        </p:spPr>
        <p:txBody>
          <a:bodyPr wrap="square" lIns="0" tIns="0" rIns="0" bIns="0" rtlCol="0" anchor="ctr"/>
          <a:lstStyle/>
          <a:p>
            <a:pPr marL="0" indent="0">
              <a:buNone/>
            </a:pPr>
            <a:r>
              <a:rPr lang="en-US" sz="1500" dirty="0">
                <a:solidFill>
                  <a:srgbClr val="18212F"/>
                </a:solidFill>
                <a:latin typeface="Consolas" pitchFamily="34" charset="0"/>
                <a:ea typeface="Consolas" pitchFamily="34" charset="-122"/>
                <a:cs typeface="Consolas" pitchFamily="34" charset="-120"/>
              </a:rPr>
              <a:t>41 to 70</a:t>
            </a:r>
            <a:endParaRPr lang="en-US" sz="1500" dirty="0"/>
          </a:p>
        </p:txBody>
      </p:sp>
      <p:sp>
        <p:nvSpPr>
          <p:cNvPr id="27" name="Text 25"/>
          <p:cNvSpPr txBox="1"/>
          <p:nvPr/>
        </p:nvSpPr>
        <p:spPr>
          <a:xfrm>
            <a:off x="12115800" y="6501384"/>
            <a:ext cx="777240" cy="411480"/>
          </a:xfrm>
          <a:prstGeom prst="rect">
            <a:avLst/>
          </a:prstGeom>
          <a:noFill/>
          <a:ln/>
        </p:spPr>
        <p:txBody>
          <a:bodyPr wrap="square" lIns="0" tIns="0" rIns="0" bIns="0" rtlCol="0" anchor="ctr"/>
          <a:lstStyle/>
          <a:p>
            <a:pPr marL="0" indent="0">
              <a:buNone/>
            </a:pPr>
            <a:r>
              <a:rPr lang="en-US" sz="1900" dirty="0">
                <a:solidFill>
                  <a:srgbClr val="232E54"/>
                </a:solidFill>
                <a:latin typeface="Bahnschrift SemiBold" pitchFamily="34" charset="0"/>
                <a:ea typeface="Bahnschrift SemiBold" pitchFamily="34" charset="-122"/>
                <a:cs typeface="Bahnschrift SemiBold" pitchFamily="34" charset="-120"/>
              </a:rPr>
              <a:t>+29</a:t>
            </a:r>
            <a:endParaRPr lang="en-US" sz="1900" dirty="0"/>
          </a:p>
        </p:txBody>
      </p:sp>
      <p:sp>
        <p:nvSpPr>
          <p:cNvPr id="28" name="Text 26"/>
          <p:cNvSpPr txBox="1"/>
          <p:nvPr/>
        </p:nvSpPr>
        <p:spPr>
          <a:xfrm>
            <a:off x="13075920" y="6528816"/>
            <a:ext cx="393192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Demand forecasting rollout</a:t>
            </a:r>
            <a:endParaRPr lang="en-US" sz="1500" dirty="0"/>
          </a:p>
        </p:txBody>
      </p:sp>
      <p:sp>
        <p:nvSpPr>
          <p:cNvPr id="29" name="Shape 27"/>
          <p:cNvSpPr/>
          <p:nvPr/>
        </p:nvSpPr>
        <p:spPr>
          <a:xfrm>
            <a:off x="1280160" y="7187184"/>
            <a:ext cx="15727680" cy="0"/>
          </a:xfrm>
          <a:prstGeom prst="line">
            <a:avLst/>
          </a:prstGeom>
          <a:noFill/>
          <a:ln w="12700">
            <a:solidFill>
              <a:srgbClr val="DCE3EA"/>
            </a:solidFill>
            <a:prstDash val="solid"/>
          </a:ln>
        </p:spPr>
        <p:txBody>
          <a:bodyPr/>
          <a:lstStyle/>
          <a:p>
            <a:endParaRPr lang="en-US"/>
          </a:p>
        </p:txBody>
      </p:sp>
      <p:sp>
        <p:nvSpPr>
          <p:cNvPr id="30" name="Text 28"/>
          <p:cNvSpPr txBox="1"/>
          <p:nvPr/>
        </p:nvSpPr>
        <p:spPr>
          <a:xfrm>
            <a:off x="1280160" y="7360920"/>
            <a:ext cx="402336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Refrigeration and ammonia</a:t>
            </a:r>
            <a:endParaRPr lang="en-US" sz="1900" dirty="0"/>
          </a:p>
        </p:txBody>
      </p:sp>
      <p:sp>
        <p:nvSpPr>
          <p:cNvPr id="31" name="Shape 29"/>
          <p:cNvSpPr/>
          <p:nvPr/>
        </p:nvSpPr>
        <p:spPr>
          <a:xfrm>
            <a:off x="5669280" y="7452360"/>
            <a:ext cx="4572000" cy="237744"/>
          </a:xfrm>
          <a:prstGeom prst="roundRect">
            <a:avLst>
              <a:gd name="adj" fmla="val 192308"/>
            </a:avLst>
          </a:prstGeom>
          <a:solidFill>
            <a:srgbClr val="FFFFFF"/>
          </a:solidFill>
          <a:ln w="12700">
            <a:solidFill>
              <a:srgbClr val="FFFFFF"/>
            </a:solidFill>
            <a:prstDash val="solid"/>
          </a:ln>
        </p:spPr>
        <p:txBody>
          <a:bodyPr/>
          <a:lstStyle/>
          <a:p>
            <a:endParaRPr lang="en-US"/>
          </a:p>
        </p:txBody>
      </p:sp>
      <p:sp>
        <p:nvSpPr>
          <p:cNvPr id="32" name="Shape 30"/>
          <p:cNvSpPr/>
          <p:nvPr/>
        </p:nvSpPr>
        <p:spPr>
          <a:xfrm>
            <a:off x="5669280" y="7452360"/>
            <a:ext cx="2286000"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33" name="Shape 31"/>
          <p:cNvSpPr/>
          <p:nvPr/>
        </p:nvSpPr>
        <p:spPr>
          <a:xfrm>
            <a:off x="5669280" y="7452360"/>
            <a:ext cx="1005840"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34" name="Text 32"/>
          <p:cNvSpPr txBox="1"/>
          <p:nvPr/>
        </p:nvSpPr>
        <p:spPr>
          <a:xfrm>
            <a:off x="10469880" y="7379208"/>
            <a:ext cx="1645920" cy="411480"/>
          </a:xfrm>
          <a:prstGeom prst="rect">
            <a:avLst/>
          </a:prstGeom>
          <a:noFill/>
          <a:ln/>
        </p:spPr>
        <p:txBody>
          <a:bodyPr wrap="square" lIns="0" tIns="0" rIns="0" bIns="0" rtlCol="0" anchor="ctr"/>
          <a:lstStyle/>
          <a:p>
            <a:pPr marL="0" indent="0">
              <a:buNone/>
            </a:pPr>
            <a:r>
              <a:rPr lang="en-US" sz="1500" dirty="0">
                <a:solidFill>
                  <a:srgbClr val="18212F"/>
                </a:solidFill>
                <a:latin typeface="Consolas" pitchFamily="34" charset="0"/>
                <a:ea typeface="Consolas" pitchFamily="34" charset="-122"/>
                <a:cs typeface="Consolas" pitchFamily="34" charset="-120"/>
              </a:rPr>
              <a:t>22 to 50</a:t>
            </a:r>
            <a:endParaRPr lang="en-US" sz="1500" dirty="0"/>
          </a:p>
        </p:txBody>
      </p:sp>
      <p:sp>
        <p:nvSpPr>
          <p:cNvPr id="35" name="Text 33"/>
          <p:cNvSpPr txBox="1"/>
          <p:nvPr/>
        </p:nvSpPr>
        <p:spPr>
          <a:xfrm>
            <a:off x="12115800" y="7370064"/>
            <a:ext cx="777240" cy="411480"/>
          </a:xfrm>
          <a:prstGeom prst="rect">
            <a:avLst/>
          </a:prstGeom>
          <a:noFill/>
          <a:ln/>
        </p:spPr>
        <p:txBody>
          <a:bodyPr wrap="square" lIns="0" tIns="0" rIns="0" bIns="0" rtlCol="0" anchor="ctr"/>
          <a:lstStyle/>
          <a:p>
            <a:pPr marL="0" indent="0">
              <a:buNone/>
            </a:pPr>
            <a:r>
              <a:rPr lang="en-US" sz="1900" dirty="0">
                <a:solidFill>
                  <a:srgbClr val="232E54"/>
                </a:solidFill>
                <a:latin typeface="Bahnschrift SemiBold" pitchFamily="34" charset="0"/>
                <a:ea typeface="Bahnschrift SemiBold" pitchFamily="34" charset="-122"/>
                <a:cs typeface="Bahnschrift SemiBold" pitchFamily="34" charset="-120"/>
              </a:rPr>
              <a:t>+28</a:t>
            </a:r>
            <a:endParaRPr lang="en-US" sz="1900" dirty="0"/>
          </a:p>
        </p:txBody>
      </p:sp>
      <p:sp>
        <p:nvSpPr>
          <p:cNvPr id="36" name="Text 34"/>
          <p:cNvSpPr txBox="1"/>
          <p:nvPr/>
        </p:nvSpPr>
        <p:spPr>
          <a:xfrm>
            <a:off x="13075920" y="7397496"/>
            <a:ext cx="393192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Frozen capacity expansion</a:t>
            </a:r>
            <a:endParaRPr lang="en-US" sz="1500" dirty="0"/>
          </a:p>
        </p:txBody>
      </p:sp>
      <p:sp>
        <p:nvSpPr>
          <p:cNvPr id="37" name="Shape 35"/>
          <p:cNvSpPr/>
          <p:nvPr/>
        </p:nvSpPr>
        <p:spPr>
          <a:xfrm>
            <a:off x="1280160" y="8055864"/>
            <a:ext cx="15727680" cy="0"/>
          </a:xfrm>
          <a:prstGeom prst="line">
            <a:avLst/>
          </a:prstGeom>
          <a:noFill/>
          <a:ln w="12700">
            <a:solidFill>
              <a:srgbClr val="DCE3EA"/>
            </a:solidFill>
            <a:prstDash val="solid"/>
          </a:ln>
        </p:spPr>
        <p:txBody>
          <a:bodyPr/>
          <a:lstStyle/>
          <a:p>
            <a:endParaRPr lang="en-US"/>
          </a:p>
        </p:txBody>
      </p:sp>
      <p:sp>
        <p:nvSpPr>
          <p:cNvPr id="38" name="Text 36"/>
          <p:cNvSpPr txBox="1"/>
          <p:nvPr/>
        </p:nvSpPr>
        <p:spPr>
          <a:xfrm>
            <a:off x="1280160" y="8229600"/>
            <a:ext cx="402336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Menu and culinary consulting</a:t>
            </a:r>
            <a:endParaRPr lang="en-US" sz="1900" dirty="0"/>
          </a:p>
        </p:txBody>
      </p:sp>
      <p:sp>
        <p:nvSpPr>
          <p:cNvPr id="39" name="Shape 37"/>
          <p:cNvSpPr/>
          <p:nvPr/>
        </p:nvSpPr>
        <p:spPr>
          <a:xfrm>
            <a:off x="5669280" y="8321040"/>
            <a:ext cx="4572000" cy="237744"/>
          </a:xfrm>
          <a:prstGeom prst="roundRect">
            <a:avLst>
              <a:gd name="adj" fmla="val 192308"/>
            </a:avLst>
          </a:prstGeom>
          <a:solidFill>
            <a:srgbClr val="FFFFFF"/>
          </a:solidFill>
          <a:ln w="12700">
            <a:solidFill>
              <a:srgbClr val="FFFFFF"/>
            </a:solidFill>
            <a:prstDash val="solid"/>
          </a:ln>
        </p:spPr>
        <p:txBody>
          <a:bodyPr/>
          <a:lstStyle/>
          <a:p>
            <a:endParaRPr lang="en-US"/>
          </a:p>
        </p:txBody>
      </p:sp>
      <p:sp>
        <p:nvSpPr>
          <p:cNvPr id="40" name="Shape 38"/>
          <p:cNvSpPr/>
          <p:nvPr/>
        </p:nvSpPr>
        <p:spPr>
          <a:xfrm>
            <a:off x="5669280" y="8321040"/>
            <a:ext cx="2514600" cy="237744"/>
          </a:xfrm>
          <a:prstGeom prst="roundRect">
            <a:avLst>
              <a:gd name="adj" fmla="val 192308"/>
            </a:avLst>
          </a:prstGeom>
          <a:solidFill>
            <a:srgbClr val="C3CCDA"/>
          </a:solidFill>
          <a:ln w="12700">
            <a:solidFill>
              <a:srgbClr val="C3CCDA"/>
            </a:solidFill>
            <a:prstDash val="solid"/>
          </a:ln>
        </p:spPr>
        <p:txBody>
          <a:bodyPr/>
          <a:lstStyle/>
          <a:p>
            <a:endParaRPr lang="en-US"/>
          </a:p>
        </p:txBody>
      </p:sp>
      <p:sp>
        <p:nvSpPr>
          <p:cNvPr id="41" name="Shape 39"/>
          <p:cNvSpPr/>
          <p:nvPr/>
        </p:nvSpPr>
        <p:spPr>
          <a:xfrm>
            <a:off x="5669280" y="8321040"/>
            <a:ext cx="1325880" cy="237744"/>
          </a:xfrm>
          <a:prstGeom prst="roundRect">
            <a:avLst>
              <a:gd name="adj" fmla="val 192308"/>
            </a:avLst>
          </a:prstGeom>
          <a:solidFill>
            <a:srgbClr val="232E54"/>
          </a:solidFill>
          <a:ln w="12700">
            <a:solidFill>
              <a:srgbClr val="232E54"/>
            </a:solidFill>
            <a:prstDash val="solid"/>
          </a:ln>
        </p:spPr>
        <p:txBody>
          <a:bodyPr/>
          <a:lstStyle/>
          <a:p>
            <a:endParaRPr lang="en-US"/>
          </a:p>
        </p:txBody>
      </p:sp>
      <p:sp>
        <p:nvSpPr>
          <p:cNvPr id="42" name="Text 40"/>
          <p:cNvSpPr txBox="1"/>
          <p:nvPr/>
        </p:nvSpPr>
        <p:spPr>
          <a:xfrm>
            <a:off x="10469880" y="8247888"/>
            <a:ext cx="1645920" cy="411480"/>
          </a:xfrm>
          <a:prstGeom prst="rect">
            <a:avLst/>
          </a:prstGeom>
          <a:noFill/>
          <a:ln/>
        </p:spPr>
        <p:txBody>
          <a:bodyPr wrap="square" lIns="0" tIns="0" rIns="0" bIns="0" rtlCol="0" anchor="ctr"/>
          <a:lstStyle/>
          <a:p>
            <a:pPr marL="0" indent="0">
              <a:buNone/>
            </a:pPr>
            <a:r>
              <a:rPr lang="en-US" sz="1500" dirty="0">
                <a:solidFill>
                  <a:srgbClr val="18212F"/>
                </a:solidFill>
                <a:latin typeface="Consolas" pitchFamily="34" charset="0"/>
                <a:ea typeface="Consolas" pitchFamily="34" charset="-122"/>
                <a:cs typeface="Consolas" pitchFamily="34" charset="-120"/>
              </a:rPr>
              <a:t>29 to 55</a:t>
            </a:r>
            <a:endParaRPr lang="en-US" sz="1500" dirty="0"/>
          </a:p>
        </p:txBody>
      </p:sp>
      <p:sp>
        <p:nvSpPr>
          <p:cNvPr id="43" name="Text 41"/>
          <p:cNvSpPr txBox="1"/>
          <p:nvPr/>
        </p:nvSpPr>
        <p:spPr>
          <a:xfrm>
            <a:off x="12115800" y="8238744"/>
            <a:ext cx="777240" cy="411480"/>
          </a:xfrm>
          <a:prstGeom prst="rect">
            <a:avLst/>
          </a:prstGeom>
          <a:noFill/>
          <a:ln/>
        </p:spPr>
        <p:txBody>
          <a:bodyPr wrap="square" lIns="0" tIns="0" rIns="0" bIns="0" rtlCol="0" anchor="ctr"/>
          <a:lstStyle/>
          <a:p>
            <a:pPr marL="0" indent="0">
              <a:buNone/>
            </a:pPr>
            <a:r>
              <a:rPr lang="en-US" sz="1900" dirty="0">
                <a:solidFill>
                  <a:srgbClr val="232E54"/>
                </a:solidFill>
                <a:latin typeface="Bahnschrift SemiBold" pitchFamily="34" charset="0"/>
                <a:ea typeface="Bahnschrift SemiBold" pitchFamily="34" charset="-122"/>
                <a:cs typeface="Bahnschrift SemiBold" pitchFamily="34" charset="-120"/>
              </a:rPr>
              <a:t>+26</a:t>
            </a:r>
            <a:endParaRPr lang="en-US" sz="1900" dirty="0"/>
          </a:p>
        </p:txBody>
      </p:sp>
      <p:sp>
        <p:nvSpPr>
          <p:cNvPr id="44" name="Text 42"/>
          <p:cNvSpPr txBox="1"/>
          <p:nvPr/>
        </p:nvSpPr>
        <p:spPr>
          <a:xfrm>
            <a:off x="13075920" y="8266176"/>
            <a:ext cx="393192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K-12 and healthcare accounts</a:t>
            </a:r>
            <a:endParaRPr lang="en-US" sz="1500" dirty="0"/>
          </a:p>
        </p:txBody>
      </p:sp>
      <p:sp>
        <p:nvSpPr>
          <p:cNvPr id="45" name="Text 43"/>
          <p:cNvSpPr txBox="1"/>
          <p:nvPr/>
        </p:nvSpPr>
        <p:spPr>
          <a:xfrm>
            <a:off x="5669280" y="4315968"/>
            <a:ext cx="68580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Dark bar is coverage today. Light bar is what 2027 needs.</a:t>
            </a:r>
            <a:endParaRPr lang="en-US" sz="1400" dirty="0"/>
          </a:p>
        </p:txBody>
      </p:sp>
      <p:sp>
        <p:nvSpPr>
          <p:cNvPr id="46" name="Shape 44"/>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47" name="Text 45"/>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Future skills tab</a:t>
            </a:r>
            <a:endParaRPr lang="en-US" sz="1400" dirty="0"/>
          </a:p>
        </p:txBody>
      </p:sp>
      <p:sp>
        <p:nvSpPr>
          <p:cNvPr id="48" name="Text 46"/>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Demo targets. Drivers sourced: company release, CJ CheilJedang.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p:cNvSpPr/>
          <p:nvPr/>
        </p:nvSpPr>
        <p:spPr>
          <a:xfrm>
            <a:off x="10607040" y="0"/>
            <a:ext cx="8229600" cy="10287000"/>
          </a:xfrm>
          <a:prstGeom prst="rect">
            <a:avLst/>
          </a:prstGeom>
          <a:solidFill>
            <a:srgbClr val="324070"/>
          </a:solidFill>
          <a:ln w="12700">
            <a:solidFill>
              <a:srgbClr val="324070"/>
            </a:solidFill>
            <a:prstDash val="solid"/>
          </a:ln>
        </p:spPr>
        <p:txBody>
          <a:bodyPr/>
          <a:lstStyle/>
          <a:p>
            <a:endParaRPr lang="en-US"/>
          </a:p>
        </p:txBody>
      </p:sp>
      <p:sp>
        <p:nvSpPr>
          <p:cNvPr id="4" name="Text 2"/>
          <p:cNvSpPr txBox="1"/>
          <p:nvPr/>
        </p:nvSpPr>
        <p:spPr>
          <a:xfrm>
            <a:off x="1170432" y="566928"/>
            <a:ext cx="2286000" cy="2194560"/>
          </a:xfrm>
          <a:prstGeom prst="rect">
            <a:avLst/>
          </a:prstGeom>
          <a:noFill/>
          <a:ln/>
        </p:spPr>
        <p:txBody>
          <a:bodyPr wrap="square" lIns="0" tIns="0" rIns="0" bIns="0" rtlCol="0" anchor="ctr"/>
          <a:lstStyle/>
          <a:p>
            <a:pPr marL="0" indent="0">
              <a:lnSpc>
                <a:spcPct val="82000"/>
              </a:lnSpc>
              <a:buNone/>
            </a:pPr>
            <a:r>
              <a:rPr lang="en-US" sz="14000" dirty="0">
                <a:solidFill>
                  <a:srgbClr val="44528A"/>
                </a:solidFill>
                <a:latin typeface="Bahnschrift SemiBold" pitchFamily="34" charset="0"/>
                <a:ea typeface="Bahnschrift SemiBold" pitchFamily="34" charset="-122"/>
                <a:cs typeface="Bahnschrift SemiBold" pitchFamily="34" charset="-120"/>
              </a:rPr>
              <a:t>03</a:t>
            </a:r>
            <a:endParaRPr lang="en-US" sz="14000" dirty="0"/>
          </a:p>
        </p:txBody>
      </p:sp>
      <p:sp>
        <p:nvSpPr>
          <p:cNvPr id="5" name="Text 3"/>
          <p:cNvSpPr txBox="1"/>
          <p:nvPr/>
        </p:nvSpPr>
        <p:spPr>
          <a:xfrm>
            <a:off x="3931920" y="868680"/>
            <a:ext cx="6675120" cy="2011680"/>
          </a:xfrm>
          <a:prstGeom prst="rect">
            <a:avLst/>
          </a:prstGeom>
          <a:noFill/>
          <a:ln/>
        </p:spPr>
        <p:txBody>
          <a:bodyPr wrap="square" lIns="0" tIns="0" rIns="0" bIns="0" rtlCol="0" anchor="ctr"/>
          <a:lstStyle/>
          <a:p>
            <a:pPr marL="0" indent="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Which critical skills are</a:t>
            </a:r>
            <a:endParaRPr lang="en-US" sz="2600" dirty="0"/>
          </a:p>
          <a:p>
            <a:pPr marL="0" indent="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concentrated in only a</a:t>
            </a:r>
            <a:endParaRPr lang="en-US" sz="2600" dirty="0"/>
          </a:p>
          <a:p>
            <a:pPr marL="0" indent="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few individuals?</a:t>
            </a:r>
            <a:endParaRPr lang="en-US" sz="2600" dirty="0"/>
          </a:p>
        </p:txBody>
      </p:sp>
      <p:sp>
        <p:nvSpPr>
          <p:cNvPr id="6" name="Text 4"/>
          <p:cNvSpPr txBox="1"/>
          <p:nvPr/>
        </p:nvSpPr>
        <p:spPr>
          <a:xfrm>
            <a:off x="1280160" y="3566160"/>
            <a:ext cx="8412480" cy="2743200"/>
          </a:xfrm>
          <a:prstGeom prst="rect">
            <a:avLst/>
          </a:prstGeom>
          <a:noFill/>
          <a:ln/>
        </p:spPr>
        <p:txBody>
          <a:bodyPr wrap="square" lIns="0" tIns="0" rIns="0" bIns="0" rtlCol="0" anchor="ctr"/>
          <a:lstStyle/>
          <a:p>
            <a:pPr marL="0" indent="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Six skills sit with three</a:t>
            </a:r>
            <a:endParaRPr lang="en-US" sz="3600" dirty="0"/>
          </a:p>
          <a:p>
            <a:pPr marL="0" indent="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people or fewer. One sits</a:t>
            </a:r>
            <a:endParaRPr lang="en-US" sz="3600" dirty="0"/>
          </a:p>
          <a:p>
            <a:pPr marL="0" indent="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with a single person.</a:t>
            </a:r>
            <a:endParaRPr lang="en-US" sz="3600" dirty="0"/>
          </a:p>
        </p:txBody>
      </p:sp>
      <p:sp>
        <p:nvSpPr>
          <p:cNvPr id="7" name="Text 5"/>
          <p:cNvSpPr txBox="1"/>
          <p:nvPr/>
        </p:nvSpPr>
        <p:spPr>
          <a:xfrm>
            <a:off x="1280160" y="6766560"/>
            <a:ext cx="8412480" cy="1463040"/>
          </a:xfrm>
          <a:prstGeom prst="rect">
            <a:avLst/>
          </a:prstGeom>
          <a:noFill/>
          <a:ln/>
        </p:spPr>
        <p:txBody>
          <a:bodyPr wrap="square" lIns="0" tIns="0" rIns="0" bIns="0" rtlCol="0" anchor="ctr"/>
          <a:lstStyle/>
          <a:p>
            <a:pPr marL="0" indent="0">
              <a:lnSpc>
                <a:spcPct val="135000"/>
              </a:lnSpc>
              <a:buNone/>
            </a:pPr>
            <a:r>
              <a:rPr lang="en-US" sz="1900" dirty="0">
                <a:solidFill>
                  <a:srgbClr val="B9C2D4"/>
                </a:solidFill>
                <a:latin typeface="Calibri" pitchFamily="34" charset="0"/>
                <a:ea typeface="Calibri" pitchFamily="34" charset="-122"/>
                <a:cs typeface="Calibri" pitchFamily="34" charset="-120"/>
              </a:rPr>
              <a:t>A skill known by one person is not a statistic. It is a production risk with a name on it.</a:t>
            </a:r>
            <a:endParaRPr lang="en-US" sz="1900" dirty="0"/>
          </a:p>
        </p:txBody>
      </p:sp>
      <p:sp>
        <p:nvSpPr>
          <p:cNvPr id="8" name="Text 6"/>
          <p:cNvSpPr txBox="1"/>
          <p:nvPr/>
        </p:nvSpPr>
        <p:spPr>
          <a:xfrm>
            <a:off x="11064240" y="941832"/>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1</a:t>
            </a:r>
            <a:endParaRPr lang="en-US" sz="4600" dirty="0"/>
          </a:p>
        </p:txBody>
      </p:sp>
      <p:sp>
        <p:nvSpPr>
          <p:cNvPr id="9" name="Text 7"/>
          <p:cNvSpPr txBox="1"/>
          <p:nvPr/>
        </p:nvSpPr>
        <p:spPr>
          <a:xfrm>
            <a:off x="12070080" y="1069848"/>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R&amp;D, frozen dough</a:t>
            </a:r>
            <a:endParaRPr lang="en-US" sz="1900" dirty="0"/>
          </a:p>
        </p:txBody>
      </p:sp>
      <p:sp>
        <p:nvSpPr>
          <p:cNvPr id="10" name="Text 8"/>
          <p:cNvSpPr txBox="1"/>
          <p:nvPr/>
        </p:nvSpPr>
        <p:spPr>
          <a:xfrm>
            <a:off x="12070080" y="1508760"/>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Marshall, MN R&amp;D centre  ·  impact 4</a:t>
            </a:r>
            <a:endParaRPr lang="en-US" sz="1400" dirty="0"/>
          </a:p>
        </p:txBody>
      </p:sp>
      <p:sp>
        <p:nvSpPr>
          <p:cNvPr id="11" name="Shape 9"/>
          <p:cNvSpPr/>
          <p:nvPr/>
        </p:nvSpPr>
        <p:spPr>
          <a:xfrm>
            <a:off x="11064240" y="2039112"/>
            <a:ext cx="5760720" cy="0"/>
          </a:xfrm>
          <a:prstGeom prst="line">
            <a:avLst/>
          </a:prstGeom>
          <a:noFill/>
          <a:ln w="12700">
            <a:solidFill>
              <a:srgbClr val="44528A"/>
            </a:solidFill>
            <a:prstDash val="solid"/>
          </a:ln>
        </p:spPr>
        <p:txBody>
          <a:bodyPr/>
          <a:lstStyle/>
          <a:p>
            <a:endParaRPr lang="en-US"/>
          </a:p>
        </p:txBody>
      </p:sp>
      <p:sp>
        <p:nvSpPr>
          <p:cNvPr id="12" name="Text 10"/>
          <p:cNvSpPr txBox="1"/>
          <p:nvPr/>
        </p:nvSpPr>
        <p:spPr>
          <a:xfrm>
            <a:off x="11064240" y="2258568"/>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3" name="Text 11"/>
          <p:cNvSpPr txBox="1"/>
          <p:nvPr/>
        </p:nvSpPr>
        <p:spPr>
          <a:xfrm>
            <a:off x="12070080" y="2386584"/>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Ammonia refrigeration</a:t>
            </a:r>
            <a:endParaRPr lang="en-US" sz="1900" dirty="0"/>
          </a:p>
        </p:txBody>
      </p:sp>
      <p:sp>
        <p:nvSpPr>
          <p:cNvPr id="14" name="Text 12"/>
          <p:cNvSpPr txBox="1"/>
          <p:nvPr/>
        </p:nvSpPr>
        <p:spPr>
          <a:xfrm>
            <a:off x="12070080" y="2825496"/>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Marshall, MN ice cream  ·  impact 5</a:t>
            </a:r>
            <a:endParaRPr lang="en-US" sz="1400" dirty="0"/>
          </a:p>
        </p:txBody>
      </p:sp>
      <p:sp>
        <p:nvSpPr>
          <p:cNvPr id="15" name="Shape 13"/>
          <p:cNvSpPr/>
          <p:nvPr/>
        </p:nvSpPr>
        <p:spPr>
          <a:xfrm>
            <a:off x="11064240" y="3355848"/>
            <a:ext cx="5760720" cy="0"/>
          </a:xfrm>
          <a:prstGeom prst="line">
            <a:avLst/>
          </a:prstGeom>
          <a:noFill/>
          <a:ln w="12700">
            <a:solidFill>
              <a:srgbClr val="44528A"/>
            </a:solidFill>
            <a:prstDash val="solid"/>
          </a:ln>
        </p:spPr>
        <p:txBody>
          <a:bodyPr/>
          <a:lstStyle/>
          <a:p>
            <a:endParaRPr lang="en-US"/>
          </a:p>
        </p:txBody>
      </p:sp>
      <p:sp>
        <p:nvSpPr>
          <p:cNvPr id="16" name="Text 14"/>
          <p:cNvSpPr txBox="1"/>
          <p:nvPr/>
        </p:nvSpPr>
        <p:spPr>
          <a:xfrm>
            <a:off x="11064240" y="3575304"/>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7" name="Text 15"/>
          <p:cNvSpPr txBox="1"/>
          <p:nvPr/>
        </p:nvSpPr>
        <p:spPr>
          <a:xfrm>
            <a:off x="12070080" y="3703320"/>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Food labeling rules</a:t>
            </a:r>
            <a:endParaRPr lang="en-US" sz="1900" dirty="0"/>
          </a:p>
        </p:txBody>
      </p:sp>
      <p:sp>
        <p:nvSpPr>
          <p:cNvPr id="18" name="Text 16"/>
          <p:cNvSpPr txBox="1"/>
          <p:nvPr/>
        </p:nvSpPr>
        <p:spPr>
          <a:xfrm>
            <a:off x="12070080" y="4142232"/>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Hopkins, MN corporate  ·  impact 5</a:t>
            </a:r>
            <a:endParaRPr lang="en-US" sz="1400" dirty="0"/>
          </a:p>
        </p:txBody>
      </p:sp>
      <p:sp>
        <p:nvSpPr>
          <p:cNvPr id="19" name="Shape 17"/>
          <p:cNvSpPr/>
          <p:nvPr/>
        </p:nvSpPr>
        <p:spPr>
          <a:xfrm>
            <a:off x="11064240" y="4672584"/>
            <a:ext cx="5760720" cy="0"/>
          </a:xfrm>
          <a:prstGeom prst="line">
            <a:avLst/>
          </a:prstGeom>
          <a:noFill/>
          <a:ln w="12700">
            <a:solidFill>
              <a:srgbClr val="44528A"/>
            </a:solidFill>
            <a:prstDash val="solid"/>
          </a:ln>
        </p:spPr>
        <p:txBody>
          <a:bodyPr/>
          <a:lstStyle/>
          <a:p>
            <a:endParaRPr lang="en-US"/>
          </a:p>
        </p:txBody>
      </p:sp>
      <p:sp>
        <p:nvSpPr>
          <p:cNvPr id="20" name="Text 18"/>
          <p:cNvSpPr txBox="1"/>
          <p:nvPr/>
        </p:nvSpPr>
        <p:spPr>
          <a:xfrm>
            <a:off x="11064240" y="4892040"/>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21" name="Text 19"/>
          <p:cNvSpPr txBox="1"/>
          <p:nvPr/>
        </p:nvSpPr>
        <p:spPr>
          <a:xfrm>
            <a:off x="12070080" y="5020056"/>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Salina line setup</a:t>
            </a:r>
            <a:endParaRPr lang="en-US" sz="1900" dirty="0"/>
          </a:p>
        </p:txBody>
      </p:sp>
      <p:sp>
        <p:nvSpPr>
          <p:cNvPr id="22" name="Text 20"/>
          <p:cNvSpPr txBox="1"/>
          <p:nvPr/>
        </p:nvSpPr>
        <p:spPr>
          <a:xfrm>
            <a:off x="12070080" y="5458968"/>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Salina, KS pizza  ·  impact 4</a:t>
            </a:r>
            <a:endParaRPr lang="en-US" sz="1400" dirty="0"/>
          </a:p>
        </p:txBody>
      </p:sp>
      <p:sp>
        <p:nvSpPr>
          <p:cNvPr id="23" name="Shape 21"/>
          <p:cNvSpPr/>
          <p:nvPr/>
        </p:nvSpPr>
        <p:spPr>
          <a:xfrm>
            <a:off x="11064240" y="5989320"/>
            <a:ext cx="5760720" cy="0"/>
          </a:xfrm>
          <a:prstGeom prst="line">
            <a:avLst/>
          </a:prstGeom>
          <a:noFill/>
          <a:ln w="12700">
            <a:solidFill>
              <a:srgbClr val="44528A"/>
            </a:solidFill>
            <a:prstDash val="solid"/>
          </a:ln>
        </p:spPr>
        <p:txBody>
          <a:bodyPr/>
          <a:lstStyle/>
          <a:p>
            <a:endParaRPr lang="en-US"/>
          </a:p>
        </p:txBody>
      </p:sp>
      <p:sp>
        <p:nvSpPr>
          <p:cNvPr id="24" name="Text 22"/>
          <p:cNvSpPr txBox="1"/>
          <p:nvPr/>
        </p:nvSpPr>
        <p:spPr>
          <a:xfrm>
            <a:off x="11064240" y="6208776"/>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5" name="Text 23"/>
          <p:cNvSpPr txBox="1"/>
          <p:nvPr/>
        </p:nvSpPr>
        <p:spPr>
          <a:xfrm>
            <a:off x="12070080" y="6336792"/>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PLC automation</a:t>
            </a:r>
            <a:endParaRPr lang="en-US" sz="1900" dirty="0"/>
          </a:p>
        </p:txBody>
      </p:sp>
      <p:sp>
        <p:nvSpPr>
          <p:cNvPr id="26" name="Text 24"/>
          <p:cNvSpPr txBox="1"/>
          <p:nvPr/>
        </p:nvSpPr>
        <p:spPr>
          <a:xfrm>
            <a:off x="12070080" y="6775704"/>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Salina, KS pizza  ·  impact 4</a:t>
            </a:r>
            <a:endParaRPr lang="en-US" sz="1400" dirty="0"/>
          </a:p>
        </p:txBody>
      </p:sp>
      <p:sp>
        <p:nvSpPr>
          <p:cNvPr id="27" name="Shape 25"/>
          <p:cNvSpPr/>
          <p:nvPr/>
        </p:nvSpPr>
        <p:spPr>
          <a:xfrm>
            <a:off x="11064240" y="7306056"/>
            <a:ext cx="5760720" cy="0"/>
          </a:xfrm>
          <a:prstGeom prst="line">
            <a:avLst/>
          </a:prstGeom>
          <a:noFill/>
          <a:ln w="12700">
            <a:solidFill>
              <a:srgbClr val="44528A"/>
            </a:solidFill>
            <a:prstDash val="solid"/>
          </a:ln>
        </p:spPr>
        <p:txBody>
          <a:bodyPr/>
          <a:lstStyle/>
          <a:p>
            <a:endParaRPr lang="en-US"/>
          </a:p>
        </p:txBody>
      </p:sp>
      <p:sp>
        <p:nvSpPr>
          <p:cNvPr id="28" name="Text 26"/>
          <p:cNvSpPr txBox="1"/>
          <p:nvPr/>
        </p:nvSpPr>
        <p:spPr>
          <a:xfrm>
            <a:off x="11064240" y="7525512"/>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9" name="Text 27"/>
          <p:cNvSpPr txBox="1"/>
          <p:nvPr/>
        </p:nvSpPr>
        <p:spPr>
          <a:xfrm>
            <a:off x="12070080" y="7653528"/>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Culinary consulting</a:t>
            </a:r>
            <a:endParaRPr lang="en-US" sz="1900" dirty="0"/>
          </a:p>
        </p:txBody>
      </p:sp>
      <p:sp>
        <p:nvSpPr>
          <p:cNvPr id="30" name="Text 28"/>
          <p:cNvSpPr txBox="1"/>
          <p:nvPr/>
        </p:nvSpPr>
        <p:spPr>
          <a:xfrm>
            <a:off x="12070080" y="8092440"/>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Field, national  ·  impact 3</a:t>
            </a:r>
            <a:endParaRPr lang="en-US" sz="1400" dirty="0"/>
          </a:p>
        </p:txBody>
      </p:sp>
      <p:sp>
        <p:nvSpPr>
          <p:cNvPr id="31" name="Shape 29"/>
          <p:cNvSpPr/>
          <p:nvPr/>
        </p:nvSpPr>
        <p:spPr>
          <a:xfrm>
            <a:off x="1280160" y="9189720"/>
            <a:ext cx="15727680" cy="0"/>
          </a:xfrm>
          <a:prstGeom prst="line">
            <a:avLst/>
          </a:prstGeom>
          <a:noFill/>
          <a:ln w="12700">
            <a:solidFill>
              <a:srgbClr val="324070"/>
            </a:solidFill>
            <a:prstDash val="solid"/>
          </a:ln>
        </p:spPr>
        <p:txBody>
          <a:bodyPr/>
          <a:lstStyle/>
          <a:p>
            <a:endParaRPr lang="en-US"/>
          </a:p>
        </p:txBody>
      </p:sp>
      <p:sp>
        <p:nvSpPr>
          <p:cNvPr id="32" name="Text 30"/>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8E98AE"/>
                </a:solidFill>
                <a:latin typeface="Calibri" pitchFamily="34" charset="0"/>
                <a:ea typeface="Calibri" pitchFamily="34" charset="-122"/>
                <a:cs typeface="Calibri" pitchFamily="34" charset="-120"/>
              </a:rPr>
              <a:t>IN THE APP   </a:t>
            </a:r>
            <a:r>
              <a:rPr lang="en-US" sz="1400" dirty="0">
                <a:solidFill>
                  <a:srgbClr val="FFFFFF"/>
                </a:solidFill>
                <a:latin typeface="Calibri" pitchFamily="34" charset="0"/>
                <a:ea typeface="Calibri" pitchFamily="34" charset="-122"/>
                <a:cs typeface="Calibri" pitchFamily="34" charset="-120"/>
              </a:rPr>
              <a:t>Succession risk tab</a:t>
            </a:r>
            <a:endParaRPr lang="en-US" sz="1400" dirty="0"/>
          </a:p>
        </p:txBody>
      </p:sp>
      <p:sp>
        <p:nvSpPr>
          <p:cNvPr id="33" name="Text 31"/>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8E98AE"/>
                </a:solidFill>
                <a:latin typeface="Calibri" pitchFamily="34" charset="0"/>
                <a:ea typeface="Calibri" pitchFamily="34" charset="-122"/>
                <a:cs typeface="Calibri" pitchFamily="34" charset="-120"/>
              </a:rPr>
              <a:t>NUMBERS FROM   </a:t>
            </a:r>
            <a:r>
              <a:rPr lang="en-US" sz="1400" dirty="0">
                <a:solidFill>
                  <a:srgbClr val="FFFFFF"/>
                </a:solidFill>
                <a:latin typeface="Calibri" pitchFamily="34" charset="0"/>
                <a:ea typeface="Calibri" pitchFamily="34" charset="-122"/>
                <a:cs typeface="Calibri" pitchFamily="34" charset="-120"/>
              </a:rPr>
              <a:t>Demo headcounts. The ammonia roster exists by law: OSHA 1910.119.</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170432" y="566928"/>
            <a:ext cx="2286000" cy="2194560"/>
          </a:xfrm>
          <a:prstGeom prst="rect">
            <a:avLst/>
          </a:prstGeom>
          <a:noFill/>
          <a:ln/>
        </p:spPr>
        <p:txBody>
          <a:bodyPr wrap="square" lIns="0" tIns="0" rIns="0" bIns="0" rtlCol="0" anchor="ctr"/>
          <a:lstStyle/>
          <a:p>
            <a:pPr marL="0" indent="0">
              <a:lnSpc>
                <a:spcPct val="82000"/>
              </a:lnSpc>
              <a:buNone/>
            </a:pPr>
            <a:r>
              <a:rPr lang="en-US" sz="14000" dirty="0">
                <a:solidFill>
                  <a:srgbClr val="EEF2F5"/>
                </a:solidFill>
                <a:latin typeface="Bahnschrift SemiBold" pitchFamily="34" charset="0"/>
                <a:ea typeface="Bahnschrift SemiBold" pitchFamily="34" charset="-122"/>
                <a:cs typeface="Bahnschrift SemiBold" pitchFamily="34" charset="-120"/>
              </a:rPr>
              <a:t>04</a:t>
            </a:r>
            <a:endParaRPr lang="en-US" sz="14000" dirty="0"/>
          </a:p>
        </p:txBody>
      </p:sp>
      <p:sp>
        <p:nvSpPr>
          <p:cNvPr id="3" name="Text 1"/>
          <p:cNvSpPr txBox="1"/>
          <p:nvPr/>
        </p:nvSpPr>
        <p:spPr>
          <a:xfrm>
            <a:off x="3931920" y="868680"/>
            <a:ext cx="12344400" cy="1463040"/>
          </a:xfrm>
          <a:prstGeom prst="rect">
            <a:avLst/>
          </a:prstGeom>
          <a:noFill/>
          <a:ln/>
        </p:spPr>
        <p:txBody>
          <a:bodyPr wrap="square" lIns="0" tIns="0" rIns="0" bIns="0" rtlCol="0" anchor="ctr"/>
          <a:lstStyle/>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Where are our greatest capability gaps</a:t>
            </a:r>
            <a:endParaRPr lang="en-US" sz="3000" dirty="0"/>
          </a:p>
          <a:p>
            <a:pPr marL="0" indent="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and succession risks?</a:t>
            </a:r>
            <a:endParaRPr lang="en-US" sz="3000" dirty="0"/>
          </a:p>
        </p:txBody>
      </p:sp>
      <p:sp>
        <p:nvSpPr>
          <p:cNvPr id="4" name="Text 2"/>
          <p:cNvSpPr txBox="1"/>
          <p:nvPr/>
        </p:nvSpPr>
        <p:spPr>
          <a:xfrm>
            <a:off x="1280160" y="2743200"/>
            <a:ext cx="14081760" cy="1554480"/>
          </a:xfrm>
          <a:prstGeom prst="rect">
            <a:avLst/>
          </a:prstGeom>
          <a:noFill/>
          <a:ln/>
        </p:spPr>
        <p:txBody>
          <a:bodyPr wrap="square" lIns="0" tIns="0" rIns="0" bIns="0" rtlCol="0" anchor="ctr"/>
          <a:lstStyle/>
          <a:p>
            <a:pPr marL="0" indent="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Seven skills under 40 percent, and one</a:t>
            </a:r>
            <a:endParaRPr lang="en-US" sz="3800" dirty="0"/>
          </a:p>
          <a:p>
            <a:pPr marL="0" indent="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ranked order of work across both.</a:t>
            </a:r>
            <a:endParaRPr lang="en-US" sz="3800" dirty="0"/>
          </a:p>
        </p:txBody>
      </p:sp>
      <p:sp>
        <p:nvSpPr>
          <p:cNvPr id="5" name="Text 3"/>
          <p:cNvSpPr txBox="1"/>
          <p:nvPr/>
        </p:nvSpPr>
        <p:spPr>
          <a:xfrm>
            <a:off x="1280160" y="4526280"/>
            <a:ext cx="12344400" cy="548640"/>
          </a:xfrm>
          <a:prstGeom prst="rect">
            <a:avLst/>
          </a:prstGeom>
          <a:noFill/>
          <a:ln/>
        </p:spPr>
        <p:txBody>
          <a:bodyPr wrap="square" lIns="0" tIns="0" rIns="0" bIns="0" rtlCol="0" anchor="ctr"/>
          <a:lstStyle/>
          <a:p>
            <a:pPr marL="0" indent="0">
              <a:buNone/>
            </a:pPr>
            <a:r>
              <a:rPr lang="en-US" sz="1800" dirty="0">
                <a:solidFill>
                  <a:srgbClr val="6E7788"/>
                </a:solidFill>
                <a:latin typeface="Calibri" pitchFamily="34" charset="0"/>
                <a:ea typeface="Calibri" pitchFamily="34" charset="-122"/>
                <a:cs typeface="Calibri" pitchFamily="34" charset="-120"/>
              </a:rPr>
              <a:t>Most dashboards stop at the numbers. This one sorts them, so a manager gets a list instead of a puzzle.</a:t>
            </a:r>
            <a:endParaRPr lang="en-US" sz="1800" dirty="0"/>
          </a:p>
        </p:txBody>
      </p:sp>
      <p:sp>
        <p:nvSpPr>
          <p:cNvPr id="7" name="Text 5"/>
          <p:cNvSpPr txBox="1"/>
          <p:nvPr/>
        </p:nvSpPr>
        <p:spPr>
          <a:xfrm>
            <a:off x="1280160" y="5303520"/>
            <a:ext cx="1188720" cy="731520"/>
          </a:xfrm>
          <a:prstGeom prst="rect">
            <a:avLst/>
          </a:prstGeom>
          <a:noFill/>
          <a:ln/>
        </p:spPr>
        <p:txBody>
          <a:bodyPr wrap="square" lIns="0" tIns="0" rIns="0" bIns="0" rtlCol="0" anchor="ctr"/>
          <a:lstStyle/>
          <a:p>
            <a:pPr marL="0" indent="0">
              <a:buNone/>
            </a:pPr>
            <a:r>
              <a:rPr lang="en-US" sz="4200" dirty="0">
                <a:solidFill>
                  <a:srgbClr val="8E98AE"/>
                </a:solidFill>
                <a:latin typeface="Bahnschrift Light" pitchFamily="34" charset="0"/>
                <a:ea typeface="Bahnschrift Light" pitchFamily="34" charset="-122"/>
                <a:cs typeface="Bahnschrift Light" pitchFamily="34" charset="-120"/>
              </a:rPr>
              <a:t>01</a:t>
            </a:r>
            <a:endParaRPr lang="en-US" sz="4200" dirty="0"/>
          </a:p>
        </p:txBody>
      </p:sp>
      <p:sp>
        <p:nvSpPr>
          <p:cNvPr id="8" name="Text 6"/>
          <p:cNvSpPr txBox="1"/>
          <p:nvPr/>
        </p:nvSpPr>
        <p:spPr>
          <a:xfrm>
            <a:off x="2468880" y="5376672"/>
            <a:ext cx="3200400" cy="457200"/>
          </a:xfrm>
          <a:prstGeom prst="rect">
            <a:avLst/>
          </a:prstGeom>
          <a:noFill/>
          <a:ln/>
        </p:spPr>
        <p:txBody>
          <a:bodyPr wrap="square" lIns="0" tIns="0" rIns="0" bIns="0" rtlCol="0" anchor="ctr"/>
          <a:lstStyle/>
          <a:p>
            <a:pPr marL="0" indent="0">
              <a:buNone/>
            </a:pPr>
            <a:r>
              <a:rPr lang="en-US" sz="2000" dirty="0">
                <a:latin typeface="Bahnschrift SemiBold" pitchFamily="34" charset="0"/>
                <a:ea typeface="Bahnschrift SemiBold" pitchFamily="34" charset="-122"/>
                <a:cs typeface="Bahnschrift SemiBold" pitchFamily="34" charset="-120"/>
              </a:rPr>
              <a:t>R&amp;D, frozen dough</a:t>
            </a:r>
            <a:endParaRPr lang="en-US" sz="2000" dirty="0"/>
          </a:p>
        </p:txBody>
      </p:sp>
      <p:sp>
        <p:nvSpPr>
          <p:cNvPr id="9" name="Text 7"/>
          <p:cNvSpPr txBox="1"/>
          <p:nvPr/>
        </p:nvSpPr>
        <p:spPr>
          <a:xfrm>
            <a:off x="2468880" y="5852160"/>
            <a:ext cx="3200400" cy="36576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1 person holds it</a:t>
            </a:r>
            <a:endParaRPr lang="en-US" sz="1400" dirty="0"/>
          </a:p>
        </p:txBody>
      </p:sp>
      <p:sp>
        <p:nvSpPr>
          <p:cNvPr id="10" name="Text 8"/>
          <p:cNvSpPr txBox="1"/>
          <p:nvPr/>
        </p:nvSpPr>
        <p:spPr>
          <a:xfrm>
            <a:off x="6583680" y="5303520"/>
            <a:ext cx="1188720" cy="731520"/>
          </a:xfrm>
          <a:prstGeom prst="rect">
            <a:avLst/>
          </a:prstGeom>
          <a:noFill/>
          <a:ln/>
        </p:spPr>
        <p:txBody>
          <a:bodyPr wrap="square" lIns="0" tIns="0" rIns="0" bIns="0" rtlCol="0" anchor="ctr"/>
          <a:lstStyle/>
          <a:p>
            <a:pPr marL="0" indent="0">
              <a:buNone/>
            </a:pPr>
            <a:r>
              <a:rPr lang="en-US" sz="4200" dirty="0">
                <a:solidFill>
                  <a:srgbClr val="C3CCDA"/>
                </a:solidFill>
                <a:latin typeface="Bahnschrift Light" pitchFamily="34" charset="0"/>
                <a:ea typeface="Bahnschrift Light" pitchFamily="34" charset="-122"/>
                <a:cs typeface="Bahnschrift Light" pitchFamily="34" charset="-120"/>
              </a:rPr>
              <a:t>02</a:t>
            </a:r>
            <a:endParaRPr lang="en-US" sz="4200" dirty="0"/>
          </a:p>
        </p:txBody>
      </p:sp>
      <p:sp>
        <p:nvSpPr>
          <p:cNvPr id="11" name="Text 9"/>
          <p:cNvSpPr txBox="1"/>
          <p:nvPr/>
        </p:nvSpPr>
        <p:spPr>
          <a:xfrm>
            <a:off x="7772400" y="5376672"/>
            <a:ext cx="3200400" cy="457200"/>
          </a:xfrm>
          <a:prstGeom prst="rect">
            <a:avLst/>
          </a:prstGeom>
          <a:noFill/>
          <a:ln/>
        </p:spPr>
        <p:txBody>
          <a:bodyPr wrap="square" lIns="0" tIns="0" rIns="0" bIns="0" rtlCol="0" anchor="ctr"/>
          <a:lstStyle/>
          <a:p>
            <a:pPr marL="0" indent="0">
              <a:buNone/>
            </a:pPr>
            <a:r>
              <a:rPr lang="en-US" sz="2000" dirty="0">
                <a:solidFill>
                  <a:srgbClr val="18212F"/>
                </a:solidFill>
                <a:latin typeface="Bahnschrift SemiBold" pitchFamily="34" charset="0"/>
                <a:ea typeface="Bahnschrift SemiBold" pitchFamily="34" charset="-122"/>
                <a:cs typeface="Bahnschrift SemiBold" pitchFamily="34" charset="-120"/>
              </a:rPr>
              <a:t>Food labeling</a:t>
            </a:r>
            <a:endParaRPr lang="en-US" sz="2000" dirty="0"/>
          </a:p>
        </p:txBody>
      </p:sp>
      <p:sp>
        <p:nvSpPr>
          <p:cNvPr id="12" name="Text 10"/>
          <p:cNvSpPr txBox="1"/>
          <p:nvPr/>
        </p:nvSpPr>
        <p:spPr>
          <a:xfrm>
            <a:off x="7772400" y="5852160"/>
            <a:ext cx="32004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2 people, impact 5</a:t>
            </a:r>
            <a:endParaRPr lang="en-US" sz="1400" dirty="0"/>
          </a:p>
        </p:txBody>
      </p:sp>
      <p:sp>
        <p:nvSpPr>
          <p:cNvPr id="13" name="Text 11"/>
          <p:cNvSpPr txBox="1"/>
          <p:nvPr/>
        </p:nvSpPr>
        <p:spPr>
          <a:xfrm>
            <a:off x="11887200" y="5303520"/>
            <a:ext cx="1188720" cy="731520"/>
          </a:xfrm>
          <a:prstGeom prst="rect">
            <a:avLst/>
          </a:prstGeom>
          <a:noFill/>
          <a:ln/>
        </p:spPr>
        <p:txBody>
          <a:bodyPr wrap="square" lIns="0" tIns="0" rIns="0" bIns="0" rtlCol="0" anchor="ctr"/>
          <a:lstStyle/>
          <a:p>
            <a:pPr marL="0" indent="0">
              <a:buNone/>
            </a:pPr>
            <a:r>
              <a:rPr lang="en-US" sz="4200" dirty="0">
                <a:solidFill>
                  <a:srgbClr val="C3CCDA"/>
                </a:solidFill>
                <a:latin typeface="Bahnschrift Light" pitchFamily="34" charset="0"/>
                <a:ea typeface="Bahnschrift Light" pitchFamily="34" charset="-122"/>
                <a:cs typeface="Bahnschrift Light" pitchFamily="34" charset="-120"/>
              </a:rPr>
              <a:t>03</a:t>
            </a:r>
            <a:endParaRPr lang="en-US" sz="4200" dirty="0"/>
          </a:p>
        </p:txBody>
      </p:sp>
      <p:sp>
        <p:nvSpPr>
          <p:cNvPr id="14" name="Text 12"/>
          <p:cNvSpPr txBox="1"/>
          <p:nvPr/>
        </p:nvSpPr>
        <p:spPr>
          <a:xfrm>
            <a:off x="13075920" y="5376672"/>
            <a:ext cx="3200400" cy="457200"/>
          </a:xfrm>
          <a:prstGeom prst="rect">
            <a:avLst/>
          </a:prstGeom>
          <a:noFill/>
          <a:ln/>
        </p:spPr>
        <p:txBody>
          <a:bodyPr wrap="square" lIns="0" tIns="0" rIns="0" bIns="0" rtlCol="0" anchor="ctr"/>
          <a:lstStyle/>
          <a:p>
            <a:pPr marL="0" indent="0">
              <a:buNone/>
            </a:pPr>
            <a:r>
              <a:rPr lang="en-US" sz="2000" dirty="0">
                <a:solidFill>
                  <a:srgbClr val="18212F"/>
                </a:solidFill>
                <a:latin typeface="Bahnschrift SemiBold" pitchFamily="34" charset="0"/>
                <a:ea typeface="Bahnschrift SemiBold" pitchFamily="34" charset="-122"/>
                <a:cs typeface="Bahnschrift SemiBold" pitchFamily="34" charset="-120"/>
              </a:rPr>
              <a:t>Ammonia refrigeration</a:t>
            </a:r>
            <a:endParaRPr lang="en-US" sz="2000" dirty="0"/>
          </a:p>
        </p:txBody>
      </p:sp>
      <p:sp>
        <p:nvSpPr>
          <p:cNvPr id="15" name="Text 13"/>
          <p:cNvSpPr txBox="1"/>
          <p:nvPr/>
        </p:nvSpPr>
        <p:spPr>
          <a:xfrm>
            <a:off x="13075920" y="5852160"/>
            <a:ext cx="32004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2 people, impact 5</a:t>
            </a:r>
            <a:endParaRPr lang="en-US" sz="1400" dirty="0"/>
          </a:p>
        </p:txBody>
      </p:sp>
      <p:sp>
        <p:nvSpPr>
          <p:cNvPr id="16" name="Text 14"/>
          <p:cNvSpPr txBox="1"/>
          <p:nvPr/>
        </p:nvSpPr>
        <p:spPr>
          <a:xfrm>
            <a:off x="1280160" y="6995160"/>
            <a:ext cx="1188720" cy="731520"/>
          </a:xfrm>
          <a:prstGeom prst="rect">
            <a:avLst/>
          </a:prstGeom>
          <a:noFill/>
          <a:ln/>
        </p:spPr>
        <p:txBody>
          <a:bodyPr wrap="square" lIns="0" tIns="0" rIns="0" bIns="0" rtlCol="0" anchor="ctr"/>
          <a:lstStyle/>
          <a:p>
            <a:pPr marL="0" indent="0">
              <a:buNone/>
            </a:pPr>
            <a:r>
              <a:rPr lang="en-US" sz="4200" dirty="0">
                <a:solidFill>
                  <a:srgbClr val="C3CCDA"/>
                </a:solidFill>
                <a:latin typeface="Bahnschrift Light" pitchFamily="34" charset="0"/>
                <a:ea typeface="Bahnschrift Light" pitchFamily="34" charset="-122"/>
                <a:cs typeface="Bahnschrift Light" pitchFamily="34" charset="-120"/>
              </a:rPr>
              <a:t>04</a:t>
            </a:r>
            <a:endParaRPr lang="en-US" sz="4200" dirty="0"/>
          </a:p>
        </p:txBody>
      </p:sp>
      <p:sp>
        <p:nvSpPr>
          <p:cNvPr id="17" name="Text 15"/>
          <p:cNvSpPr txBox="1"/>
          <p:nvPr/>
        </p:nvSpPr>
        <p:spPr>
          <a:xfrm>
            <a:off x="2468880" y="7068312"/>
            <a:ext cx="3200400" cy="457200"/>
          </a:xfrm>
          <a:prstGeom prst="rect">
            <a:avLst/>
          </a:prstGeom>
          <a:noFill/>
          <a:ln/>
        </p:spPr>
        <p:txBody>
          <a:bodyPr wrap="square" lIns="0" tIns="0" rIns="0" bIns="0" rtlCol="0" anchor="ctr"/>
          <a:lstStyle/>
          <a:p>
            <a:pPr marL="0" indent="0">
              <a:buNone/>
            </a:pPr>
            <a:r>
              <a:rPr lang="en-US" sz="2000" dirty="0">
                <a:solidFill>
                  <a:srgbClr val="18212F"/>
                </a:solidFill>
                <a:latin typeface="Bahnschrift SemiBold" pitchFamily="34" charset="0"/>
                <a:ea typeface="Bahnschrift SemiBold" pitchFamily="34" charset="-122"/>
                <a:cs typeface="Bahnschrift SemiBold" pitchFamily="34" charset="-120"/>
              </a:rPr>
              <a:t>Salina line setup</a:t>
            </a:r>
            <a:endParaRPr lang="en-US" sz="2000" dirty="0"/>
          </a:p>
        </p:txBody>
      </p:sp>
      <p:sp>
        <p:nvSpPr>
          <p:cNvPr id="18" name="Text 16"/>
          <p:cNvSpPr txBox="1"/>
          <p:nvPr/>
        </p:nvSpPr>
        <p:spPr>
          <a:xfrm>
            <a:off x="2468880" y="7543800"/>
            <a:ext cx="32004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nothing written down</a:t>
            </a:r>
            <a:endParaRPr lang="en-US" sz="1400" dirty="0"/>
          </a:p>
        </p:txBody>
      </p:sp>
      <p:sp>
        <p:nvSpPr>
          <p:cNvPr id="19" name="Text 17"/>
          <p:cNvSpPr txBox="1"/>
          <p:nvPr/>
        </p:nvSpPr>
        <p:spPr>
          <a:xfrm>
            <a:off x="6583680" y="6995160"/>
            <a:ext cx="1188720" cy="731520"/>
          </a:xfrm>
          <a:prstGeom prst="rect">
            <a:avLst/>
          </a:prstGeom>
          <a:noFill/>
          <a:ln/>
        </p:spPr>
        <p:txBody>
          <a:bodyPr wrap="square" lIns="0" tIns="0" rIns="0" bIns="0" rtlCol="0" anchor="ctr"/>
          <a:lstStyle/>
          <a:p>
            <a:pPr marL="0" indent="0">
              <a:buNone/>
            </a:pPr>
            <a:r>
              <a:rPr lang="en-US" sz="4200" dirty="0">
                <a:solidFill>
                  <a:srgbClr val="C3CCDA"/>
                </a:solidFill>
                <a:latin typeface="Bahnschrift Light" pitchFamily="34" charset="0"/>
                <a:ea typeface="Bahnschrift Light" pitchFamily="34" charset="-122"/>
                <a:cs typeface="Bahnschrift Light" pitchFamily="34" charset="-120"/>
              </a:rPr>
              <a:t>05</a:t>
            </a:r>
            <a:endParaRPr lang="en-US" sz="4200" dirty="0"/>
          </a:p>
        </p:txBody>
      </p:sp>
      <p:sp>
        <p:nvSpPr>
          <p:cNvPr id="20" name="Text 18"/>
          <p:cNvSpPr txBox="1"/>
          <p:nvPr/>
        </p:nvSpPr>
        <p:spPr>
          <a:xfrm>
            <a:off x="7772400" y="7068312"/>
            <a:ext cx="3200400" cy="457200"/>
          </a:xfrm>
          <a:prstGeom prst="rect">
            <a:avLst/>
          </a:prstGeom>
          <a:noFill/>
          <a:ln/>
        </p:spPr>
        <p:txBody>
          <a:bodyPr wrap="square" lIns="0" tIns="0" rIns="0" bIns="0" rtlCol="0" anchor="ctr"/>
          <a:lstStyle/>
          <a:p>
            <a:pPr marL="0" indent="0">
              <a:buNone/>
            </a:pPr>
            <a:r>
              <a:rPr lang="en-US" sz="2000" dirty="0">
                <a:solidFill>
                  <a:srgbClr val="18212F"/>
                </a:solidFill>
                <a:latin typeface="Bahnschrift SemiBold" pitchFamily="34" charset="0"/>
                <a:ea typeface="Bahnschrift SemiBold" pitchFamily="34" charset="-122"/>
                <a:cs typeface="Bahnschrift SemiBold" pitchFamily="34" charset="-120"/>
              </a:rPr>
              <a:t>PLC automation</a:t>
            </a:r>
            <a:endParaRPr lang="en-US" sz="2000" dirty="0"/>
          </a:p>
        </p:txBody>
      </p:sp>
      <p:sp>
        <p:nvSpPr>
          <p:cNvPr id="21" name="Text 19"/>
          <p:cNvSpPr txBox="1"/>
          <p:nvPr/>
        </p:nvSpPr>
        <p:spPr>
          <a:xfrm>
            <a:off x="7772400" y="7543800"/>
            <a:ext cx="32004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3 people, Sioux Falls needs it</a:t>
            </a:r>
            <a:endParaRPr lang="en-US" sz="1400" dirty="0"/>
          </a:p>
        </p:txBody>
      </p:sp>
      <p:sp>
        <p:nvSpPr>
          <p:cNvPr id="22" name="Text 20"/>
          <p:cNvSpPr txBox="1"/>
          <p:nvPr/>
        </p:nvSpPr>
        <p:spPr>
          <a:xfrm>
            <a:off x="11887200" y="6995160"/>
            <a:ext cx="1188720" cy="731520"/>
          </a:xfrm>
          <a:prstGeom prst="rect">
            <a:avLst/>
          </a:prstGeom>
          <a:noFill/>
          <a:ln/>
        </p:spPr>
        <p:txBody>
          <a:bodyPr wrap="square" lIns="0" tIns="0" rIns="0" bIns="0" rtlCol="0" anchor="ctr"/>
          <a:lstStyle/>
          <a:p>
            <a:pPr marL="0" indent="0">
              <a:buNone/>
            </a:pPr>
            <a:r>
              <a:rPr lang="en-US" sz="4200" dirty="0">
                <a:solidFill>
                  <a:srgbClr val="C3CCDA"/>
                </a:solidFill>
                <a:latin typeface="Bahnschrift Light" pitchFamily="34" charset="0"/>
                <a:ea typeface="Bahnschrift Light" pitchFamily="34" charset="-122"/>
                <a:cs typeface="Bahnschrift Light" pitchFamily="34" charset="-120"/>
              </a:rPr>
              <a:t>06</a:t>
            </a:r>
            <a:endParaRPr lang="en-US" sz="4200" dirty="0"/>
          </a:p>
        </p:txBody>
      </p:sp>
      <p:sp>
        <p:nvSpPr>
          <p:cNvPr id="23" name="Text 21"/>
          <p:cNvSpPr txBox="1"/>
          <p:nvPr/>
        </p:nvSpPr>
        <p:spPr>
          <a:xfrm>
            <a:off x="13075920" y="7068312"/>
            <a:ext cx="3200400" cy="457200"/>
          </a:xfrm>
          <a:prstGeom prst="rect">
            <a:avLst/>
          </a:prstGeom>
          <a:noFill/>
          <a:ln/>
        </p:spPr>
        <p:txBody>
          <a:bodyPr wrap="square" lIns="0" tIns="0" rIns="0" bIns="0" rtlCol="0" anchor="ctr"/>
          <a:lstStyle/>
          <a:p>
            <a:pPr marL="0" indent="0">
              <a:buNone/>
            </a:pPr>
            <a:r>
              <a:rPr lang="en-US" sz="2000" dirty="0">
                <a:solidFill>
                  <a:srgbClr val="18212F"/>
                </a:solidFill>
                <a:latin typeface="Bahnschrift SemiBold" pitchFamily="34" charset="0"/>
                <a:ea typeface="Bahnschrift SemiBold" pitchFamily="34" charset="-122"/>
                <a:cs typeface="Bahnschrift SemiBold" pitchFamily="34" charset="-120"/>
              </a:rPr>
              <a:t>Culinary consulting</a:t>
            </a:r>
            <a:endParaRPr lang="en-US" sz="2000" dirty="0"/>
          </a:p>
        </p:txBody>
      </p:sp>
      <p:sp>
        <p:nvSpPr>
          <p:cNvPr id="24" name="Text 22"/>
          <p:cNvSpPr txBox="1"/>
          <p:nvPr/>
        </p:nvSpPr>
        <p:spPr>
          <a:xfrm>
            <a:off x="13075920" y="7543800"/>
            <a:ext cx="3200400" cy="365760"/>
          </a:xfrm>
          <a:prstGeom prst="rect">
            <a:avLst/>
          </a:prstGeom>
          <a:noFill/>
          <a:ln/>
        </p:spPr>
        <p:txBody>
          <a:bodyPr wrap="square" lIns="0" tIns="0" rIns="0" bIns="0" rtlCol="0" anchor="ctr"/>
          <a:lstStyle/>
          <a:p>
            <a:pPr marL="0" indent="0">
              <a:buNone/>
            </a:pPr>
            <a:r>
              <a:rPr lang="en-US" sz="1400" dirty="0">
                <a:solidFill>
                  <a:srgbClr val="6E7788"/>
                </a:solidFill>
                <a:latin typeface="Calibri" pitchFamily="34" charset="0"/>
                <a:ea typeface="Calibri" pitchFamily="34" charset="-122"/>
                <a:cs typeface="Calibri" pitchFamily="34" charset="-120"/>
              </a:rPr>
              <a:t>3 people, national cover</a:t>
            </a:r>
            <a:endParaRPr lang="en-US" sz="1400" dirty="0"/>
          </a:p>
        </p:txBody>
      </p:sp>
      <p:sp>
        <p:nvSpPr>
          <p:cNvPr id="25" name="Text 23"/>
          <p:cNvSpPr txBox="1"/>
          <p:nvPr/>
        </p:nvSpPr>
        <p:spPr>
          <a:xfrm>
            <a:off x="1280160" y="8641080"/>
            <a:ext cx="13716000" cy="411480"/>
          </a:xfrm>
          <a:prstGeom prst="rect">
            <a:avLst/>
          </a:prstGeom>
          <a:noFill/>
          <a:ln/>
        </p:spPr>
        <p:txBody>
          <a:bodyPr wrap="square" lIns="0" tIns="0" rIns="0" bIns="0" rtlCol="0" anchor="ctr"/>
          <a:lstStyle/>
          <a:p>
            <a:pPr marL="0" indent="0">
              <a:buNone/>
            </a:pPr>
            <a:r>
              <a:rPr lang="en-US" sz="1600" dirty="0">
                <a:solidFill>
                  <a:srgbClr val="232E54"/>
                </a:solidFill>
                <a:latin typeface="Consolas" pitchFamily="34" charset="0"/>
                <a:ea typeface="Consolas" pitchFamily="34" charset="-122"/>
                <a:cs typeface="Consolas" pitchFamily="34" charset="-120"/>
              </a:rPr>
              <a:t>score  =  impact out of 5   ×   3 ÷ number of holders   ×   size of the coverage gap</a:t>
            </a:r>
            <a:endParaRPr lang="en-US" sz="1600" dirty="0"/>
          </a:p>
        </p:txBody>
      </p:sp>
      <p:sp>
        <p:nvSpPr>
          <p:cNvPr id="26" name="Shape 24"/>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27" name="Text 25"/>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Overview tab, Do this first</a:t>
            </a:r>
            <a:endParaRPr lang="en-US" sz="1400" dirty="0"/>
          </a:p>
        </p:txBody>
      </p:sp>
      <p:sp>
        <p:nvSpPr>
          <p:cNvPr id="28" name="Text 26"/>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Demo inputs. The formula is on screen, not hidden.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EF2F5"/>
          </a:solidFill>
          <a:ln w="12700">
            <a:solidFill>
              <a:srgbClr val="EEF2F5"/>
            </a:solidFill>
            <a:prstDash val="solid"/>
          </a:ln>
        </p:spPr>
        <p:txBody>
          <a:bodyPr/>
          <a:lstStyle/>
          <a:p>
            <a:endParaRPr lang="en-US"/>
          </a:p>
        </p:txBody>
      </p:sp>
      <p:sp>
        <p:nvSpPr>
          <p:cNvPr id="3" name="Shape 1"/>
          <p:cNvSpPr/>
          <p:nvPr/>
        </p:nvSpPr>
        <p:spPr>
          <a:xfrm>
            <a:off x="11338560" y="0"/>
            <a:ext cx="6949440" cy="10287000"/>
          </a:xfrm>
          <a:prstGeom prst="rect">
            <a:avLst/>
          </a:prstGeom>
          <a:solidFill>
            <a:srgbClr val="FFFFFF"/>
          </a:solidFill>
          <a:ln w="12700">
            <a:solidFill>
              <a:srgbClr val="FFFFFF"/>
            </a:solidFill>
            <a:prstDash val="solid"/>
          </a:ln>
        </p:spPr>
        <p:txBody>
          <a:bodyPr/>
          <a:lstStyle/>
          <a:p>
            <a:endParaRPr lang="en-US"/>
          </a:p>
        </p:txBody>
      </p:sp>
      <p:sp>
        <p:nvSpPr>
          <p:cNvPr id="4" name="Text 2"/>
          <p:cNvSpPr txBox="1"/>
          <p:nvPr/>
        </p:nvSpPr>
        <p:spPr>
          <a:xfrm>
            <a:off x="1170432" y="566928"/>
            <a:ext cx="2286000" cy="2194560"/>
          </a:xfrm>
          <a:prstGeom prst="rect">
            <a:avLst/>
          </a:prstGeom>
          <a:noFill/>
          <a:ln/>
        </p:spPr>
        <p:txBody>
          <a:bodyPr wrap="square" lIns="0" tIns="0" rIns="0" bIns="0" rtlCol="0" anchor="ctr"/>
          <a:lstStyle/>
          <a:p>
            <a:pPr marL="0" indent="0">
              <a:lnSpc>
                <a:spcPct val="82000"/>
              </a:lnSpc>
              <a:buNone/>
            </a:pPr>
            <a:r>
              <a:rPr lang="en-US" sz="14000" dirty="0">
                <a:solidFill>
                  <a:srgbClr val="DCE3EA"/>
                </a:solidFill>
                <a:latin typeface="Bahnschrift SemiBold" pitchFamily="34" charset="0"/>
                <a:ea typeface="Bahnschrift SemiBold" pitchFamily="34" charset="-122"/>
                <a:cs typeface="Bahnschrift SemiBold" pitchFamily="34" charset="-120"/>
              </a:rPr>
              <a:t>05</a:t>
            </a:r>
            <a:endParaRPr lang="en-US" sz="14000" dirty="0"/>
          </a:p>
        </p:txBody>
      </p:sp>
      <p:sp>
        <p:nvSpPr>
          <p:cNvPr id="5" name="Text 3"/>
          <p:cNvSpPr txBox="1"/>
          <p:nvPr/>
        </p:nvSpPr>
        <p:spPr>
          <a:xfrm>
            <a:off x="3931920" y="868680"/>
            <a:ext cx="6949440" cy="2011680"/>
          </a:xfrm>
          <a:prstGeom prst="rect">
            <a:avLst/>
          </a:prstGeom>
          <a:noFill/>
          <a:ln/>
        </p:spPr>
        <p:txBody>
          <a:bodyPr wrap="square" lIns="0" tIns="0" rIns="0" bIns="0" rtlCol="0" anchor="ctr"/>
          <a:lstStyle/>
          <a:p>
            <a:pPr marL="0" indent="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How can employees close skill gaps</a:t>
            </a:r>
            <a:endParaRPr lang="en-US" sz="2600" dirty="0"/>
          </a:p>
          <a:p>
            <a:pPr marL="0" indent="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through training, mentoring,</a:t>
            </a:r>
            <a:endParaRPr lang="en-US" sz="2600" dirty="0"/>
          </a:p>
          <a:p>
            <a:pPr marL="0" indent="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certifications or rotations?</a:t>
            </a:r>
            <a:endParaRPr lang="en-US" sz="2600" dirty="0"/>
          </a:p>
        </p:txBody>
      </p:sp>
      <p:sp>
        <p:nvSpPr>
          <p:cNvPr id="6" name="Text 4"/>
          <p:cNvSpPr txBox="1"/>
          <p:nvPr/>
        </p:nvSpPr>
        <p:spPr>
          <a:xfrm>
            <a:off x="1280160" y="3291840"/>
            <a:ext cx="9509760" cy="1828800"/>
          </a:xfrm>
          <a:prstGeom prst="rect">
            <a:avLst/>
          </a:prstGeom>
          <a:noFill/>
          <a:ln/>
        </p:spPr>
        <p:txBody>
          <a:bodyPr wrap="square" lIns="0" tIns="0" rIns="0" bIns="0" rtlCol="0" anchor="ctr"/>
          <a:lstStyle/>
          <a:p>
            <a:pPr marL="0" indent="0">
              <a:lnSpc>
                <a:spcPct val="106000"/>
              </a:lnSpc>
              <a:buNone/>
            </a:pPr>
            <a:r>
              <a:rPr lang="en-US" sz="3400" dirty="0">
                <a:solidFill>
                  <a:srgbClr val="18212F"/>
                </a:solidFill>
                <a:latin typeface="Bahnschrift SemiBold" pitchFamily="34" charset="0"/>
                <a:ea typeface="Bahnschrift SemiBold" pitchFamily="34" charset="-122"/>
                <a:cs typeface="Bahnschrift SemiBold" pitchFamily="34" charset="-120"/>
              </a:rPr>
              <a:t>Ten first steps, sixteen backups,</a:t>
            </a:r>
            <a:endParaRPr lang="en-US" sz="3400" dirty="0"/>
          </a:p>
          <a:p>
            <a:pPr marL="0" indent="0">
              <a:lnSpc>
                <a:spcPct val="106000"/>
              </a:lnSpc>
              <a:buNone/>
            </a:pPr>
            <a:r>
              <a:rPr lang="en-US" sz="3400" dirty="0">
                <a:solidFill>
                  <a:srgbClr val="18212F"/>
                </a:solidFill>
                <a:latin typeface="Bahnschrift SemiBold" pitchFamily="34" charset="0"/>
                <a:ea typeface="Bahnschrift SemiBold" pitchFamily="34" charset="-122"/>
                <a:cs typeface="Bahnschrift SemiBold" pitchFamily="34" charset="-120"/>
              </a:rPr>
              <a:t>all five methods the prompt names.</a:t>
            </a:r>
            <a:endParaRPr lang="en-US" sz="3400" dirty="0"/>
          </a:p>
        </p:txBody>
      </p:sp>
      <p:sp>
        <p:nvSpPr>
          <p:cNvPr id="7" name="Text 5"/>
          <p:cNvSpPr txBox="1"/>
          <p:nvPr/>
        </p:nvSpPr>
        <p:spPr>
          <a:xfrm>
            <a:off x="1280160" y="5340096"/>
            <a:ext cx="777240" cy="594360"/>
          </a:xfrm>
          <a:prstGeom prst="rect">
            <a:avLst/>
          </a:prstGeom>
          <a:noFill/>
          <a:ln/>
        </p:spPr>
        <p:txBody>
          <a:bodyPr wrap="square" lIns="0" tIns="0" rIns="0" bIns="0" rtlCol="0" anchor="ctr"/>
          <a:lstStyle/>
          <a:p>
            <a:pPr marL="0" indent="0">
              <a:buNone/>
            </a:pPr>
            <a:r>
              <a:rPr lang="en-US" sz="3000" dirty="0">
                <a:solidFill>
                  <a:srgbClr val="232E54"/>
                </a:solidFill>
                <a:latin typeface="Bahnschrift SemiBold" pitchFamily="34" charset="0"/>
                <a:ea typeface="Bahnschrift SemiBold" pitchFamily="34" charset="-122"/>
                <a:cs typeface="Bahnschrift SemiBold" pitchFamily="34" charset="-120"/>
              </a:rPr>
              <a:t>8</a:t>
            </a:r>
            <a:endParaRPr lang="en-US" sz="3000" dirty="0"/>
          </a:p>
        </p:txBody>
      </p:sp>
      <p:sp>
        <p:nvSpPr>
          <p:cNvPr id="8" name="Text 6"/>
          <p:cNvSpPr txBox="1"/>
          <p:nvPr/>
        </p:nvSpPr>
        <p:spPr>
          <a:xfrm>
            <a:off x="2103120" y="5431536"/>
            <a:ext cx="283464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Training</a:t>
            </a:r>
            <a:endParaRPr lang="en-US" sz="1900" dirty="0"/>
          </a:p>
        </p:txBody>
      </p:sp>
      <p:sp>
        <p:nvSpPr>
          <p:cNvPr id="9" name="Text 7"/>
          <p:cNvSpPr txBox="1"/>
          <p:nvPr/>
        </p:nvSpPr>
        <p:spPr>
          <a:xfrm>
            <a:off x="5120640" y="5449824"/>
            <a:ext cx="5669280" cy="41148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Vendor PLC course, labeling workshop</a:t>
            </a:r>
            <a:endParaRPr lang="en-US" sz="1500" dirty="0"/>
          </a:p>
        </p:txBody>
      </p:sp>
      <p:sp>
        <p:nvSpPr>
          <p:cNvPr id="10" name="Shape 8"/>
          <p:cNvSpPr/>
          <p:nvPr/>
        </p:nvSpPr>
        <p:spPr>
          <a:xfrm>
            <a:off x="1280160" y="6035040"/>
            <a:ext cx="9509760" cy="0"/>
          </a:xfrm>
          <a:prstGeom prst="line">
            <a:avLst/>
          </a:prstGeom>
          <a:noFill/>
          <a:ln w="12700">
            <a:solidFill>
              <a:srgbClr val="DCE3EA"/>
            </a:solidFill>
            <a:prstDash val="solid"/>
          </a:ln>
        </p:spPr>
        <p:txBody>
          <a:bodyPr/>
          <a:lstStyle/>
          <a:p>
            <a:endParaRPr lang="en-US"/>
          </a:p>
        </p:txBody>
      </p:sp>
      <p:sp>
        <p:nvSpPr>
          <p:cNvPr id="11" name="Text 9"/>
          <p:cNvSpPr txBox="1"/>
          <p:nvPr/>
        </p:nvSpPr>
        <p:spPr>
          <a:xfrm>
            <a:off x="1280160" y="6163056"/>
            <a:ext cx="777240" cy="594360"/>
          </a:xfrm>
          <a:prstGeom prst="rect">
            <a:avLst/>
          </a:prstGeom>
          <a:noFill/>
          <a:ln/>
        </p:spPr>
        <p:txBody>
          <a:bodyPr wrap="square" lIns="0" tIns="0" rIns="0" bIns="0" rtlCol="0" anchor="ctr"/>
          <a:lstStyle/>
          <a:p>
            <a:pPr marL="0" indent="0">
              <a:buNone/>
            </a:pPr>
            <a:r>
              <a:rPr lang="en-US" sz="3000" dirty="0">
                <a:solidFill>
                  <a:srgbClr val="232E54"/>
                </a:solidFill>
                <a:latin typeface="Bahnschrift SemiBold" pitchFamily="34" charset="0"/>
                <a:ea typeface="Bahnschrift SemiBold" pitchFamily="34" charset="-122"/>
                <a:cs typeface="Bahnschrift SemiBold" pitchFamily="34" charset="-120"/>
              </a:rPr>
              <a:t>6</a:t>
            </a:r>
            <a:endParaRPr lang="en-US" sz="3000" dirty="0"/>
          </a:p>
        </p:txBody>
      </p:sp>
      <p:sp>
        <p:nvSpPr>
          <p:cNvPr id="12" name="Text 10"/>
          <p:cNvSpPr txBox="1"/>
          <p:nvPr/>
        </p:nvSpPr>
        <p:spPr>
          <a:xfrm>
            <a:off x="2103120" y="6254496"/>
            <a:ext cx="283464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Mentoring</a:t>
            </a:r>
            <a:endParaRPr lang="en-US" sz="1900" dirty="0"/>
          </a:p>
        </p:txBody>
      </p:sp>
      <p:sp>
        <p:nvSpPr>
          <p:cNvPr id="13" name="Text 11"/>
          <p:cNvSpPr txBox="1"/>
          <p:nvPr/>
        </p:nvSpPr>
        <p:spPr>
          <a:xfrm>
            <a:off x="5120640" y="6272784"/>
            <a:ext cx="5669280" cy="41148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The single expert takes two mentees</a:t>
            </a:r>
            <a:endParaRPr lang="en-US" sz="1500" dirty="0"/>
          </a:p>
        </p:txBody>
      </p:sp>
      <p:sp>
        <p:nvSpPr>
          <p:cNvPr id="14" name="Shape 12"/>
          <p:cNvSpPr/>
          <p:nvPr/>
        </p:nvSpPr>
        <p:spPr>
          <a:xfrm>
            <a:off x="1280160" y="6858000"/>
            <a:ext cx="9509760" cy="0"/>
          </a:xfrm>
          <a:prstGeom prst="line">
            <a:avLst/>
          </a:prstGeom>
          <a:noFill/>
          <a:ln w="12700">
            <a:solidFill>
              <a:srgbClr val="DCE3EA"/>
            </a:solidFill>
            <a:prstDash val="solid"/>
          </a:ln>
        </p:spPr>
        <p:txBody>
          <a:bodyPr/>
          <a:lstStyle/>
          <a:p>
            <a:endParaRPr lang="en-US"/>
          </a:p>
        </p:txBody>
      </p:sp>
      <p:sp>
        <p:nvSpPr>
          <p:cNvPr id="15" name="Text 13"/>
          <p:cNvSpPr txBox="1"/>
          <p:nvPr/>
        </p:nvSpPr>
        <p:spPr>
          <a:xfrm>
            <a:off x="1280160" y="6986016"/>
            <a:ext cx="777240" cy="594360"/>
          </a:xfrm>
          <a:prstGeom prst="rect">
            <a:avLst/>
          </a:prstGeom>
          <a:noFill/>
          <a:ln/>
        </p:spPr>
        <p:txBody>
          <a:bodyPr wrap="square" lIns="0" tIns="0" rIns="0" bIns="0" rtlCol="0" anchor="ctr"/>
          <a:lstStyle/>
          <a:p>
            <a:pPr marL="0" indent="0">
              <a:buNone/>
            </a:pPr>
            <a:r>
              <a:rPr lang="en-US" sz="3000" dirty="0">
                <a:solidFill>
                  <a:srgbClr val="232E54"/>
                </a:solidFill>
                <a:latin typeface="Bahnschrift SemiBold" pitchFamily="34" charset="0"/>
                <a:ea typeface="Bahnschrift SemiBold" pitchFamily="34" charset="-122"/>
                <a:cs typeface="Bahnschrift SemiBold" pitchFamily="34" charset="-120"/>
              </a:rPr>
              <a:t>5</a:t>
            </a:r>
            <a:endParaRPr lang="en-US" sz="3000" dirty="0"/>
          </a:p>
        </p:txBody>
      </p:sp>
      <p:sp>
        <p:nvSpPr>
          <p:cNvPr id="16" name="Text 14"/>
          <p:cNvSpPr txBox="1"/>
          <p:nvPr/>
        </p:nvSpPr>
        <p:spPr>
          <a:xfrm>
            <a:off x="2103120" y="7077456"/>
            <a:ext cx="283464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Project experience</a:t>
            </a:r>
            <a:endParaRPr lang="en-US" sz="1900" dirty="0"/>
          </a:p>
        </p:txBody>
      </p:sp>
      <p:sp>
        <p:nvSpPr>
          <p:cNvPr id="17" name="Text 15"/>
          <p:cNvSpPr txBox="1"/>
          <p:nvPr/>
        </p:nvSpPr>
        <p:spPr>
          <a:xfrm>
            <a:off x="5120640" y="7095744"/>
            <a:ext cx="5669280" cy="41148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Two techs join the Sioux Falls team</a:t>
            </a:r>
            <a:endParaRPr lang="en-US" sz="1500" dirty="0"/>
          </a:p>
        </p:txBody>
      </p:sp>
      <p:sp>
        <p:nvSpPr>
          <p:cNvPr id="18" name="Shape 16"/>
          <p:cNvSpPr/>
          <p:nvPr/>
        </p:nvSpPr>
        <p:spPr>
          <a:xfrm>
            <a:off x="1280160" y="7680960"/>
            <a:ext cx="9509760" cy="0"/>
          </a:xfrm>
          <a:prstGeom prst="line">
            <a:avLst/>
          </a:prstGeom>
          <a:noFill/>
          <a:ln w="12700">
            <a:solidFill>
              <a:srgbClr val="DCE3EA"/>
            </a:solidFill>
            <a:prstDash val="solid"/>
          </a:ln>
        </p:spPr>
        <p:txBody>
          <a:bodyPr/>
          <a:lstStyle/>
          <a:p>
            <a:endParaRPr lang="en-US"/>
          </a:p>
        </p:txBody>
      </p:sp>
      <p:sp>
        <p:nvSpPr>
          <p:cNvPr id="19" name="Text 17"/>
          <p:cNvSpPr txBox="1"/>
          <p:nvPr/>
        </p:nvSpPr>
        <p:spPr>
          <a:xfrm>
            <a:off x="1280160" y="7808976"/>
            <a:ext cx="777240" cy="594360"/>
          </a:xfrm>
          <a:prstGeom prst="rect">
            <a:avLst/>
          </a:prstGeom>
          <a:noFill/>
          <a:ln/>
        </p:spPr>
        <p:txBody>
          <a:bodyPr wrap="square" lIns="0" tIns="0" rIns="0" bIns="0" rtlCol="0" anchor="ctr"/>
          <a:lstStyle/>
          <a:p>
            <a:pPr marL="0" indent="0">
              <a:buNone/>
            </a:pPr>
            <a:r>
              <a:rPr lang="en-US" sz="3000" dirty="0">
                <a:solidFill>
                  <a:srgbClr val="232E54"/>
                </a:solidFill>
                <a:latin typeface="Bahnschrift SemiBold" pitchFamily="34" charset="0"/>
                <a:ea typeface="Bahnschrift SemiBold" pitchFamily="34" charset="-122"/>
                <a:cs typeface="Bahnschrift SemiBold" pitchFamily="34" charset="-120"/>
              </a:rPr>
              <a:t>4</a:t>
            </a:r>
            <a:endParaRPr lang="en-US" sz="3000" dirty="0"/>
          </a:p>
        </p:txBody>
      </p:sp>
      <p:sp>
        <p:nvSpPr>
          <p:cNvPr id="20" name="Text 18"/>
          <p:cNvSpPr txBox="1"/>
          <p:nvPr/>
        </p:nvSpPr>
        <p:spPr>
          <a:xfrm>
            <a:off x="2103120" y="7900416"/>
            <a:ext cx="283464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Certification</a:t>
            </a:r>
            <a:endParaRPr lang="en-US" sz="1900" dirty="0"/>
          </a:p>
        </p:txBody>
      </p:sp>
      <p:sp>
        <p:nvSpPr>
          <p:cNvPr id="21" name="Text 19"/>
          <p:cNvSpPr txBox="1"/>
          <p:nvPr/>
        </p:nvSpPr>
        <p:spPr>
          <a:xfrm>
            <a:off x="5120640" y="7918704"/>
            <a:ext cx="5669280" cy="41148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RETA ammonia, Green Belt for supervisors</a:t>
            </a:r>
            <a:endParaRPr lang="en-US" sz="1500" dirty="0"/>
          </a:p>
        </p:txBody>
      </p:sp>
      <p:sp>
        <p:nvSpPr>
          <p:cNvPr id="22" name="Shape 20"/>
          <p:cNvSpPr/>
          <p:nvPr/>
        </p:nvSpPr>
        <p:spPr>
          <a:xfrm>
            <a:off x="1280160" y="8503920"/>
            <a:ext cx="9509760" cy="0"/>
          </a:xfrm>
          <a:prstGeom prst="line">
            <a:avLst/>
          </a:prstGeom>
          <a:noFill/>
          <a:ln w="12700">
            <a:solidFill>
              <a:srgbClr val="DCE3EA"/>
            </a:solidFill>
            <a:prstDash val="solid"/>
          </a:ln>
        </p:spPr>
        <p:txBody>
          <a:bodyPr/>
          <a:lstStyle/>
          <a:p>
            <a:endParaRPr lang="en-US"/>
          </a:p>
        </p:txBody>
      </p:sp>
      <p:sp>
        <p:nvSpPr>
          <p:cNvPr id="23" name="Text 21"/>
          <p:cNvSpPr txBox="1"/>
          <p:nvPr/>
        </p:nvSpPr>
        <p:spPr>
          <a:xfrm>
            <a:off x="1280160" y="8631936"/>
            <a:ext cx="777240" cy="594360"/>
          </a:xfrm>
          <a:prstGeom prst="rect">
            <a:avLst/>
          </a:prstGeom>
          <a:noFill/>
          <a:ln/>
        </p:spPr>
        <p:txBody>
          <a:bodyPr wrap="square" lIns="0" tIns="0" rIns="0" bIns="0" rtlCol="0" anchor="ctr"/>
          <a:lstStyle/>
          <a:p>
            <a:pPr marL="0" indent="0">
              <a:buNone/>
            </a:pPr>
            <a:r>
              <a:rPr lang="en-US" sz="3000" dirty="0">
                <a:solidFill>
                  <a:srgbClr val="232E54"/>
                </a:solidFill>
                <a:latin typeface="Bahnschrift SemiBold" pitchFamily="34" charset="0"/>
                <a:ea typeface="Bahnschrift SemiBold" pitchFamily="34" charset="-122"/>
                <a:cs typeface="Bahnschrift SemiBold" pitchFamily="34" charset="-120"/>
              </a:rPr>
              <a:t>3</a:t>
            </a:r>
            <a:endParaRPr lang="en-US" sz="3000" dirty="0"/>
          </a:p>
        </p:txBody>
      </p:sp>
      <p:sp>
        <p:nvSpPr>
          <p:cNvPr id="24" name="Text 22"/>
          <p:cNvSpPr txBox="1"/>
          <p:nvPr/>
        </p:nvSpPr>
        <p:spPr>
          <a:xfrm>
            <a:off x="2103120" y="8723376"/>
            <a:ext cx="283464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Job rotation</a:t>
            </a:r>
            <a:endParaRPr lang="en-US" sz="1900" dirty="0"/>
          </a:p>
        </p:txBody>
      </p:sp>
      <p:sp>
        <p:nvSpPr>
          <p:cNvPr id="25" name="Text 23"/>
          <p:cNvSpPr txBox="1"/>
          <p:nvPr/>
        </p:nvSpPr>
        <p:spPr>
          <a:xfrm>
            <a:off x="5120640" y="8741664"/>
            <a:ext cx="5669280" cy="41148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Techs rotate through Salina's lines</a:t>
            </a:r>
            <a:endParaRPr lang="en-US" sz="1500" dirty="0"/>
          </a:p>
        </p:txBody>
      </p:sp>
      <p:sp>
        <p:nvSpPr>
          <p:cNvPr id="26" name="Text 24"/>
          <p:cNvSpPr txBox="1"/>
          <p:nvPr/>
        </p:nvSpPr>
        <p:spPr>
          <a:xfrm>
            <a:off x="11978640" y="3017520"/>
            <a:ext cx="493776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SEEN FROM THE OTHER SIDE</a:t>
            </a:r>
            <a:endParaRPr lang="en-US" sz="1300" dirty="0"/>
          </a:p>
        </p:txBody>
      </p:sp>
      <p:sp>
        <p:nvSpPr>
          <p:cNvPr id="27" name="Text 25"/>
          <p:cNvSpPr txBox="1"/>
          <p:nvPr/>
        </p:nvSpPr>
        <p:spPr>
          <a:xfrm>
            <a:off x="11978640" y="3520440"/>
            <a:ext cx="4937760" cy="777240"/>
          </a:xfrm>
          <a:prstGeom prst="rect">
            <a:avLst/>
          </a:prstGeom>
          <a:noFill/>
          <a:ln/>
        </p:spPr>
        <p:txBody>
          <a:bodyPr wrap="square" lIns="0" tIns="0" rIns="0" bIns="0" rtlCol="0" anchor="ctr"/>
          <a:lstStyle/>
          <a:p>
            <a:pPr marL="0" indent="0">
              <a:buNone/>
            </a:pPr>
            <a:r>
              <a:rPr lang="en-US" sz="4000" dirty="0">
                <a:solidFill>
                  <a:srgbClr val="232E54"/>
                </a:solidFill>
                <a:latin typeface="Bahnschrift SemiBold" pitchFamily="34" charset="0"/>
                <a:ea typeface="Bahnschrift SemiBold" pitchFamily="34" charset="-122"/>
                <a:cs typeface="Bahnschrift SemiBold" pitchFamily="34" charset="-120"/>
              </a:rPr>
              <a:t>Sam K.</a:t>
            </a:r>
            <a:endParaRPr lang="en-US" sz="4000" dirty="0"/>
          </a:p>
        </p:txBody>
      </p:sp>
      <p:sp>
        <p:nvSpPr>
          <p:cNvPr id="28" name="Text 26"/>
          <p:cNvSpPr txBox="1"/>
          <p:nvPr/>
        </p:nvSpPr>
        <p:spPr>
          <a:xfrm>
            <a:off x="11978640" y="4389120"/>
            <a:ext cx="4846320" cy="45720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Refrigeration technician, Marshall. Fourteen years.</a:t>
            </a:r>
            <a:endParaRPr lang="en-US" sz="1600" dirty="0"/>
          </a:p>
        </p:txBody>
      </p:sp>
      <p:sp>
        <p:nvSpPr>
          <p:cNvPr id="29" name="Shape 27"/>
          <p:cNvSpPr/>
          <p:nvPr/>
        </p:nvSpPr>
        <p:spPr>
          <a:xfrm>
            <a:off x="11978640" y="5029200"/>
            <a:ext cx="4846320" cy="0"/>
          </a:xfrm>
          <a:prstGeom prst="line">
            <a:avLst/>
          </a:prstGeom>
          <a:noFill/>
          <a:ln w="12700">
            <a:solidFill>
              <a:srgbClr val="D9D9D9"/>
            </a:solidFill>
            <a:prstDash val="solid"/>
          </a:ln>
        </p:spPr>
        <p:txBody>
          <a:bodyPr/>
          <a:lstStyle/>
          <a:p>
            <a:endParaRPr lang="en-US"/>
          </a:p>
        </p:txBody>
      </p:sp>
      <p:sp>
        <p:nvSpPr>
          <p:cNvPr id="30" name="Text 28"/>
          <p:cNvSpPr txBox="1"/>
          <p:nvPr/>
        </p:nvSpPr>
        <p:spPr>
          <a:xfrm>
            <a:off x="11978640" y="5257800"/>
            <a:ext cx="4846320" cy="2011680"/>
          </a:xfrm>
          <a:prstGeom prst="rect">
            <a:avLst/>
          </a:prstGeom>
          <a:noFill/>
          <a:ln/>
        </p:spPr>
        <p:txBody>
          <a:bodyPr wrap="square" lIns="0" tIns="0" rIns="0" bIns="0" rtlCol="0" anchor="ctr"/>
          <a:lstStyle/>
          <a:p>
            <a:pPr marL="0" indent="0">
              <a:lnSpc>
                <a:spcPct val="135000"/>
              </a:lnSpc>
              <a:buNone/>
            </a:pPr>
            <a:r>
              <a:rPr lang="en-US" sz="1800" dirty="0">
                <a:solidFill>
                  <a:srgbClr val="18212F"/>
                </a:solidFill>
                <a:latin typeface="Calibri" pitchFamily="34" charset="0"/>
                <a:ea typeface="Calibri" pitchFamily="34" charset="-122"/>
                <a:cs typeface="Calibri" pitchFamily="34" charset="-120"/>
              </a:rPr>
              <a:t>One of two people who hold the ammonia certification, so his step is to pass it on. He ticks the same box his manager sees.</a:t>
            </a:r>
            <a:endParaRPr lang="en-US" sz="1800" dirty="0"/>
          </a:p>
        </p:txBody>
      </p:sp>
      <p:sp>
        <p:nvSpPr>
          <p:cNvPr id="31" name="Text 29"/>
          <p:cNvSpPr txBox="1"/>
          <p:nvPr/>
        </p:nvSpPr>
        <p:spPr>
          <a:xfrm>
            <a:off x="11978640" y="7406640"/>
            <a:ext cx="4846320" cy="1371600"/>
          </a:xfrm>
          <a:prstGeom prst="rect">
            <a:avLst/>
          </a:prstGeom>
          <a:noFill/>
          <a:ln/>
        </p:spPr>
        <p:txBody>
          <a:bodyPr wrap="square" lIns="0" tIns="0" rIns="0" bIns="0" rtlCol="0" anchor="ctr"/>
          <a:lstStyle/>
          <a:p>
            <a:pPr marL="0" indent="0">
              <a:lnSpc>
                <a:spcPct val="130000"/>
              </a:lnSpc>
              <a:buNone/>
            </a:pPr>
            <a:r>
              <a:rPr lang="en-US" sz="1600" i="1" dirty="0">
                <a:solidFill>
                  <a:srgbClr val="6E7788"/>
                </a:solidFill>
                <a:latin typeface="Calibri" pitchFamily="34" charset="0"/>
                <a:ea typeface="Calibri" pitchFamily="34" charset="-122"/>
                <a:cs typeface="Calibri" pitchFamily="34" charset="-120"/>
              </a:rPr>
              <a:t>The prompt says employees close gaps. So one screen speaks to the employee, not only about them.</a:t>
            </a:r>
            <a:endParaRPr lang="en-US" sz="1600" dirty="0"/>
          </a:p>
        </p:txBody>
      </p:sp>
      <p:sp>
        <p:nvSpPr>
          <p:cNvPr id="32" name="Shape 30"/>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33" name="Text 31"/>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Every skill page, plus the Employee view tab</a:t>
            </a:r>
            <a:endParaRPr lang="en-US" sz="1400" dirty="0"/>
          </a:p>
        </p:txBody>
      </p:sp>
      <p:sp>
        <p:nvSpPr>
          <p:cNvPr id="34" name="Text 32"/>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Demo plans. Methods are the five the prompt names.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280160" y="914400"/>
            <a:ext cx="54864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BEYOND THE FIVE</a:t>
            </a:r>
            <a:endParaRPr lang="en-US" sz="1300" dirty="0"/>
          </a:p>
        </p:txBody>
      </p:sp>
      <p:sp>
        <p:nvSpPr>
          <p:cNvPr id="3" name="Text 1"/>
          <p:cNvSpPr txBox="1"/>
          <p:nvPr/>
        </p:nvSpPr>
        <p:spPr>
          <a:xfrm>
            <a:off x="1280160" y="1417320"/>
            <a:ext cx="11887200" cy="1828800"/>
          </a:xfrm>
          <a:prstGeom prst="rect">
            <a:avLst/>
          </a:prstGeom>
          <a:noFill/>
          <a:ln/>
        </p:spPr>
        <p:txBody>
          <a:bodyPr wrap="square" lIns="0" tIns="0" rIns="0" bIns="0" rtlCol="0" anchor="ctr"/>
          <a:lstStyle/>
          <a:p>
            <a:pPr marL="0" indent="0">
              <a:lnSpc>
                <a:spcPct val="108000"/>
              </a:lnSpc>
              <a:buNone/>
            </a:pPr>
            <a:r>
              <a:rPr lang="en-US" sz="4200" dirty="0">
                <a:solidFill>
                  <a:srgbClr val="232E54"/>
                </a:solidFill>
                <a:latin typeface="Bahnschrift SemiBold" pitchFamily="34" charset="0"/>
                <a:ea typeface="Bahnschrift SemiBold" pitchFamily="34" charset="-122"/>
                <a:cs typeface="Bahnschrift SemiBold" pitchFamily="34" charset="-120"/>
              </a:rPr>
              <a:t>Two questions the prompt implies</a:t>
            </a:r>
            <a:endParaRPr lang="en-US" sz="4200" dirty="0"/>
          </a:p>
          <a:p>
            <a:pPr marL="0" indent="0">
              <a:lnSpc>
                <a:spcPct val="108000"/>
              </a:lnSpc>
              <a:buNone/>
            </a:pPr>
            <a:r>
              <a:rPr lang="en-US" sz="4200" dirty="0">
                <a:solidFill>
                  <a:srgbClr val="232E54"/>
                </a:solidFill>
                <a:latin typeface="Bahnschrift SemiBold" pitchFamily="34" charset="0"/>
                <a:ea typeface="Bahnschrift SemiBold" pitchFamily="34" charset="-122"/>
                <a:cs typeface="Bahnschrift SemiBold" pitchFamily="34" charset="-120"/>
              </a:rPr>
              <a:t>but does not ask.</a:t>
            </a:r>
            <a:endParaRPr lang="en-US" sz="4200" dirty="0"/>
          </a:p>
        </p:txBody>
      </p:sp>
      <p:sp>
        <p:nvSpPr>
          <p:cNvPr id="4" name="Text 2"/>
          <p:cNvSpPr txBox="1"/>
          <p:nvPr/>
        </p:nvSpPr>
        <p:spPr>
          <a:xfrm>
            <a:off x="1280159" y="3840480"/>
            <a:ext cx="7178039" cy="1280160"/>
          </a:xfrm>
          <a:prstGeom prst="rect">
            <a:avLst/>
          </a:prstGeom>
          <a:noFill/>
          <a:ln/>
        </p:spPr>
        <p:txBody>
          <a:bodyPr wrap="square" lIns="0" tIns="0" rIns="0" bIns="0" rtlCol="0" anchor="ctr"/>
          <a:lstStyle/>
          <a:p>
            <a:pPr marL="0" indent="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Where would this data</a:t>
            </a:r>
            <a:endParaRPr lang="en-US" sz="2700" dirty="0"/>
          </a:p>
          <a:p>
            <a:pPr marL="0" indent="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actually come from?</a:t>
            </a:r>
            <a:endParaRPr lang="en-US" sz="2700" dirty="0"/>
          </a:p>
        </p:txBody>
      </p:sp>
      <p:sp>
        <p:nvSpPr>
          <p:cNvPr id="5" name="Text 3"/>
          <p:cNvSpPr txBox="1"/>
          <p:nvPr/>
        </p:nvSpPr>
        <p:spPr>
          <a:xfrm>
            <a:off x="1280160" y="5303520"/>
            <a:ext cx="6675120" cy="2194560"/>
          </a:xfrm>
          <a:prstGeom prst="rect">
            <a:avLst/>
          </a:prstGeom>
          <a:noFill/>
          <a:ln/>
        </p:spPr>
        <p:txBody>
          <a:bodyPr wrap="square" lIns="0" tIns="0" rIns="0" bIns="0" rtlCol="0" anchor="ctr"/>
          <a:lstStyle/>
          <a:p>
            <a:pPr marL="0" indent="0">
              <a:lnSpc>
                <a:spcPct val="135000"/>
              </a:lnSpc>
              <a:buNone/>
            </a:pPr>
            <a:r>
              <a:rPr lang="en-US" sz="1700" dirty="0">
                <a:solidFill>
                  <a:srgbClr val="18212F"/>
                </a:solidFill>
                <a:latin typeface="Calibri" pitchFamily="34" charset="0"/>
                <a:ea typeface="Calibri" pitchFamily="34" charset="-122"/>
                <a:cs typeface="Calibri" pitchFamily="34" charset="-120"/>
              </a:rPr>
              <a:t>Every skill page names the systems a real deployment would read. Ammonia systems over 10,000 pounds are an OSHA covered process, so the trained-operator roster and its three year refresher dates are kept by law. A food safety plan must be overseen by a preventive controls qualified individual.</a:t>
            </a:r>
            <a:endParaRPr lang="en-US" sz="1700" dirty="0"/>
          </a:p>
        </p:txBody>
      </p:sp>
      <p:sp>
        <p:nvSpPr>
          <p:cNvPr id="6" name="Text 4"/>
          <p:cNvSpPr txBox="1"/>
          <p:nvPr/>
        </p:nvSpPr>
        <p:spPr>
          <a:xfrm>
            <a:off x="1280160" y="7635240"/>
            <a:ext cx="6675120" cy="1188720"/>
          </a:xfrm>
          <a:prstGeom prst="rect">
            <a:avLst/>
          </a:prstGeom>
          <a:noFill/>
          <a:ln/>
        </p:spPr>
        <p:txBody>
          <a:bodyPr wrap="square" lIns="0" tIns="0" rIns="0" bIns="0" rtlCol="0" anchor="ctr"/>
          <a:lstStyle/>
          <a:p>
            <a:pPr marL="0" indent="0">
              <a:lnSpc>
                <a:spcPct val="130000"/>
              </a:lnSpc>
              <a:buNone/>
            </a:pPr>
            <a:r>
              <a:rPr lang="en-US" sz="1700" i="1" dirty="0">
                <a:solidFill>
                  <a:srgbClr val="6E7788"/>
                </a:solidFill>
                <a:latin typeface="Calibri" pitchFamily="34" charset="0"/>
                <a:ea typeface="Calibri" pitchFamily="34" charset="-122"/>
                <a:cs typeface="Calibri" pitchFamily="34" charset="-120"/>
              </a:rPr>
              <a:t>One skill says plainly that it has no system of record anywhere. That is the finding, not a gap in the tool.</a:t>
            </a:r>
            <a:endParaRPr lang="en-US" sz="1700" dirty="0"/>
          </a:p>
        </p:txBody>
      </p:sp>
      <p:sp>
        <p:nvSpPr>
          <p:cNvPr id="7" name="Shape 5"/>
          <p:cNvSpPr/>
          <p:nvPr/>
        </p:nvSpPr>
        <p:spPr>
          <a:xfrm>
            <a:off x="8458200" y="3840480"/>
            <a:ext cx="0" cy="4480560"/>
          </a:xfrm>
          <a:prstGeom prst="line">
            <a:avLst/>
          </a:prstGeom>
          <a:noFill/>
          <a:ln w="12700">
            <a:solidFill>
              <a:srgbClr val="D9D9D9"/>
            </a:solidFill>
            <a:prstDash val="solid"/>
          </a:ln>
        </p:spPr>
        <p:txBody>
          <a:bodyPr/>
          <a:lstStyle/>
          <a:p>
            <a:endParaRPr lang="en-US"/>
          </a:p>
        </p:txBody>
      </p:sp>
      <p:sp>
        <p:nvSpPr>
          <p:cNvPr id="8" name="Text 6"/>
          <p:cNvSpPr txBox="1"/>
          <p:nvPr/>
        </p:nvSpPr>
        <p:spPr>
          <a:xfrm>
            <a:off x="9235440" y="3840480"/>
            <a:ext cx="6675120" cy="1280160"/>
          </a:xfrm>
          <a:prstGeom prst="rect">
            <a:avLst/>
          </a:prstGeom>
          <a:noFill/>
          <a:ln/>
        </p:spPr>
        <p:txBody>
          <a:bodyPr wrap="square" lIns="0" tIns="0" rIns="0" bIns="0" rtlCol="0" anchor="ctr"/>
          <a:lstStyle/>
          <a:p>
            <a:pPr marL="0" indent="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How much of this</a:t>
            </a:r>
            <a:endParaRPr lang="en-US" sz="2700" dirty="0"/>
          </a:p>
          <a:p>
            <a:pPr marL="0" indent="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is made up?</a:t>
            </a:r>
            <a:endParaRPr lang="en-US" sz="2700" dirty="0"/>
          </a:p>
        </p:txBody>
      </p:sp>
      <p:sp>
        <p:nvSpPr>
          <p:cNvPr id="9" name="Text 7"/>
          <p:cNvSpPr txBox="1"/>
          <p:nvPr/>
        </p:nvSpPr>
        <p:spPr>
          <a:xfrm>
            <a:off x="9235440" y="5303520"/>
            <a:ext cx="6675120" cy="2194560"/>
          </a:xfrm>
          <a:prstGeom prst="rect">
            <a:avLst/>
          </a:prstGeom>
          <a:noFill/>
          <a:ln/>
        </p:spPr>
        <p:txBody>
          <a:bodyPr wrap="square" lIns="0" tIns="0" rIns="0" bIns="0" rtlCol="0" anchor="ctr"/>
          <a:lstStyle/>
          <a:p>
            <a:pPr marL="0" indent="0">
              <a:lnSpc>
                <a:spcPct val="135000"/>
              </a:lnSpc>
              <a:buNone/>
            </a:pPr>
            <a:r>
              <a:rPr lang="en-US" sz="1700" dirty="0">
                <a:solidFill>
                  <a:srgbClr val="18212F"/>
                </a:solidFill>
                <a:latin typeface="Calibri" pitchFamily="34" charset="0"/>
                <a:ea typeface="Calibri" pitchFamily="34" charset="-122"/>
                <a:cs typeface="Calibri" pitchFamily="34" charset="-120"/>
              </a:rPr>
              <a:t>Coverage percentages, per-site headcounts and employee records are invented, and the app says so on its own front page. The job groups, locations, business drivers and regulations are sourced. Ten sources in all.</a:t>
            </a:r>
            <a:endParaRPr lang="en-US" sz="1700" dirty="0"/>
          </a:p>
        </p:txBody>
      </p:sp>
      <p:sp>
        <p:nvSpPr>
          <p:cNvPr id="10" name="Text 8"/>
          <p:cNvSpPr txBox="1"/>
          <p:nvPr/>
        </p:nvSpPr>
        <p:spPr>
          <a:xfrm>
            <a:off x="9235440" y="7635240"/>
            <a:ext cx="6675120" cy="1188720"/>
          </a:xfrm>
          <a:prstGeom prst="rect">
            <a:avLst/>
          </a:prstGeom>
          <a:noFill/>
          <a:ln/>
        </p:spPr>
        <p:txBody>
          <a:bodyPr wrap="square" lIns="0" tIns="0" rIns="0" bIns="0" rtlCol="0" anchor="ctr"/>
          <a:lstStyle/>
          <a:p>
            <a:pPr marL="0" indent="0">
              <a:lnSpc>
                <a:spcPct val="130000"/>
              </a:lnSpc>
              <a:buNone/>
            </a:pPr>
            <a:r>
              <a:rPr lang="en-US" sz="1700" i="1" dirty="0">
                <a:solidFill>
                  <a:srgbClr val="6E7788"/>
                </a:solidFill>
                <a:latin typeface="Calibri" pitchFamily="34" charset="0"/>
                <a:ea typeface="Calibri" pitchFamily="34" charset="-122"/>
                <a:cs typeface="Calibri" pitchFamily="34" charset="-120"/>
              </a:rPr>
              <a:t>Three claims were cut during the fact check because they only traced back to blogs. FACTS.md lists every one.</a:t>
            </a:r>
            <a:endParaRPr lang="en-US" sz="1700" dirty="0"/>
          </a:p>
        </p:txBody>
      </p:sp>
      <p:sp>
        <p:nvSpPr>
          <p:cNvPr id="11" name="Shape 9"/>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12" name="Text 10"/>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Read more on the Overview, and every skill page</a:t>
            </a:r>
            <a:endParaRPr lang="en-US" sz="1400" dirty="0"/>
          </a:p>
        </p:txBody>
      </p:sp>
      <p:sp>
        <p:nvSpPr>
          <p:cNvPr id="13" name="Text 11"/>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FACTS.md: every claim, its source, and what was cut.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p:cNvSpPr/>
          <p:nvPr/>
        </p:nvSpPr>
        <p:spPr>
          <a:xfrm>
            <a:off x="9966960" y="0"/>
            <a:ext cx="8321040" cy="10286999"/>
          </a:xfrm>
          <a:prstGeom prst="rect">
            <a:avLst/>
          </a:prstGeom>
          <a:solidFill>
            <a:srgbClr val="324070"/>
          </a:solidFill>
          <a:ln w="12700">
            <a:solidFill>
              <a:srgbClr val="324070"/>
            </a:solidFill>
            <a:prstDash val="solid"/>
          </a:ln>
        </p:spPr>
        <p:txBody>
          <a:bodyPr/>
          <a:lstStyle/>
          <a:p>
            <a:endParaRPr lang="en-US"/>
          </a:p>
        </p:txBody>
      </p:sp>
      <p:sp>
        <p:nvSpPr>
          <p:cNvPr id="4" name="Text 2"/>
          <p:cNvSpPr txBox="1"/>
          <p:nvPr/>
        </p:nvSpPr>
        <p:spPr>
          <a:xfrm>
            <a:off x="1280160" y="2834640"/>
            <a:ext cx="8046720" cy="3108960"/>
          </a:xfrm>
          <a:prstGeom prst="rect">
            <a:avLst/>
          </a:prstGeom>
          <a:noFill/>
          <a:ln/>
        </p:spPr>
        <p:txBody>
          <a:bodyPr wrap="square" lIns="0" tIns="0" rIns="0" bIns="0" rtlCol="0" anchor="ctr"/>
          <a:lstStyle/>
          <a:p>
            <a:pPr marL="0" indent="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Five questions.</a:t>
            </a:r>
            <a:endParaRPr lang="en-US" sz="5600" dirty="0"/>
          </a:p>
          <a:p>
            <a:pPr marL="0" indent="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Five tabs.</a:t>
            </a:r>
            <a:endParaRPr lang="en-US" sz="5600" dirty="0"/>
          </a:p>
          <a:p>
            <a:pPr marL="0" indent="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Same order.</a:t>
            </a:r>
            <a:endParaRPr lang="en-US" sz="5600" dirty="0"/>
          </a:p>
        </p:txBody>
      </p:sp>
      <p:sp>
        <p:nvSpPr>
          <p:cNvPr id="5" name="Shape 3"/>
          <p:cNvSpPr/>
          <p:nvPr/>
        </p:nvSpPr>
        <p:spPr>
          <a:xfrm>
            <a:off x="1280160" y="6446520"/>
            <a:ext cx="4754880" cy="0"/>
          </a:xfrm>
          <a:prstGeom prst="line">
            <a:avLst/>
          </a:prstGeom>
          <a:noFill/>
          <a:ln w="25400">
            <a:solidFill>
              <a:srgbClr val="44528A"/>
            </a:solidFill>
            <a:prstDash val="solid"/>
          </a:ln>
        </p:spPr>
        <p:txBody>
          <a:bodyPr/>
          <a:lstStyle/>
          <a:p>
            <a:endParaRPr lang="en-US"/>
          </a:p>
        </p:txBody>
      </p:sp>
      <p:sp>
        <p:nvSpPr>
          <p:cNvPr id="6" name="Text 4"/>
          <p:cNvSpPr txBox="1"/>
          <p:nvPr/>
        </p:nvSpPr>
        <p:spPr>
          <a:xfrm>
            <a:off x="1280160" y="6720840"/>
            <a:ext cx="8046720" cy="457200"/>
          </a:xfrm>
          <a:prstGeom prst="rect">
            <a:avLst/>
          </a:prstGeom>
          <a:noFill/>
          <a:ln/>
        </p:spPr>
        <p:txBody>
          <a:bodyPr wrap="square" lIns="0" tIns="0" rIns="0" bIns="0" rtlCol="0" anchor="ctr"/>
          <a:lstStyle/>
          <a:p>
            <a:pPr marL="0" indent="0">
              <a:buNone/>
            </a:pPr>
            <a:r>
              <a:rPr lang="en-US" sz="1900" dirty="0">
                <a:solidFill>
                  <a:srgbClr val="B9C2D4"/>
                </a:solidFill>
                <a:latin typeface="Calibri" pitchFamily="34" charset="0"/>
                <a:ea typeface="Calibri" pitchFamily="34" charset="-122"/>
                <a:cs typeface="Calibri" pitchFamily="34" charset="-120"/>
              </a:rPr>
              <a:t>github.com/Aj-Networks/schwan_s</a:t>
            </a:r>
            <a:endParaRPr lang="en-US" sz="1900" dirty="0"/>
          </a:p>
        </p:txBody>
      </p:sp>
      <p:sp>
        <p:nvSpPr>
          <p:cNvPr id="7" name="Text 5"/>
          <p:cNvSpPr txBox="1"/>
          <p:nvPr/>
        </p:nvSpPr>
        <p:spPr>
          <a:xfrm>
            <a:off x="10881360" y="2331720"/>
            <a:ext cx="1097280" cy="731520"/>
          </a:xfrm>
          <a:prstGeom prst="rect">
            <a:avLst/>
          </a:prstGeom>
          <a:noFill/>
          <a:ln/>
        </p:spPr>
        <p:txBody>
          <a:bodyPr wrap="square" lIns="0" tIns="0" rIns="0" bIns="0" rtlCol="0" anchor="ctr"/>
          <a:lstStyle/>
          <a:p>
            <a:pPr marL="0" indent="0">
              <a:buNone/>
            </a:pPr>
            <a:r>
              <a:rPr lang="en-US" sz="4000" dirty="0">
                <a:solidFill>
                  <a:srgbClr val="8E98AE"/>
                </a:solidFill>
                <a:latin typeface="Bahnschrift Light" pitchFamily="34" charset="0"/>
                <a:ea typeface="Bahnschrift Light" pitchFamily="34" charset="-122"/>
                <a:cs typeface="Bahnschrift Light" pitchFamily="34" charset="-120"/>
              </a:rPr>
              <a:t>01</a:t>
            </a:r>
            <a:endParaRPr lang="en-US" sz="4000" dirty="0"/>
          </a:p>
        </p:txBody>
      </p:sp>
      <p:sp>
        <p:nvSpPr>
          <p:cNvPr id="8" name="Text 6"/>
          <p:cNvSpPr txBox="1"/>
          <p:nvPr/>
        </p:nvSpPr>
        <p:spPr>
          <a:xfrm>
            <a:off x="11978640" y="2423160"/>
            <a:ext cx="2560320" cy="457200"/>
          </a:xfrm>
          <a:prstGeom prst="rect">
            <a:avLst/>
          </a:prstGeom>
          <a:noFill/>
          <a:ln/>
        </p:spPr>
        <p:txBody>
          <a:bodyPr wrap="square" lIns="0" tIns="0" rIns="0" bIns="0" rtlCol="0" anchor="ctr"/>
          <a:lstStyle/>
          <a:p>
            <a:pPr marL="0" indent="0">
              <a:buNone/>
            </a:pPr>
            <a:r>
              <a:rPr lang="en-US" sz="2200" dirty="0">
                <a:solidFill>
                  <a:srgbClr val="FFFFFF"/>
                </a:solidFill>
                <a:latin typeface="Bahnschrift SemiBold" pitchFamily="34" charset="0"/>
                <a:ea typeface="Bahnschrift SemiBold" pitchFamily="34" charset="-122"/>
                <a:cs typeface="Bahnschrift SemiBold" pitchFamily="34" charset="-120"/>
              </a:rPr>
              <a:t>Skills</a:t>
            </a:r>
            <a:endParaRPr lang="en-US" sz="2200" dirty="0"/>
          </a:p>
        </p:txBody>
      </p:sp>
      <p:sp>
        <p:nvSpPr>
          <p:cNvPr id="9" name="Text 7"/>
          <p:cNvSpPr txBox="1"/>
          <p:nvPr/>
        </p:nvSpPr>
        <p:spPr>
          <a:xfrm>
            <a:off x="14676120" y="2496312"/>
            <a:ext cx="2423160" cy="457200"/>
          </a:xfrm>
          <a:prstGeom prst="rect">
            <a:avLst/>
          </a:prstGeom>
          <a:noFill/>
          <a:ln/>
        </p:spPr>
        <p:txBody>
          <a:bodyPr wrap="square" lIns="0" tIns="0" rIns="0" bIns="0" rtlCol="0" anchor="ctr"/>
          <a:lstStyle/>
          <a:p>
            <a:pPr marL="0" indent="0" algn="r">
              <a:buNone/>
            </a:pPr>
            <a:r>
              <a:rPr lang="en-US" sz="1500" dirty="0">
                <a:solidFill>
                  <a:srgbClr val="B9C2D4"/>
                </a:solidFill>
                <a:latin typeface="Calibri" pitchFamily="34" charset="0"/>
                <a:ea typeface="Calibri" pitchFamily="34" charset="-122"/>
                <a:cs typeface="Calibri" pitchFamily="34" charset="-120"/>
              </a:rPr>
              <a:t>what exists today</a:t>
            </a:r>
            <a:endParaRPr lang="en-US" sz="1500" dirty="0"/>
          </a:p>
        </p:txBody>
      </p:sp>
      <p:sp>
        <p:nvSpPr>
          <p:cNvPr id="10" name="Shape 8"/>
          <p:cNvSpPr/>
          <p:nvPr/>
        </p:nvSpPr>
        <p:spPr>
          <a:xfrm>
            <a:off x="10881360" y="3319272"/>
            <a:ext cx="6217920" cy="0"/>
          </a:xfrm>
          <a:prstGeom prst="line">
            <a:avLst/>
          </a:prstGeom>
          <a:noFill/>
          <a:ln w="12700">
            <a:solidFill>
              <a:srgbClr val="44528A"/>
            </a:solidFill>
            <a:prstDash val="solid"/>
          </a:ln>
        </p:spPr>
        <p:txBody>
          <a:bodyPr/>
          <a:lstStyle/>
          <a:p>
            <a:endParaRPr lang="en-US"/>
          </a:p>
        </p:txBody>
      </p:sp>
      <p:sp>
        <p:nvSpPr>
          <p:cNvPr id="11" name="Text 9"/>
          <p:cNvSpPr txBox="1"/>
          <p:nvPr/>
        </p:nvSpPr>
        <p:spPr>
          <a:xfrm>
            <a:off x="10881360" y="3611880"/>
            <a:ext cx="1097280" cy="731520"/>
          </a:xfrm>
          <a:prstGeom prst="rect">
            <a:avLst/>
          </a:prstGeom>
          <a:noFill/>
          <a:ln/>
        </p:spPr>
        <p:txBody>
          <a:bodyPr wrap="square" lIns="0" tIns="0" rIns="0" bIns="0" rtlCol="0" anchor="ctr"/>
          <a:lstStyle/>
          <a:p>
            <a:pPr marL="0" indent="0">
              <a:buNone/>
            </a:pPr>
            <a:r>
              <a:rPr lang="en-US" sz="4000" dirty="0">
                <a:solidFill>
                  <a:srgbClr val="8E98AE"/>
                </a:solidFill>
                <a:latin typeface="Bahnschrift Light" pitchFamily="34" charset="0"/>
                <a:ea typeface="Bahnschrift Light" pitchFamily="34" charset="-122"/>
                <a:cs typeface="Bahnschrift Light" pitchFamily="34" charset="-120"/>
              </a:rPr>
              <a:t>02</a:t>
            </a:r>
            <a:endParaRPr lang="en-US" sz="4000" dirty="0"/>
          </a:p>
        </p:txBody>
      </p:sp>
      <p:sp>
        <p:nvSpPr>
          <p:cNvPr id="12" name="Text 10"/>
          <p:cNvSpPr txBox="1"/>
          <p:nvPr/>
        </p:nvSpPr>
        <p:spPr>
          <a:xfrm>
            <a:off x="11978640" y="3703320"/>
            <a:ext cx="2560320" cy="457200"/>
          </a:xfrm>
          <a:prstGeom prst="rect">
            <a:avLst/>
          </a:prstGeom>
          <a:noFill/>
          <a:ln/>
        </p:spPr>
        <p:txBody>
          <a:bodyPr wrap="square" lIns="0" tIns="0" rIns="0" bIns="0" rtlCol="0" anchor="ctr"/>
          <a:lstStyle/>
          <a:p>
            <a:pPr marL="0" indent="0">
              <a:buNone/>
            </a:pPr>
            <a:r>
              <a:rPr lang="en-US" sz="2200" dirty="0">
                <a:solidFill>
                  <a:srgbClr val="FFFFFF"/>
                </a:solidFill>
                <a:latin typeface="Bahnschrift SemiBold" pitchFamily="34" charset="0"/>
                <a:ea typeface="Bahnschrift SemiBold" pitchFamily="34" charset="-122"/>
                <a:cs typeface="Bahnschrift SemiBold" pitchFamily="34" charset="-120"/>
              </a:rPr>
              <a:t>Future skills</a:t>
            </a:r>
            <a:endParaRPr lang="en-US" sz="2200" dirty="0"/>
          </a:p>
        </p:txBody>
      </p:sp>
      <p:sp>
        <p:nvSpPr>
          <p:cNvPr id="13" name="Text 11"/>
          <p:cNvSpPr txBox="1"/>
          <p:nvPr/>
        </p:nvSpPr>
        <p:spPr>
          <a:xfrm>
            <a:off x="14676120" y="3776472"/>
            <a:ext cx="2423160" cy="457200"/>
          </a:xfrm>
          <a:prstGeom prst="rect">
            <a:avLst/>
          </a:prstGeom>
          <a:noFill/>
          <a:ln/>
        </p:spPr>
        <p:txBody>
          <a:bodyPr wrap="square" lIns="0" tIns="0" rIns="0" bIns="0" rtlCol="0" anchor="ctr"/>
          <a:lstStyle/>
          <a:p>
            <a:pPr marL="0" indent="0" algn="r">
              <a:buNone/>
            </a:pPr>
            <a:r>
              <a:rPr lang="en-US" sz="1500" dirty="0">
                <a:solidFill>
                  <a:srgbClr val="B9C2D4"/>
                </a:solidFill>
                <a:latin typeface="Calibri" pitchFamily="34" charset="0"/>
                <a:ea typeface="Calibri" pitchFamily="34" charset="-122"/>
                <a:cs typeface="Calibri" pitchFamily="34" charset="-120"/>
              </a:rPr>
              <a:t>what will be needed</a:t>
            </a:r>
            <a:endParaRPr lang="en-US" sz="1500" dirty="0"/>
          </a:p>
        </p:txBody>
      </p:sp>
      <p:sp>
        <p:nvSpPr>
          <p:cNvPr id="14" name="Shape 12"/>
          <p:cNvSpPr/>
          <p:nvPr/>
        </p:nvSpPr>
        <p:spPr>
          <a:xfrm>
            <a:off x="10881360" y="4599432"/>
            <a:ext cx="6217920" cy="0"/>
          </a:xfrm>
          <a:prstGeom prst="line">
            <a:avLst/>
          </a:prstGeom>
          <a:noFill/>
          <a:ln w="12700">
            <a:solidFill>
              <a:srgbClr val="44528A"/>
            </a:solidFill>
            <a:prstDash val="solid"/>
          </a:ln>
        </p:spPr>
        <p:txBody>
          <a:bodyPr/>
          <a:lstStyle/>
          <a:p>
            <a:endParaRPr lang="en-US"/>
          </a:p>
        </p:txBody>
      </p:sp>
      <p:sp>
        <p:nvSpPr>
          <p:cNvPr id="15" name="Text 13"/>
          <p:cNvSpPr txBox="1"/>
          <p:nvPr/>
        </p:nvSpPr>
        <p:spPr>
          <a:xfrm>
            <a:off x="10881360" y="4892040"/>
            <a:ext cx="1097280" cy="731520"/>
          </a:xfrm>
          <a:prstGeom prst="rect">
            <a:avLst/>
          </a:prstGeom>
          <a:noFill/>
          <a:ln/>
        </p:spPr>
        <p:txBody>
          <a:bodyPr wrap="square" lIns="0" tIns="0" rIns="0" bIns="0" rtlCol="0" anchor="ctr"/>
          <a:lstStyle/>
          <a:p>
            <a:pPr marL="0" indent="0">
              <a:buNone/>
            </a:pPr>
            <a:r>
              <a:rPr lang="en-US" sz="4000" dirty="0">
                <a:solidFill>
                  <a:srgbClr val="8E98AE"/>
                </a:solidFill>
                <a:latin typeface="Bahnschrift Light" pitchFamily="34" charset="0"/>
                <a:ea typeface="Bahnschrift Light" pitchFamily="34" charset="-122"/>
                <a:cs typeface="Bahnschrift Light" pitchFamily="34" charset="-120"/>
              </a:rPr>
              <a:t>03</a:t>
            </a:r>
            <a:endParaRPr lang="en-US" sz="4000" dirty="0"/>
          </a:p>
        </p:txBody>
      </p:sp>
      <p:sp>
        <p:nvSpPr>
          <p:cNvPr id="16" name="Text 14"/>
          <p:cNvSpPr txBox="1"/>
          <p:nvPr/>
        </p:nvSpPr>
        <p:spPr>
          <a:xfrm>
            <a:off x="11978640" y="4983480"/>
            <a:ext cx="2560320" cy="457200"/>
          </a:xfrm>
          <a:prstGeom prst="rect">
            <a:avLst/>
          </a:prstGeom>
          <a:noFill/>
          <a:ln/>
        </p:spPr>
        <p:txBody>
          <a:bodyPr wrap="square" lIns="0" tIns="0" rIns="0" bIns="0" rtlCol="0" anchor="ctr"/>
          <a:lstStyle/>
          <a:p>
            <a:pPr marL="0" indent="0">
              <a:buNone/>
            </a:pPr>
            <a:r>
              <a:rPr lang="en-US" sz="2200" dirty="0">
                <a:solidFill>
                  <a:srgbClr val="FFFFFF"/>
                </a:solidFill>
                <a:latin typeface="Bahnschrift SemiBold" pitchFamily="34" charset="0"/>
                <a:ea typeface="Bahnschrift SemiBold" pitchFamily="34" charset="-122"/>
                <a:cs typeface="Bahnschrift SemiBold" pitchFamily="34" charset="-120"/>
              </a:rPr>
              <a:t>Succession risk</a:t>
            </a:r>
            <a:endParaRPr lang="en-US" sz="2200" dirty="0"/>
          </a:p>
        </p:txBody>
      </p:sp>
      <p:sp>
        <p:nvSpPr>
          <p:cNvPr id="17" name="Text 15"/>
          <p:cNvSpPr txBox="1"/>
          <p:nvPr/>
        </p:nvSpPr>
        <p:spPr>
          <a:xfrm>
            <a:off x="14676120" y="5056632"/>
            <a:ext cx="2423160" cy="457200"/>
          </a:xfrm>
          <a:prstGeom prst="rect">
            <a:avLst/>
          </a:prstGeom>
          <a:noFill/>
          <a:ln/>
        </p:spPr>
        <p:txBody>
          <a:bodyPr wrap="square" lIns="0" tIns="0" rIns="0" bIns="0" rtlCol="0" anchor="ctr"/>
          <a:lstStyle/>
          <a:p>
            <a:pPr marL="0" indent="0" algn="r">
              <a:buNone/>
            </a:pPr>
            <a:r>
              <a:rPr lang="en-US" sz="1500" dirty="0">
                <a:solidFill>
                  <a:srgbClr val="B9C2D4"/>
                </a:solidFill>
                <a:latin typeface="Calibri" pitchFamily="34" charset="0"/>
                <a:ea typeface="Calibri" pitchFamily="34" charset="-122"/>
                <a:cs typeface="Calibri" pitchFamily="34" charset="-120"/>
              </a:rPr>
              <a:t>who holds it alone</a:t>
            </a:r>
            <a:endParaRPr lang="en-US" sz="1500" dirty="0"/>
          </a:p>
        </p:txBody>
      </p:sp>
      <p:sp>
        <p:nvSpPr>
          <p:cNvPr id="18" name="Shape 16"/>
          <p:cNvSpPr/>
          <p:nvPr/>
        </p:nvSpPr>
        <p:spPr>
          <a:xfrm>
            <a:off x="10881360" y="5879592"/>
            <a:ext cx="6217920" cy="0"/>
          </a:xfrm>
          <a:prstGeom prst="line">
            <a:avLst/>
          </a:prstGeom>
          <a:noFill/>
          <a:ln w="12700">
            <a:solidFill>
              <a:srgbClr val="44528A"/>
            </a:solidFill>
            <a:prstDash val="solid"/>
          </a:ln>
        </p:spPr>
        <p:txBody>
          <a:bodyPr/>
          <a:lstStyle/>
          <a:p>
            <a:endParaRPr lang="en-US"/>
          </a:p>
        </p:txBody>
      </p:sp>
      <p:sp>
        <p:nvSpPr>
          <p:cNvPr id="19" name="Text 17"/>
          <p:cNvSpPr txBox="1"/>
          <p:nvPr/>
        </p:nvSpPr>
        <p:spPr>
          <a:xfrm>
            <a:off x="10881360" y="6172200"/>
            <a:ext cx="1097280" cy="731520"/>
          </a:xfrm>
          <a:prstGeom prst="rect">
            <a:avLst/>
          </a:prstGeom>
          <a:noFill/>
          <a:ln/>
        </p:spPr>
        <p:txBody>
          <a:bodyPr wrap="square" lIns="0" tIns="0" rIns="0" bIns="0" rtlCol="0" anchor="ctr"/>
          <a:lstStyle/>
          <a:p>
            <a:pPr marL="0" indent="0">
              <a:buNone/>
            </a:pPr>
            <a:r>
              <a:rPr lang="en-US" sz="4000" dirty="0">
                <a:solidFill>
                  <a:srgbClr val="8E98AE"/>
                </a:solidFill>
                <a:latin typeface="Bahnschrift Light" pitchFamily="34" charset="0"/>
                <a:ea typeface="Bahnschrift Light" pitchFamily="34" charset="-122"/>
                <a:cs typeface="Bahnschrift Light" pitchFamily="34" charset="-120"/>
              </a:rPr>
              <a:t>04</a:t>
            </a:r>
            <a:endParaRPr lang="en-US" sz="4000" dirty="0"/>
          </a:p>
        </p:txBody>
      </p:sp>
      <p:sp>
        <p:nvSpPr>
          <p:cNvPr id="20" name="Text 18"/>
          <p:cNvSpPr txBox="1"/>
          <p:nvPr/>
        </p:nvSpPr>
        <p:spPr>
          <a:xfrm>
            <a:off x="11978640" y="6263640"/>
            <a:ext cx="2560320" cy="457200"/>
          </a:xfrm>
          <a:prstGeom prst="rect">
            <a:avLst/>
          </a:prstGeom>
          <a:noFill/>
          <a:ln/>
        </p:spPr>
        <p:txBody>
          <a:bodyPr wrap="square" lIns="0" tIns="0" rIns="0" bIns="0" rtlCol="0" anchor="ctr"/>
          <a:lstStyle/>
          <a:p>
            <a:pPr marL="0" indent="0">
              <a:buNone/>
            </a:pPr>
            <a:r>
              <a:rPr lang="en-US" sz="2200" dirty="0">
                <a:solidFill>
                  <a:srgbClr val="FFFFFF"/>
                </a:solidFill>
                <a:latin typeface="Bahnschrift SemiBold" pitchFamily="34" charset="0"/>
                <a:ea typeface="Bahnschrift SemiBold" pitchFamily="34" charset="-122"/>
                <a:cs typeface="Bahnschrift SemiBold" pitchFamily="34" charset="-120"/>
              </a:rPr>
              <a:t>Overview</a:t>
            </a:r>
            <a:endParaRPr lang="en-US" sz="2200" dirty="0"/>
          </a:p>
        </p:txBody>
      </p:sp>
      <p:sp>
        <p:nvSpPr>
          <p:cNvPr id="21" name="Text 19"/>
          <p:cNvSpPr txBox="1"/>
          <p:nvPr/>
        </p:nvSpPr>
        <p:spPr>
          <a:xfrm>
            <a:off x="14676120" y="6336792"/>
            <a:ext cx="2423160" cy="457200"/>
          </a:xfrm>
          <a:prstGeom prst="rect">
            <a:avLst/>
          </a:prstGeom>
          <a:noFill/>
          <a:ln/>
        </p:spPr>
        <p:txBody>
          <a:bodyPr wrap="square" lIns="0" tIns="0" rIns="0" bIns="0" rtlCol="0" anchor="ctr"/>
          <a:lstStyle/>
          <a:p>
            <a:pPr marL="0" indent="0" algn="r">
              <a:buNone/>
            </a:pPr>
            <a:r>
              <a:rPr lang="en-US" sz="1500" dirty="0">
                <a:solidFill>
                  <a:srgbClr val="B9C2D4"/>
                </a:solidFill>
                <a:latin typeface="Calibri" pitchFamily="34" charset="0"/>
                <a:ea typeface="Calibri" pitchFamily="34" charset="-122"/>
                <a:cs typeface="Calibri" pitchFamily="34" charset="-120"/>
              </a:rPr>
              <a:t>the gaps, ranked</a:t>
            </a:r>
            <a:endParaRPr lang="en-US" sz="1500" dirty="0"/>
          </a:p>
        </p:txBody>
      </p:sp>
      <p:sp>
        <p:nvSpPr>
          <p:cNvPr id="22" name="Shape 20"/>
          <p:cNvSpPr/>
          <p:nvPr/>
        </p:nvSpPr>
        <p:spPr>
          <a:xfrm>
            <a:off x="10881360" y="7159752"/>
            <a:ext cx="6217920" cy="0"/>
          </a:xfrm>
          <a:prstGeom prst="line">
            <a:avLst/>
          </a:prstGeom>
          <a:noFill/>
          <a:ln w="12700">
            <a:solidFill>
              <a:srgbClr val="44528A"/>
            </a:solidFill>
            <a:prstDash val="solid"/>
          </a:ln>
        </p:spPr>
        <p:txBody>
          <a:bodyPr/>
          <a:lstStyle/>
          <a:p>
            <a:endParaRPr lang="en-US"/>
          </a:p>
        </p:txBody>
      </p:sp>
      <p:sp>
        <p:nvSpPr>
          <p:cNvPr id="23" name="Text 21"/>
          <p:cNvSpPr txBox="1"/>
          <p:nvPr/>
        </p:nvSpPr>
        <p:spPr>
          <a:xfrm>
            <a:off x="10881360" y="7452360"/>
            <a:ext cx="1097280" cy="731520"/>
          </a:xfrm>
          <a:prstGeom prst="rect">
            <a:avLst/>
          </a:prstGeom>
          <a:noFill/>
          <a:ln/>
        </p:spPr>
        <p:txBody>
          <a:bodyPr wrap="square" lIns="0" tIns="0" rIns="0" bIns="0" rtlCol="0" anchor="ctr"/>
          <a:lstStyle/>
          <a:p>
            <a:pPr marL="0" indent="0">
              <a:buNone/>
            </a:pPr>
            <a:r>
              <a:rPr lang="en-US" sz="4000" dirty="0">
                <a:solidFill>
                  <a:srgbClr val="8E98AE"/>
                </a:solidFill>
                <a:latin typeface="Bahnschrift Light" pitchFamily="34" charset="0"/>
                <a:ea typeface="Bahnschrift Light" pitchFamily="34" charset="-122"/>
                <a:cs typeface="Bahnschrift Light" pitchFamily="34" charset="-120"/>
              </a:rPr>
              <a:t>05</a:t>
            </a:r>
            <a:endParaRPr lang="en-US" sz="4000" dirty="0"/>
          </a:p>
        </p:txBody>
      </p:sp>
      <p:sp>
        <p:nvSpPr>
          <p:cNvPr id="24" name="Text 22"/>
          <p:cNvSpPr txBox="1"/>
          <p:nvPr/>
        </p:nvSpPr>
        <p:spPr>
          <a:xfrm>
            <a:off x="11978640" y="7543800"/>
            <a:ext cx="2560320" cy="457200"/>
          </a:xfrm>
          <a:prstGeom prst="rect">
            <a:avLst/>
          </a:prstGeom>
          <a:noFill/>
          <a:ln/>
        </p:spPr>
        <p:txBody>
          <a:bodyPr wrap="square" lIns="0" tIns="0" rIns="0" bIns="0" rtlCol="0" anchor="ctr"/>
          <a:lstStyle/>
          <a:p>
            <a:pPr marL="0" indent="0">
              <a:buNone/>
            </a:pPr>
            <a:r>
              <a:rPr lang="en-US" sz="2200" dirty="0">
                <a:solidFill>
                  <a:srgbClr val="FFFFFF"/>
                </a:solidFill>
                <a:latin typeface="Bahnschrift SemiBold" pitchFamily="34" charset="0"/>
                <a:ea typeface="Bahnschrift SemiBold" pitchFamily="34" charset="-122"/>
                <a:cs typeface="Bahnschrift SemiBold" pitchFamily="34" charset="-120"/>
              </a:rPr>
              <a:t>Employee view</a:t>
            </a:r>
            <a:endParaRPr lang="en-US" sz="2200" dirty="0"/>
          </a:p>
        </p:txBody>
      </p:sp>
      <p:sp>
        <p:nvSpPr>
          <p:cNvPr id="25" name="Text 23"/>
          <p:cNvSpPr txBox="1"/>
          <p:nvPr/>
        </p:nvSpPr>
        <p:spPr>
          <a:xfrm>
            <a:off x="14676120" y="7616952"/>
            <a:ext cx="2423160" cy="457200"/>
          </a:xfrm>
          <a:prstGeom prst="rect">
            <a:avLst/>
          </a:prstGeom>
          <a:noFill/>
          <a:ln/>
        </p:spPr>
        <p:txBody>
          <a:bodyPr wrap="square" lIns="0" tIns="0" rIns="0" bIns="0" rtlCol="0" anchor="ctr"/>
          <a:lstStyle/>
          <a:p>
            <a:pPr marL="0" indent="0" algn="r">
              <a:buNone/>
            </a:pPr>
            <a:r>
              <a:rPr lang="en-US" sz="1500" dirty="0">
                <a:solidFill>
                  <a:srgbClr val="B9C2D4"/>
                </a:solidFill>
                <a:latin typeface="Calibri" pitchFamily="34" charset="0"/>
                <a:ea typeface="Calibri" pitchFamily="34" charset="-122"/>
                <a:cs typeface="Calibri" pitchFamily="34" charset="-120"/>
              </a:rPr>
              <a:t>how a person closes one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solidFill>
            <a:prstDash val="solid"/>
          </a:ln>
        </p:spPr>
        <p:txBody>
          <a:bodyPr/>
          <a:lstStyle/>
          <a:p>
            <a:endParaRPr lang="en-US"/>
          </a:p>
        </p:txBody>
      </p:sp>
      <p:sp>
        <p:nvSpPr>
          <p:cNvPr id="3" name="Text 1"/>
          <p:cNvSpPr txBox="1"/>
          <p:nvPr/>
        </p:nvSpPr>
        <p:spPr>
          <a:xfrm>
            <a:off x="1280160" y="914400"/>
            <a:ext cx="73152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QUESTIONS TO EXPECT</a:t>
            </a:r>
            <a:endParaRPr lang="en-US" sz="1300" dirty="0"/>
          </a:p>
        </p:txBody>
      </p:sp>
      <p:sp>
        <p:nvSpPr>
          <p:cNvPr id="4" name="Text 2"/>
          <p:cNvSpPr txBox="1"/>
          <p:nvPr/>
        </p:nvSpPr>
        <p:spPr>
          <a:xfrm>
            <a:off x="1280160" y="1325880"/>
            <a:ext cx="12801600" cy="1737360"/>
          </a:xfrm>
          <a:prstGeom prst="rect">
            <a:avLst/>
          </a:prstGeom>
          <a:noFill/>
          <a:ln/>
        </p:spPr>
        <p:txBody>
          <a:bodyPr wrap="square" lIns="0" tIns="0" rIns="0" bIns="0" rtlCol="0" anchor="ctr"/>
          <a:lstStyle/>
          <a:p>
            <a:pPr marL="0" indent="0">
              <a:lnSpc>
                <a:spcPct val="106000"/>
              </a:lnSpc>
              <a:buNone/>
            </a:pPr>
            <a:r>
              <a:rPr lang="en-US" sz="4200" dirty="0">
                <a:solidFill>
                  <a:srgbClr val="232E54"/>
                </a:solidFill>
                <a:latin typeface="Bahnschrift SemiBold" pitchFamily="34" charset="0"/>
                <a:ea typeface="Bahnschrift SemiBold" pitchFamily="34" charset="-122"/>
                <a:cs typeface="Bahnschrift SemiBold" pitchFamily="34" charset="-120"/>
              </a:rPr>
              <a:t>Ask me any of these.</a:t>
            </a:r>
            <a:endParaRPr lang="en-US" sz="4200" dirty="0"/>
          </a:p>
        </p:txBody>
      </p:sp>
      <p:sp>
        <p:nvSpPr>
          <p:cNvPr id="5" name="Text 3"/>
          <p:cNvSpPr txBox="1"/>
          <p:nvPr/>
        </p:nvSpPr>
        <p:spPr>
          <a:xfrm>
            <a:off x="1280160" y="35661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Are these real Schwan's numbers?</a:t>
            </a:r>
            <a:endParaRPr lang="en-US" sz="2000" dirty="0"/>
          </a:p>
        </p:txBody>
      </p:sp>
      <p:sp>
        <p:nvSpPr>
          <p:cNvPr id="6" name="Text 4"/>
          <p:cNvSpPr txBox="1"/>
          <p:nvPr/>
        </p:nvSpPr>
        <p:spPr>
          <a:xfrm>
            <a:off x="1280160" y="42062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No. Coverage and headcounts are demo data. Locations, job groups and the regulations are sourced.</a:t>
            </a:r>
            <a:endParaRPr lang="en-US" sz="1600" dirty="0"/>
          </a:p>
        </p:txBody>
      </p:sp>
      <p:sp>
        <p:nvSpPr>
          <p:cNvPr id="7" name="Shape 5"/>
          <p:cNvSpPr/>
          <p:nvPr/>
        </p:nvSpPr>
        <p:spPr>
          <a:xfrm>
            <a:off x="8595360" y="3429000"/>
            <a:ext cx="0" cy="1554480"/>
          </a:xfrm>
          <a:prstGeom prst="line">
            <a:avLst/>
          </a:prstGeom>
          <a:noFill/>
          <a:ln w="12700">
            <a:solidFill>
              <a:srgbClr val="D9D9D9"/>
            </a:solidFill>
            <a:prstDash val="solid"/>
          </a:ln>
        </p:spPr>
        <p:txBody>
          <a:bodyPr/>
          <a:lstStyle/>
          <a:p>
            <a:endParaRPr lang="en-US"/>
          </a:p>
        </p:txBody>
      </p:sp>
      <p:sp>
        <p:nvSpPr>
          <p:cNvPr id="8" name="Shape 6"/>
          <p:cNvSpPr/>
          <p:nvPr/>
        </p:nvSpPr>
        <p:spPr>
          <a:xfrm>
            <a:off x="1280160" y="5193792"/>
            <a:ext cx="6858000" cy="0"/>
          </a:xfrm>
          <a:prstGeom prst="line">
            <a:avLst/>
          </a:prstGeom>
          <a:noFill/>
          <a:ln w="12700">
            <a:solidFill>
              <a:srgbClr val="D9D9D9"/>
            </a:solidFill>
            <a:prstDash val="solid"/>
          </a:ln>
        </p:spPr>
        <p:txBody>
          <a:bodyPr/>
          <a:lstStyle/>
          <a:p>
            <a:endParaRPr lang="en-US"/>
          </a:p>
        </p:txBody>
      </p:sp>
      <p:sp>
        <p:nvSpPr>
          <p:cNvPr id="9" name="Text 7"/>
          <p:cNvSpPr txBox="1"/>
          <p:nvPr/>
        </p:nvSpPr>
        <p:spPr>
          <a:xfrm>
            <a:off x="9235440" y="35661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Where would this data really come from?</a:t>
            </a:r>
            <a:endParaRPr lang="en-US" sz="2000" dirty="0"/>
          </a:p>
        </p:txBody>
      </p:sp>
      <p:sp>
        <p:nvSpPr>
          <p:cNvPr id="10" name="Text 8"/>
          <p:cNvSpPr txBox="1"/>
          <p:nvPr/>
        </p:nvSpPr>
        <p:spPr>
          <a:xfrm>
            <a:off x="9235440" y="42062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Training and certification records, maintenance sign-offs, HR job codes. OSHA keeps the ammonia roster by law.</a:t>
            </a:r>
            <a:endParaRPr lang="en-US" sz="1600" dirty="0"/>
          </a:p>
        </p:txBody>
      </p:sp>
      <p:sp>
        <p:nvSpPr>
          <p:cNvPr id="11" name="Shape 9"/>
          <p:cNvSpPr/>
          <p:nvPr/>
        </p:nvSpPr>
        <p:spPr>
          <a:xfrm>
            <a:off x="9235440" y="5193792"/>
            <a:ext cx="6858000" cy="0"/>
          </a:xfrm>
          <a:prstGeom prst="line">
            <a:avLst/>
          </a:prstGeom>
          <a:noFill/>
          <a:ln w="12700">
            <a:solidFill>
              <a:srgbClr val="D9D9D9"/>
            </a:solidFill>
            <a:prstDash val="solid"/>
          </a:ln>
        </p:spPr>
        <p:txBody>
          <a:bodyPr/>
          <a:lstStyle/>
          <a:p>
            <a:endParaRPr lang="en-US"/>
          </a:p>
        </p:txBody>
      </p:sp>
      <p:sp>
        <p:nvSpPr>
          <p:cNvPr id="12" name="Text 10"/>
          <p:cNvSpPr txBox="1"/>
          <p:nvPr/>
        </p:nvSpPr>
        <p:spPr>
          <a:xfrm>
            <a:off x="1280160" y="53949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How is the ranking calculated?</a:t>
            </a:r>
            <a:endParaRPr lang="en-US" sz="2000" dirty="0"/>
          </a:p>
        </p:txBody>
      </p:sp>
      <p:sp>
        <p:nvSpPr>
          <p:cNvPr id="13" name="Text 11"/>
          <p:cNvSpPr txBox="1"/>
          <p:nvPr/>
        </p:nvSpPr>
        <p:spPr>
          <a:xfrm>
            <a:off x="1280160" y="60350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Impact out of five, times three over the number of holders, times the size of the gap. Shown on screen.</a:t>
            </a:r>
            <a:endParaRPr lang="en-US" sz="1600" dirty="0"/>
          </a:p>
        </p:txBody>
      </p:sp>
      <p:sp>
        <p:nvSpPr>
          <p:cNvPr id="14" name="Shape 12"/>
          <p:cNvSpPr/>
          <p:nvPr/>
        </p:nvSpPr>
        <p:spPr>
          <a:xfrm>
            <a:off x="8595360" y="5257800"/>
            <a:ext cx="0" cy="1554480"/>
          </a:xfrm>
          <a:prstGeom prst="line">
            <a:avLst/>
          </a:prstGeom>
          <a:noFill/>
          <a:ln w="12700">
            <a:solidFill>
              <a:srgbClr val="D9D9D9"/>
            </a:solidFill>
            <a:prstDash val="solid"/>
          </a:ln>
        </p:spPr>
        <p:txBody>
          <a:bodyPr/>
          <a:lstStyle/>
          <a:p>
            <a:endParaRPr lang="en-US"/>
          </a:p>
        </p:txBody>
      </p:sp>
      <p:sp>
        <p:nvSpPr>
          <p:cNvPr id="15" name="Shape 13"/>
          <p:cNvSpPr/>
          <p:nvPr/>
        </p:nvSpPr>
        <p:spPr>
          <a:xfrm>
            <a:off x="1280160" y="7022592"/>
            <a:ext cx="6858000" cy="0"/>
          </a:xfrm>
          <a:prstGeom prst="line">
            <a:avLst/>
          </a:prstGeom>
          <a:noFill/>
          <a:ln w="12700">
            <a:solidFill>
              <a:srgbClr val="D9D9D9"/>
            </a:solidFill>
            <a:prstDash val="solid"/>
          </a:ln>
        </p:spPr>
        <p:txBody>
          <a:bodyPr/>
          <a:lstStyle/>
          <a:p>
            <a:endParaRPr lang="en-US"/>
          </a:p>
        </p:txBody>
      </p:sp>
      <p:sp>
        <p:nvSpPr>
          <p:cNvPr id="16" name="Text 14"/>
          <p:cNvSpPr txBox="1"/>
          <p:nvPr/>
        </p:nvSpPr>
        <p:spPr>
          <a:xfrm>
            <a:off x="9235440" y="53949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Why is there no AI advisor?</a:t>
            </a:r>
            <a:endParaRPr lang="en-US" sz="2000" dirty="0"/>
          </a:p>
        </p:txBody>
      </p:sp>
      <p:sp>
        <p:nvSpPr>
          <p:cNvPr id="17" name="Text 15"/>
          <p:cNvSpPr txBox="1"/>
          <p:nvPr/>
        </p:nvSpPr>
        <p:spPr>
          <a:xfrm>
            <a:off x="9235440" y="60350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The prompt lists it as one option of seven. A chatbot over twenty seeded rows would have been a bluff.</a:t>
            </a:r>
            <a:endParaRPr lang="en-US" sz="1600" dirty="0"/>
          </a:p>
        </p:txBody>
      </p:sp>
      <p:sp>
        <p:nvSpPr>
          <p:cNvPr id="18" name="Shape 16"/>
          <p:cNvSpPr/>
          <p:nvPr/>
        </p:nvSpPr>
        <p:spPr>
          <a:xfrm>
            <a:off x="9235440" y="7022592"/>
            <a:ext cx="6858000" cy="0"/>
          </a:xfrm>
          <a:prstGeom prst="line">
            <a:avLst/>
          </a:prstGeom>
          <a:noFill/>
          <a:ln w="12700">
            <a:solidFill>
              <a:srgbClr val="D9D9D9"/>
            </a:solidFill>
            <a:prstDash val="solid"/>
          </a:ln>
        </p:spPr>
        <p:txBody>
          <a:bodyPr/>
          <a:lstStyle/>
          <a:p>
            <a:endParaRPr lang="en-US"/>
          </a:p>
        </p:txBody>
      </p:sp>
      <p:sp>
        <p:nvSpPr>
          <p:cNvPr id="19" name="Text 17"/>
          <p:cNvSpPr txBox="1"/>
          <p:nvPr/>
        </p:nvSpPr>
        <p:spPr>
          <a:xfrm>
            <a:off x="1280160" y="72237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Why only three employee profiles?</a:t>
            </a:r>
            <a:endParaRPr lang="en-US" sz="2000" dirty="0"/>
          </a:p>
        </p:txBody>
      </p:sp>
      <p:sp>
        <p:nvSpPr>
          <p:cNvPr id="20" name="Text 18"/>
          <p:cNvSpPr txBox="1"/>
          <p:nvPr/>
        </p:nvSpPr>
        <p:spPr>
          <a:xfrm>
            <a:off x="1280160" y="78638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They are samples. The view reads whatever roster it is given, and the plan state is shared with the manager.</a:t>
            </a:r>
            <a:endParaRPr lang="en-US" sz="1600" dirty="0"/>
          </a:p>
        </p:txBody>
      </p:sp>
      <p:sp>
        <p:nvSpPr>
          <p:cNvPr id="21" name="Shape 19"/>
          <p:cNvSpPr/>
          <p:nvPr/>
        </p:nvSpPr>
        <p:spPr>
          <a:xfrm>
            <a:off x="8595360" y="7086600"/>
            <a:ext cx="0" cy="1554480"/>
          </a:xfrm>
          <a:prstGeom prst="line">
            <a:avLst/>
          </a:prstGeom>
          <a:noFill/>
          <a:ln w="12700">
            <a:solidFill>
              <a:srgbClr val="D9D9D9"/>
            </a:solidFill>
            <a:prstDash val="solid"/>
          </a:ln>
        </p:spPr>
        <p:txBody>
          <a:bodyPr/>
          <a:lstStyle/>
          <a:p>
            <a:endParaRPr lang="en-US"/>
          </a:p>
        </p:txBody>
      </p:sp>
      <p:sp>
        <p:nvSpPr>
          <p:cNvPr id="22" name="Text 20"/>
          <p:cNvSpPr txBox="1"/>
          <p:nvPr/>
        </p:nvSpPr>
        <p:spPr>
          <a:xfrm>
            <a:off x="9235440" y="7223760"/>
            <a:ext cx="6858000" cy="594360"/>
          </a:xfrm>
          <a:prstGeom prst="rect">
            <a:avLst/>
          </a:prstGeom>
          <a:noFill/>
          <a:ln/>
        </p:spPr>
        <p:txBody>
          <a:bodyPr wrap="square" lIns="0" tIns="0" rIns="0" bIns="0" rtlCol="0" anchor="ctr"/>
          <a:lstStyle/>
          <a:p>
            <a:pPr marL="0" indent="0">
              <a:lnSpc>
                <a:spcPct val="112000"/>
              </a:lnSpc>
              <a:buNone/>
            </a:pPr>
            <a:r>
              <a:rPr lang="en-US" sz="2000" dirty="0">
                <a:solidFill>
                  <a:srgbClr val="232E54"/>
                </a:solidFill>
                <a:latin typeface="Bahnschrift SemiBold" pitchFamily="34" charset="0"/>
                <a:ea typeface="Bahnschrift SemiBold" pitchFamily="34" charset="-122"/>
                <a:cs typeface="Bahnschrift SemiBold" pitchFamily="34" charset="-120"/>
              </a:rPr>
              <a:t>What would you build next?</a:t>
            </a:r>
            <a:endParaRPr lang="en-US" sz="2000" dirty="0"/>
          </a:p>
        </p:txBody>
      </p:sp>
      <p:sp>
        <p:nvSpPr>
          <p:cNvPr id="23" name="Text 21"/>
          <p:cNvSpPr txBox="1"/>
          <p:nvPr/>
        </p:nvSpPr>
        <p:spPr>
          <a:xfrm>
            <a:off x="9235440" y="7863840"/>
            <a:ext cx="6858000" cy="86868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Live HR data, plans matched to people automatically, and a manager's view of one team rather than the company.</a:t>
            </a:r>
            <a:endParaRPr lang="en-US" sz="1600" dirty="0"/>
          </a:p>
        </p:txBody>
      </p:sp>
      <p:sp>
        <p:nvSpPr>
          <p:cNvPr id="24" name="Shape 22"/>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25" name="Text 23"/>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Q&amp;A.html in the repository has the full sheet</a:t>
            </a:r>
            <a:endParaRPr lang="en-US" sz="1400" dirty="0"/>
          </a:p>
        </p:txBody>
      </p:sp>
      <p:sp>
        <p:nvSpPr>
          <p:cNvPr id="26" name="Text 24"/>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FACTS.md lists every claim, its source, and what was cut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1460</Words>
  <Application>Microsoft Office PowerPoint</Application>
  <PresentationFormat>Custom</PresentationFormat>
  <Paragraphs>226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Bahnschrift Light</vt:lpstr>
      <vt:lpstr>Bahnschrift SemiBold</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SkillSight: the five questions</dc:title>
  <dc:subject>PptxGenJS Presentation</dc:subject>
  <dc:creator>Ajay Angdembe</dc:creator>
  <cp:lastModifiedBy>Mr Aj</cp:lastModifiedBy>
  <cp:revision>1</cp:revision>
  <dcterms:created xsi:type="dcterms:W3CDTF">2026-09-13T06:12:33Z</dcterms:created>
  <dcterms:modified xsi:type="dcterms:W3CDTF">2026-09-13T06:23:38Z</dcterms:modified>
</cp:coreProperties>
</file>