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Coverage</c:v>
                </c:pt>
              </c:strCache>
            </c:strRef>
          </c:tx>
          <c:spPr>
            <a:solidFill>
              <a:srgbClr val="8E2B30"/>
            </a:solidFill>
            <a:effectLst/>
          </c:spPr>
          <c:invertIfNegative val="0"/>
          <c:dLbls>
            <c:numFmt formatCode="0&quot;%&quot;" sourceLinked="0"/>
            <c:txPr>
              <a:bodyPr/>
              <a:lstStyle/>
              <a:p>
                <a:pPr>
                  <a:defRPr b="0" i="0" strike="noStrike" sz="1200" u="none">
                    <a:solidFill>
                      <a:srgbClr val="15181D"/>
                    </a:solidFill>
                    <a:latin typeface="Calibri"/>
                  </a:defRPr>
                </a:pPr>
              </a:p>
            </c:txPr>
            <c:showLegendKey val="0"/>
            <c:showVal val="1"/>
            <c:showCatName val="0"/>
            <c:showSerName val="0"/>
            <c:showPercent val="0"/>
            <c:showBubbleSize val="0"/>
            <c:showLeaderLines val="0"/>
          </c:dLbls>
          <c:cat>
            <c:multiLvlStrRef>
              <c:f>Sheet1!$A$2:$A$8</c:f>
              <c:multiLvlStrCache>
                <c:ptCount val="7"/>
                <c:lvl>
                  <c:pt idx="0">
                    <c:v>Pizza line configuration</c:v>
                  </c:pt>
                  <c:pt idx="1">
                    <c:v>R&amp;D / food science</c:v>
                  </c:pt>
                  <c:pt idx="2">
                    <c:v>Legal / compliance</c:v>
                  </c:pt>
                  <c:pt idx="3">
                    <c:v>Refrigeration &amp; ammonia</c:v>
                  </c:pt>
                  <c:pt idx="4">
                    <c:v>Menu / culinary consulting</c:v>
                  </c:pt>
                  <c:pt idx="5">
                    <c:v>PLC / automation</c:v>
                  </c:pt>
                  <c:pt idx="6">
                    <c:v>Lean / Six Sigma</c:v>
                  </c:pt>
                </c:lvl>
              </c:multiLvlStrCache>
            </c:multiLvlStrRef>
          </c:cat>
          <c:val>
            <c:numRef>
              <c:f>Sheet1!$B$2:$B$8</c:f>
              <c:numCache>
                <c:formatCode>General</c:formatCode>
                <c:ptCount val="7"/>
                <c:pt idx="0">
                  <c:v>12</c:v>
                </c:pt>
                <c:pt idx="1">
                  <c:v>18</c:v>
                </c:pt>
                <c:pt idx="2">
                  <c:v>20</c:v>
                </c:pt>
                <c:pt idx="3">
                  <c:v>22</c:v>
                </c:pt>
                <c:pt idx="4">
                  <c:v>29</c:v>
                </c:pt>
                <c:pt idx="5">
                  <c:v>34</c:v>
                </c:pt>
                <c:pt idx="6">
                  <c:v>38</c:v>
                </c:pt>
              </c:numCache>
            </c:numRef>
          </c:val>
        </c:ser>
        <c:dLbls>
          <c:numFmt formatCode="0&quot;%&quot;" sourceLinked="0"/>
          <c:txPr>
            <a:bodyPr/>
            <a:lstStyle/>
            <a:p>
              <a:pPr>
                <a:defRPr b="0" i="0" strike="noStrike" sz="1200" u="none">
                  <a:solidFill>
                    <a:srgbClr val="15181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5181D"/>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C4574B"/>
            </a:solidFill>
            <a:effectLst/>
          </c:spPr>
          <c:invertIfNegative val="0"/>
          <c:dLbls>
            <c:numFmt formatCode="0&quot;%&quot;" sourceLinked="0"/>
            <c:txPr>
              <a:bodyPr/>
              <a:lstStyle/>
              <a:p>
                <a:pPr>
                  <a:defRPr b="0" i="0" strike="noStrike" sz="1100" u="none">
                    <a:solidFill>
                      <a:srgbClr val="15181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PLC / automation</c:v>
                  </c:pt>
                  <c:pt idx="1">
                    <c:v>Data analytics</c:v>
                  </c:pt>
                  <c:pt idx="2">
                    <c:v>Refrigeration</c:v>
                  </c:pt>
                  <c:pt idx="3">
                    <c:v>Legal / compliance</c:v>
                  </c:pt>
                  <c:pt idx="4">
                    <c:v>Culinary consulting</c:v>
                  </c:pt>
                </c:lvl>
              </c:multiLvlStrCache>
            </c:multiLvlStrRef>
          </c:cat>
          <c:val>
            <c:numRef>
              <c:f>Sheet1!$B$2:$B$6</c:f>
              <c:numCache>
                <c:formatCode>General</c:formatCode>
                <c:ptCount val="5"/>
                <c:pt idx="0">
                  <c:v>34</c:v>
                </c:pt>
                <c:pt idx="1">
                  <c:v>41</c:v>
                </c:pt>
                <c:pt idx="2">
                  <c:v>22</c:v>
                </c:pt>
                <c:pt idx="3">
                  <c:v>20</c:v>
                </c:pt>
                <c:pt idx="4">
                  <c:v>29</c:v>
                </c:pt>
              </c:numCache>
            </c:numRef>
          </c:val>
        </c:ser>
        <c:ser>
          <c:idx val="1"/>
          <c:order val="1"/>
          <c:tx>
            <c:strRef>
              <c:f>Sheet1!$C$1</c:f>
              <c:strCache>
                <c:ptCount val="1"/>
                <c:pt idx="0">
                  <c:v>Needed by 2027</c:v>
                </c:pt>
              </c:strCache>
            </c:strRef>
          </c:tx>
          <c:spPr>
            <a:solidFill>
              <a:srgbClr val="8E2B30"/>
            </a:solidFill>
            <a:effectLst/>
          </c:spPr>
          <c:invertIfNegative val="0"/>
          <c:dLbls>
            <c:numFmt formatCode="0&quot;%&quot;" sourceLinked="0"/>
            <c:txPr>
              <a:bodyPr/>
              <a:lstStyle/>
              <a:p>
                <a:pPr>
                  <a:defRPr b="0" i="0" strike="noStrike" sz="1100" u="none">
                    <a:solidFill>
                      <a:srgbClr val="15181D"/>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PLC / automation</c:v>
                  </c:pt>
                  <c:pt idx="1">
                    <c:v>Data analytics</c:v>
                  </c:pt>
                  <c:pt idx="2">
                    <c:v>Refrigeration</c:v>
                  </c:pt>
                  <c:pt idx="3">
                    <c:v>Legal / compliance</c:v>
                  </c:pt>
                  <c:pt idx="4">
                    <c:v>Culinary consulting</c:v>
                  </c:pt>
                </c:lvl>
              </c:multiLvlStrCache>
            </c:multiLvlStrRef>
          </c:cat>
          <c:val>
            <c:numRef>
              <c:f>Sheet1!$C$2:$C$6</c:f>
              <c:numCache>
                <c:formatCode>General</c:formatCode>
                <c:ptCount val="5"/>
                <c:pt idx="0">
                  <c:v>65</c:v>
                </c:pt>
                <c:pt idx="1">
                  <c:v>70</c:v>
                </c:pt>
                <c:pt idx="2">
                  <c:v>50</c:v>
                </c:pt>
                <c:pt idx="3">
                  <c:v>55</c:v>
                </c:pt>
                <c:pt idx="4">
                  <c:v>55</c:v>
                </c:pt>
              </c:numCache>
            </c:numRef>
          </c:val>
        </c:ser>
        <c:dLbls>
          <c:numFmt formatCode="0&quot;%&quot;" sourceLinked="0"/>
          <c:txPr>
            <a:bodyPr/>
            <a:lstStyle/>
            <a:p>
              <a:pPr>
                <a:defRPr b="0" i="0" strike="noStrike" sz="1100" u="none">
                  <a:solidFill>
                    <a:srgbClr val="15181D"/>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5181D"/>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SkillSight. A tool that shows what skills Schwan's has, where they are missing, and where one person leaving stops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a dozen US plants, four job groups, and a new plant opening in 2027. What the company does not have is one place that shows what its people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per page. No dashboard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skills sit under 40 percent coverage. Pizza line configuration is the worst at 12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skills, held by three people or fewer. One of them by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dashboards show numbers and stop. This one ranks them. That is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Sioux Falls, 700,000 square feet of Asian-style food production, needs automation techs before it opens in 2027. We are at 34 percent and need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HTML, CSS and JavaScript. Open index.html and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D"/>
        </a:solidFill>
      </p:bgPr>
    </p:bg>
    <p:spTree>
      <p:nvGrpSpPr>
        <p:cNvPr id="1" name=""/>
        <p:cNvGrpSpPr/>
        <p:nvPr/>
      </p:nvGrpSpPr>
      <p:grpSpPr>
        <a:xfrm>
          <a:off x="0" y="0"/>
          <a:ext cx="0" cy="0"/>
          <a:chOff x="0" y="0"/>
          <a:chExt cx="0" cy="0"/>
        </a:xfrm>
      </p:grpSpPr>
      <p:sp>
        <p:nvSpPr>
          <p:cNvPr id="2" name="Shape 0"/>
          <p:cNvSpPr/>
          <p:nvPr/>
        </p:nvSpPr>
        <p:spPr>
          <a:xfrm>
            <a:off x="685800" y="2148840"/>
            <a:ext cx="475488" cy="475488"/>
          </a:xfrm>
          <a:prstGeom prst="roundRect">
            <a:avLst>
              <a:gd name="adj" fmla="val 23077"/>
            </a:avLst>
          </a:prstGeom>
          <a:solidFill>
            <a:srgbClr val="8E2B30"/>
          </a:solidFill>
          <a:ln/>
        </p:spPr>
      </p:sp>
      <p:sp>
        <p:nvSpPr>
          <p:cNvPr id="3" name="Text 1"/>
          <p:cNvSpPr txBox="1"/>
          <p:nvPr/>
        </p:nvSpPr>
        <p:spPr>
          <a:xfrm>
            <a:off x="1344168" y="2057400"/>
            <a:ext cx="7315200" cy="73152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SkillSight</a:t>
            </a:r>
            <a:endParaRPr lang="en-US" sz="4600" dirty="0"/>
          </a:p>
        </p:txBody>
      </p:sp>
      <p:sp>
        <p:nvSpPr>
          <p:cNvPr id="4" name="Text 2"/>
          <p:cNvSpPr txBox="1"/>
          <p:nvPr/>
        </p:nvSpPr>
        <p:spPr>
          <a:xfrm>
            <a:off x="685800" y="3063240"/>
            <a:ext cx="8595360" cy="1005840"/>
          </a:xfrm>
          <a:prstGeom prst="rect">
            <a:avLst/>
          </a:prstGeom>
          <a:noFill/>
          <a:ln/>
        </p:spPr>
        <p:txBody>
          <a:bodyPr wrap="square" lIns="0" tIns="0" rIns="0" bIns="0" rtlCol="0" anchor="ctr"/>
          <a:lstStyle/>
          <a:p>
            <a:pPr indent="0" marL="0">
              <a:lnSpc>
                <a:spcPct val="125000"/>
              </a:lnSpc>
              <a:buNone/>
            </a:pPr>
            <a:r>
              <a:rPr lang="en-US" sz="1900" dirty="0">
                <a:solidFill>
                  <a:srgbClr val="C9CDD3"/>
                </a:solidFill>
                <a:latin typeface="Calibri" pitchFamily="34" charset="0"/>
                <a:ea typeface="Calibri" pitchFamily="34" charset="-122"/>
                <a:cs typeface="Calibri" pitchFamily="34" charset="-120"/>
              </a:rPr>
              <a:t>Shows what skills Schwan's employees have, where skills are missing,</a:t>
            </a:r>
            <a:endParaRPr lang="en-US" sz="1900" dirty="0"/>
          </a:p>
          <a:p>
            <a:pPr indent="0" marL="0">
              <a:lnSpc>
                <a:spcPct val="125000"/>
              </a:lnSpc>
              <a:buNone/>
            </a:pPr>
            <a:r>
              <a:rPr lang="en-US" sz="1900" dirty="0">
                <a:solidFill>
                  <a:srgbClr val="C9CDD3"/>
                </a:solidFill>
                <a:latin typeface="Calibri" pitchFamily="34" charset="0"/>
                <a:ea typeface="Calibri" pitchFamily="34" charset="-122"/>
                <a:cs typeface="Calibri" pitchFamily="34" charset="-120"/>
              </a:rPr>
              <a:t>and where a critical skill is known by too few people.</a:t>
            </a:r>
            <a:endParaRPr lang="en-US" sz="1900" dirty="0"/>
          </a:p>
        </p:txBody>
      </p:sp>
      <p:sp>
        <p:nvSpPr>
          <p:cNvPr id="5" name="Text 3"/>
          <p:cNvSpPr txBox="1"/>
          <p:nvPr/>
        </p:nvSpPr>
        <p:spPr>
          <a:xfrm>
            <a:off x="685800" y="5760720"/>
            <a:ext cx="9144000" cy="365760"/>
          </a:xfrm>
          <a:prstGeom prst="rect">
            <a:avLst/>
          </a:prstGeom>
          <a:noFill/>
          <a:ln/>
        </p:spPr>
        <p:txBody>
          <a:bodyPr wrap="square" lIns="0" tIns="0" rIns="0" bIns="0" rtlCol="0" anchor="ctr"/>
          <a:lstStyle/>
          <a:p>
            <a:pPr indent="0" marL="0">
              <a:buNone/>
            </a:pPr>
            <a:r>
              <a:rPr lang="en-US" sz="1300" dirty="0">
                <a:solidFill>
                  <a:srgbClr val="8B939E"/>
                </a:solidFill>
                <a:latin typeface="Calibri" pitchFamily="34" charset="0"/>
                <a:ea typeface="Calibri" pitchFamily="34" charset="-122"/>
                <a:cs typeface="Calibri" pitchFamily="34" charset="-120"/>
              </a:rPr>
              <a:t>Southwest MN Hacks 2026  ·  Schwan's Prompt 01  ·  Ajay Angdembe, solo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The problem</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Skills data sits in different places, so nobody can answer a simple question.</a:t>
            </a:r>
            <a:endParaRPr lang="en-US" sz="1500" dirty="0"/>
          </a:p>
        </p:txBody>
      </p:sp>
      <p:sp>
        <p:nvSpPr>
          <p:cNvPr id="4" name="Text 2"/>
          <p:cNvSpPr txBox="1"/>
          <p:nvPr/>
        </p:nvSpPr>
        <p:spPr>
          <a:xfrm>
            <a:off x="685800" y="1828800"/>
            <a:ext cx="6949440" cy="1188720"/>
          </a:xfrm>
          <a:prstGeom prst="rect">
            <a:avLst/>
          </a:prstGeom>
          <a:noFill/>
          <a:ln/>
        </p:spPr>
        <p:txBody>
          <a:bodyPr wrap="square" lIns="0" tIns="0" rIns="0" bIns="0" rtlCol="0" anchor="ctr"/>
          <a:lstStyle/>
          <a:p>
            <a:pPr indent="0" marL="0">
              <a:lnSpc>
                <a:spcPct val="120000"/>
              </a:lnSpc>
              <a:buNone/>
            </a:pPr>
            <a:r>
              <a:rPr lang="en-US" sz="2600" i="1" dirty="0">
                <a:solidFill>
                  <a:srgbClr val="8E2B30"/>
                </a:solidFill>
                <a:latin typeface="Cambria" pitchFamily="34" charset="0"/>
                <a:ea typeface="Cambria" pitchFamily="34" charset="-122"/>
                <a:cs typeface="Cambria" pitchFamily="34" charset="-120"/>
              </a:rPr>
              <a:t>“If the person who knows the ammonia system leaves,</a:t>
            </a:r>
            <a:endParaRPr lang="en-US" sz="2600" dirty="0"/>
          </a:p>
          <a:p>
            <a:pPr indent="0" marL="0">
              <a:lnSpc>
                <a:spcPct val="120000"/>
              </a:lnSpc>
              <a:buNone/>
            </a:pPr>
            <a:r>
              <a:rPr lang="en-US" sz="2600" i="1" dirty="0">
                <a:solidFill>
                  <a:srgbClr val="8E2B30"/>
                </a:solidFill>
                <a:latin typeface="Cambria" pitchFamily="34" charset="0"/>
                <a:ea typeface="Cambria" pitchFamily="34" charset="-122"/>
                <a:cs typeface="Cambria" pitchFamily="34" charset="-120"/>
              </a:rPr>
              <a:t>who else can do it?”</a:t>
            </a:r>
            <a:endParaRPr lang="en-US" sz="2600" dirty="0"/>
          </a:p>
        </p:txBody>
      </p:sp>
      <p:sp>
        <p:nvSpPr>
          <p:cNvPr id="5" name="Text 3"/>
          <p:cNvSpPr txBox="1"/>
          <p:nvPr/>
        </p:nvSpPr>
        <p:spPr>
          <a:xfrm>
            <a:off x="685800" y="3154680"/>
            <a:ext cx="6766560" cy="45720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Today that answer takes phone calls to three plants. It should take one click.</a:t>
            </a:r>
            <a:endParaRPr lang="en-US" sz="1500" dirty="0"/>
          </a:p>
        </p:txBody>
      </p:sp>
      <p:sp>
        <p:nvSpPr>
          <p:cNvPr id="6" name="Text 4"/>
          <p:cNvSpPr txBox="1"/>
          <p:nvPr/>
        </p:nvSpPr>
        <p:spPr>
          <a:xfrm>
            <a:off x="685800" y="5989320"/>
            <a:ext cx="10515600" cy="36576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Facility count and job groups from Schwan's own careers site. Deloitte and The Manufacturing Institute put the wider skills gap at 2.1 million unfilled jobs by 2030. Every source is listed in the app and in FACTS.md.</a:t>
            </a:r>
            <a:endParaRPr lang="en-US" sz="1100" dirty="0"/>
          </a:p>
        </p:txBody>
      </p:sp>
      <p:sp>
        <p:nvSpPr>
          <p:cNvPr id="7" name="Text 5"/>
          <p:cNvSpPr txBox="1"/>
          <p:nvPr/>
        </p:nvSpPr>
        <p:spPr>
          <a:xfrm>
            <a:off x="685800" y="4160520"/>
            <a:ext cx="2468880" cy="822960"/>
          </a:xfrm>
          <a:prstGeom prst="rect">
            <a:avLst/>
          </a:prstGeom>
          <a:noFill/>
          <a:ln/>
        </p:spPr>
        <p:txBody>
          <a:bodyPr wrap="square" lIns="0" tIns="0" rIns="0" bIns="0" rtlCol="0" anchor="ctr"/>
          <a:lstStyle/>
          <a:p>
            <a:pPr indent="0" marL="0">
              <a:buNone/>
            </a:pPr>
            <a:r>
              <a:rPr lang="en-US" sz="5200" b="1" dirty="0">
                <a:solidFill>
                  <a:srgbClr val="15181D"/>
                </a:solidFill>
                <a:latin typeface="Cambria" pitchFamily="34" charset="0"/>
                <a:ea typeface="Cambria" pitchFamily="34" charset="-122"/>
                <a:cs typeface="Cambria" pitchFamily="34" charset="-120"/>
              </a:rPr>
              <a:t>12+</a:t>
            </a:r>
            <a:endParaRPr lang="en-US" sz="5200" dirty="0"/>
          </a:p>
        </p:txBody>
      </p:sp>
      <p:sp>
        <p:nvSpPr>
          <p:cNvPr id="8" name="Text 6"/>
          <p:cNvSpPr txBox="1"/>
          <p:nvPr/>
        </p:nvSpPr>
        <p:spPr>
          <a:xfrm>
            <a:off x="685800" y="5029200"/>
            <a:ext cx="246888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US facilities</a:t>
            </a:r>
            <a:endParaRPr lang="en-US" sz="1400" dirty="0"/>
          </a:p>
        </p:txBody>
      </p:sp>
      <p:sp>
        <p:nvSpPr>
          <p:cNvPr id="9" name="Text 7"/>
          <p:cNvSpPr txBox="1"/>
          <p:nvPr/>
        </p:nvSpPr>
        <p:spPr>
          <a:xfrm>
            <a:off x="3429000" y="4160520"/>
            <a:ext cx="2468880" cy="822960"/>
          </a:xfrm>
          <a:prstGeom prst="rect">
            <a:avLst/>
          </a:prstGeom>
          <a:noFill/>
          <a:ln/>
        </p:spPr>
        <p:txBody>
          <a:bodyPr wrap="square" lIns="0" tIns="0" rIns="0" bIns="0" rtlCol="0" anchor="ctr"/>
          <a:lstStyle/>
          <a:p>
            <a:pPr indent="0" marL="0">
              <a:buNone/>
            </a:pPr>
            <a:r>
              <a:rPr lang="en-US" sz="5200" b="1" dirty="0">
                <a:solidFill>
                  <a:srgbClr val="15181D"/>
                </a:solidFill>
                <a:latin typeface="Cambria" pitchFamily="34" charset="0"/>
                <a:ea typeface="Cambria" pitchFamily="34" charset="-122"/>
                <a:cs typeface="Cambria" pitchFamily="34" charset="-120"/>
              </a:rPr>
              <a:t>4</a:t>
            </a:r>
            <a:endParaRPr lang="en-US" sz="5200" dirty="0"/>
          </a:p>
        </p:txBody>
      </p:sp>
      <p:sp>
        <p:nvSpPr>
          <p:cNvPr id="10" name="Text 8"/>
          <p:cNvSpPr txBox="1"/>
          <p:nvPr/>
        </p:nvSpPr>
        <p:spPr>
          <a:xfrm>
            <a:off x="3429000" y="5029200"/>
            <a:ext cx="246888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job groups</a:t>
            </a:r>
            <a:endParaRPr lang="en-US" sz="1400" dirty="0"/>
          </a:p>
        </p:txBody>
      </p:sp>
      <p:sp>
        <p:nvSpPr>
          <p:cNvPr id="11" name="Text 9"/>
          <p:cNvSpPr txBox="1"/>
          <p:nvPr/>
        </p:nvSpPr>
        <p:spPr>
          <a:xfrm>
            <a:off x="6172200" y="4160520"/>
            <a:ext cx="2468880" cy="822960"/>
          </a:xfrm>
          <a:prstGeom prst="rect">
            <a:avLst/>
          </a:prstGeom>
          <a:noFill/>
          <a:ln/>
        </p:spPr>
        <p:txBody>
          <a:bodyPr wrap="square" lIns="0" tIns="0" rIns="0" bIns="0" rtlCol="0" anchor="ctr"/>
          <a:lstStyle/>
          <a:p>
            <a:pPr indent="0" marL="0">
              <a:buNone/>
            </a:pPr>
            <a:r>
              <a:rPr lang="en-US" sz="5200" b="1" dirty="0">
                <a:solidFill>
                  <a:srgbClr val="15181D"/>
                </a:solidFill>
                <a:latin typeface="Cambria" pitchFamily="34" charset="0"/>
                <a:ea typeface="Cambria" pitchFamily="34" charset="-122"/>
                <a:cs typeface="Cambria" pitchFamily="34" charset="-120"/>
              </a:rPr>
              <a:t>2027</a:t>
            </a:r>
            <a:endParaRPr lang="en-US" sz="5200" dirty="0"/>
          </a:p>
        </p:txBody>
      </p:sp>
      <p:sp>
        <p:nvSpPr>
          <p:cNvPr id="12" name="Text 10"/>
          <p:cNvSpPr txBox="1"/>
          <p:nvPr/>
        </p:nvSpPr>
        <p:spPr>
          <a:xfrm>
            <a:off x="6172200" y="5029200"/>
            <a:ext cx="246888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Sioux Falls opens</a:t>
            </a:r>
            <a:endParaRPr lang="en-US" sz="1400" dirty="0"/>
          </a:p>
        </p:txBody>
      </p:sp>
      <p:sp>
        <p:nvSpPr>
          <p:cNvPr id="13" name="Text 11"/>
          <p:cNvSpPr txBox="1"/>
          <p:nvPr/>
        </p:nvSpPr>
        <p:spPr>
          <a:xfrm>
            <a:off x="8915400" y="4160520"/>
            <a:ext cx="2468880" cy="822960"/>
          </a:xfrm>
          <a:prstGeom prst="rect">
            <a:avLst/>
          </a:prstGeom>
          <a:noFill/>
          <a:ln/>
        </p:spPr>
        <p:txBody>
          <a:bodyPr wrap="square" lIns="0" tIns="0" rIns="0" bIns="0" rtlCol="0" anchor="ctr"/>
          <a:lstStyle/>
          <a:p>
            <a:pPr indent="0" marL="0">
              <a:buNone/>
            </a:pPr>
            <a:r>
              <a:rPr lang="en-US" sz="5200" b="1" dirty="0">
                <a:solidFill>
                  <a:srgbClr val="8E2B30"/>
                </a:solidFill>
                <a:latin typeface="Cambria" pitchFamily="34" charset="0"/>
                <a:ea typeface="Cambria" pitchFamily="34" charset="-122"/>
                <a:cs typeface="Cambria" pitchFamily="34" charset="-120"/>
              </a:rPr>
              <a:t>0</a:t>
            </a:r>
            <a:endParaRPr lang="en-US" sz="5200" dirty="0"/>
          </a:p>
        </p:txBody>
      </p:sp>
      <p:sp>
        <p:nvSpPr>
          <p:cNvPr id="14" name="Text 12"/>
          <p:cNvSpPr txBox="1"/>
          <p:nvPr/>
        </p:nvSpPr>
        <p:spPr>
          <a:xfrm>
            <a:off x="8915400" y="5029200"/>
            <a:ext cx="246888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single view of skills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What it does</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The five questions from the challenge, one page each, plus the employee's own view.</a:t>
            </a:r>
            <a:endParaRPr lang="en-US" sz="1500" dirty="0"/>
          </a:p>
        </p:txBody>
      </p:sp>
      <p:sp>
        <p:nvSpPr>
          <p:cNvPr id="4" name="Shape 2"/>
          <p:cNvSpPr/>
          <p:nvPr/>
        </p:nvSpPr>
        <p:spPr>
          <a:xfrm>
            <a:off x="685800" y="1837944"/>
            <a:ext cx="384048" cy="384048"/>
          </a:xfrm>
          <a:prstGeom prst="ellipse">
            <a:avLst/>
          </a:prstGeom>
          <a:solidFill>
            <a:srgbClr val="8E2B30"/>
          </a:solidFill>
          <a:ln/>
        </p:spPr>
      </p:sp>
      <p:sp>
        <p:nvSpPr>
          <p:cNvPr id="5" name="Text 3"/>
          <p:cNvSpPr txBox="1"/>
          <p:nvPr/>
        </p:nvSpPr>
        <p:spPr>
          <a:xfrm>
            <a:off x="685800" y="1837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783080"/>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Overview</a:t>
            </a:r>
            <a:endParaRPr lang="en-US" sz="1700" dirty="0"/>
          </a:p>
        </p:txBody>
      </p:sp>
      <p:sp>
        <p:nvSpPr>
          <p:cNvPr id="7" name="Text 5"/>
          <p:cNvSpPr txBox="1"/>
          <p:nvPr/>
        </p:nvSpPr>
        <p:spPr>
          <a:xfrm>
            <a:off x="4251960" y="1801368"/>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A ranked list of what to fix first, plus where coverage is lowest.</a:t>
            </a:r>
            <a:endParaRPr lang="en-US" sz="1450" dirty="0"/>
          </a:p>
        </p:txBody>
      </p:sp>
      <p:sp>
        <p:nvSpPr>
          <p:cNvPr id="8" name="Shape 6"/>
          <p:cNvSpPr/>
          <p:nvPr/>
        </p:nvSpPr>
        <p:spPr>
          <a:xfrm>
            <a:off x="685800" y="2606040"/>
            <a:ext cx="384048" cy="384048"/>
          </a:xfrm>
          <a:prstGeom prst="ellipse">
            <a:avLst/>
          </a:prstGeom>
          <a:solidFill>
            <a:srgbClr val="8E2B30"/>
          </a:solidFill>
          <a:ln/>
        </p:spPr>
      </p:sp>
      <p:sp>
        <p:nvSpPr>
          <p:cNvPr id="9" name="Text 7"/>
          <p:cNvSpPr txBox="1"/>
          <p:nvPr/>
        </p:nvSpPr>
        <p:spPr>
          <a:xfrm>
            <a:off x="685800" y="26060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2551176"/>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Skills</a:t>
            </a:r>
            <a:endParaRPr lang="en-US" sz="1700" dirty="0"/>
          </a:p>
        </p:txBody>
      </p:sp>
      <p:sp>
        <p:nvSpPr>
          <p:cNvPr id="11" name="Text 9"/>
          <p:cNvSpPr txBox="1"/>
          <p:nvPr/>
        </p:nvSpPr>
        <p:spPr>
          <a:xfrm>
            <a:off x="4251960" y="2569464"/>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Every skill in the workforce and how well each one is covered.</a:t>
            </a:r>
            <a:endParaRPr lang="en-US" sz="1450" dirty="0"/>
          </a:p>
        </p:txBody>
      </p:sp>
      <p:sp>
        <p:nvSpPr>
          <p:cNvPr id="12" name="Shape 10"/>
          <p:cNvSpPr/>
          <p:nvPr/>
        </p:nvSpPr>
        <p:spPr>
          <a:xfrm>
            <a:off x="685800" y="3374136"/>
            <a:ext cx="384048" cy="384048"/>
          </a:xfrm>
          <a:prstGeom prst="ellipse">
            <a:avLst/>
          </a:prstGeom>
          <a:solidFill>
            <a:srgbClr val="8E2B30"/>
          </a:solidFill>
          <a:ln/>
        </p:spPr>
      </p:sp>
      <p:sp>
        <p:nvSpPr>
          <p:cNvPr id="13" name="Text 11"/>
          <p:cNvSpPr txBox="1"/>
          <p:nvPr/>
        </p:nvSpPr>
        <p:spPr>
          <a:xfrm>
            <a:off x="685800" y="33741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3319272"/>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Succession risk</a:t>
            </a:r>
            <a:endParaRPr lang="en-US" sz="1700" dirty="0"/>
          </a:p>
        </p:txBody>
      </p:sp>
      <p:sp>
        <p:nvSpPr>
          <p:cNvPr id="15" name="Text 13"/>
          <p:cNvSpPr txBox="1"/>
          <p:nvPr/>
        </p:nvSpPr>
        <p:spPr>
          <a:xfrm>
            <a:off x="4251960" y="3337560"/>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Skills held by three people or fewer, where they are, and what it costs if they leave.</a:t>
            </a:r>
            <a:endParaRPr lang="en-US" sz="1450" dirty="0"/>
          </a:p>
        </p:txBody>
      </p:sp>
      <p:sp>
        <p:nvSpPr>
          <p:cNvPr id="16" name="Shape 14"/>
          <p:cNvSpPr/>
          <p:nvPr/>
        </p:nvSpPr>
        <p:spPr>
          <a:xfrm>
            <a:off x="685800" y="4142232"/>
            <a:ext cx="384048" cy="384048"/>
          </a:xfrm>
          <a:prstGeom prst="ellipse">
            <a:avLst/>
          </a:prstGeom>
          <a:solidFill>
            <a:srgbClr val="8E2B30"/>
          </a:solidFill>
          <a:ln/>
        </p:spPr>
      </p:sp>
      <p:sp>
        <p:nvSpPr>
          <p:cNvPr id="17" name="Text 15"/>
          <p:cNvSpPr txBox="1"/>
          <p:nvPr/>
        </p:nvSpPr>
        <p:spPr>
          <a:xfrm>
            <a:off x="685800" y="41422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1325880" y="4087368"/>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Future skills</a:t>
            </a:r>
            <a:endParaRPr lang="en-US" sz="1700" dirty="0"/>
          </a:p>
        </p:txBody>
      </p:sp>
      <p:sp>
        <p:nvSpPr>
          <p:cNvPr id="19" name="Text 17"/>
          <p:cNvSpPr txBox="1"/>
          <p:nvPr/>
        </p:nvSpPr>
        <p:spPr>
          <a:xfrm>
            <a:off x="4251960" y="4105656"/>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What the next two years need, and how far short we are now.</a:t>
            </a:r>
            <a:endParaRPr lang="en-US" sz="1450" dirty="0"/>
          </a:p>
        </p:txBody>
      </p:sp>
      <p:sp>
        <p:nvSpPr>
          <p:cNvPr id="20" name="Shape 18"/>
          <p:cNvSpPr/>
          <p:nvPr/>
        </p:nvSpPr>
        <p:spPr>
          <a:xfrm>
            <a:off x="685800" y="4910328"/>
            <a:ext cx="384048" cy="384048"/>
          </a:xfrm>
          <a:prstGeom prst="ellipse">
            <a:avLst/>
          </a:prstGeom>
          <a:solidFill>
            <a:srgbClr val="8E2B30"/>
          </a:solidFill>
          <a:ln/>
        </p:spPr>
      </p:sp>
      <p:sp>
        <p:nvSpPr>
          <p:cNvPr id="21" name="Text 19"/>
          <p:cNvSpPr txBox="1"/>
          <p:nvPr/>
        </p:nvSpPr>
        <p:spPr>
          <a:xfrm>
            <a:off x="685800" y="49103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325880" y="4855464"/>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Employee view</a:t>
            </a:r>
            <a:endParaRPr lang="en-US" sz="1700" dirty="0"/>
          </a:p>
        </p:txBody>
      </p:sp>
      <p:sp>
        <p:nvSpPr>
          <p:cNvPr id="23" name="Text 21"/>
          <p:cNvSpPr txBox="1"/>
          <p:nvPr/>
        </p:nvSpPr>
        <p:spPr>
          <a:xfrm>
            <a:off x="4251960" y="4873752"/>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The same data seen by the person: what you know, what only you know, and your next step.</a:t>
            </a:r>
            <a:endParaRPr lang="en-US" sz="1450" dirty="0"/>
          </a:p>
        </p:txBody>
      </p:sp>
      <p:sp>
        <p:nvSpPr>
          <p:cNvPr id="24" name="Shape 22"/>
          <p:cNvSpPr/>
          <p:nvPr/>
        </p:nvSpPr>
        <p:spPr>
          <a:xfrm>
            <a:off x="685800" y="5678424"/>
            <a:ext cx="384048" cy="384048"/>
          </a:xfrm>
          <a:prstGeom prst="ellipse">
            <a:avLst/>
          </a:prstGeom>
          <a:solidFill>
            <a:srgbClr val="8E2B30"/>
          </a:solidFill>
          <a:ln/>
        </p:spPr>
      </p:sp>
      <p:sp>
        <p:nvSpPr>
          <p:cNvPr id="25" name="Text 23"/>
          <p:cNvSpPr txBox="1"/>
          <p:nvPr/>
        </p:nvSpPr>
        <p:spPr>
          <a:xfrm>
            <a:off x="685800" y="56784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325880" y="5623560"/>
            <a:ext cx="2834640" cy="365760"/>
          </a:xfrm>
          <a:prstGeom prst="rect">
            <a:avLst/>
          </a:prstGeom>
          <a:noFill/>
          <a:ln/>
        </p:spPr>
        <p:txBody>
          <a:bodyPr wrap="square" lIns="0" tIns="0" rIns="0" bIns="0" rtlCol="0" anchor="ctr"/>
          <a:lstStyle/>
          <a:p>
            <a:pPr indent="0" marL="0">
              <a:buNone/>
            </a:pPr>
            <a:r>
              <a:rPr lang="en-US" sz="1700" b="1" dirty="0">
                <a:solidFill>
                  <a:srgbClr val="15181D"/>
                </a:solidFill>
                <a:latin typeface="Calibri" pitchFamily="34" charset="0"/>
                <a:ea typeface="Calibri" pitchFamily="34" charset="-122"/>
                <a:cs typeface="Calibri" pitchFamily="34" charset="-120"/>
              </a:rPr>
              <a:t>Plants and offices</a:t>
            </a:r>
            <a:endParaRPr lang="en-US" sz="1700" dirty="0"/>
          </a:p>
        </p:txBody>
      </p:sp>
      <p:sp>
        <p:nvSpPr>
          <p:cNvPr id="27" name="Text 25"/>
          <p:cNvSpPr txBox="1"/>
          <p:nvPr/>
        </p:nvSpPr>
        <p:spPr>
          <a:xfrm>
            <a:off x="4251960" y="5641848"/>
            <a:ext cx="6949440" cy="548640"/>
          </a:xfrm>
          <a:prstGeom prst="rect">
            <a:avLst/>
          </a:prstGeom>
          <a:noFill/>
          <a:ln/>
        </p:spPr>
        <p:txBody>
          <a:bodyPr wrap="square" lIns="0" tIns="0" rIns="0" bIns="0" rtlCol="0" anchor="ctr"/>
          <a:lstStyle/>
          <a:p>
            <a:pPr indent="0" marL="0">
              <a:buNone/>
            </a:pPr>
            <a:r>
              <a:rPr lang="en-US" sz="1450" dirty="0">
                <a:solidFill>
                  <a:srgbClr val="6B7280"/>
                </a:solidFill>
                <a:latin typeface="Calibri" pitchFamily="34" charset="0"/>
                <a:ea typeface="Calibri" pitchFamily="34" charset="-122"/>
                <a:cs typeface="Calibri" pitchFamily="34" charset="-120"/>
              </a:rPr>
              <a:t>Every site the data covers.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Where the gaps are</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Coverage is the share of people in a job group who have the skill. Under 40 percent means most of the group cannot do the work.</a:t>
            </a:r>
            <a:endParaRPr lang="en-US" sz="1500" dirty="0"/>
          </a:p>
        </p:txBody>
      </p:sp>
      <p:graphicFrame>
        <p:nvGraphicFramePr>
          <p:cNvPr id="4" name="Chart 0" descr=""/>
          <p:cNvGraphicFramePr/>
          <p:nvPr/>
        </p:nvGraphicFramePr>
        <p:xfrm>
          <a:off x="685800" y="1783080"/>
          <a:ext cx="10789920" cy="4297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Skills only a few people know</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Six skills are held by three people or fewer. If they leave, the work stops until somebody else learns it.</a:t>
            </a:r>
            <a:endParaRPr lang="en-US" sz="1500" dirty="0"/>
          </a:p>
        </p:txBody>
      </p:sp>
      <p:sp>
        <p:nvSpPr>
          <p:cNvPr id="4" name="Shape 2"/>
          <p:cNvSpPr/>
          <p:nvPr/>
        </p:nvSpPr>
        <p:spPr>
          <a:xfrm>
            <a:off x="685800" y="1920240"/>
            <a:ext cx="5120640" cy="1051560"/>
          </a:xfrm>
          <a:prstGeom prst="roundRect">
            <a:avLst>
              <a:gd name="adj" fmla="val 5217"/>
            </a:avLst>
          </a:prstGeom>
          <a:solidFill>
            <a:srgbClr val="FFFFFF"/>
          </a:solidFill>
          <a:ln w="12700">
            <a:solidFill>
              <a:srgbClr val="E5E7EB"/>
            </a:solidFill>
            <a:prstDash val="solid"/>
          </a:ln>
        </p:spPr>
      </p:sp>
      <p:sp>
        <p:nvSpPr>
          <p:cNvPr id="5" name="Text 3"/>
          <p:cNvSpPr txBox="1"/>
          <p:nvPr/>
        </p:nvSpPr>
        <p:spPr>
          <a:xfrm>
            <a:off x="914400" y="204825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R&amp;D, frozen dough</a:t>
            </a:r>
            <a:endParaRPr lang="en-US" sz="1550" dirty="0"/>
          </a:p>
        </p:txBody>
      </p:sp>
      <p:sp>
        <p:nvSpPr>
          <p:cNvPr id="6" name="Text 4"/>
          <p:cNvSpPr txBox="1"/>
          <p:nvPr/>
        </p:nvSpPr>
        <p:spPr>
          <a:xfrm>
            <a:off x="914400" y="242316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Marshall, MN R&amp;D center</a:t>
            </a:r>
            <a:endParaRPr lang="en-US" sz="1250" dirty="0"/>
          </a:p>
        </p:txBody>
      </p:sp>
      <p:sp>
        <p:nvSpPr>
          <p:cNvPr id="7" name="Text 5"/>
          <p:cNvSpPr txBox="1"/>
          <p:nvPr/>
        </p:nvSpPr>
        <p:spPr>
          <a:xfrm>
            <a:off x="4343400" y="224942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1 person</a:t>
            </a:r>
            <a:endParaRPr lang="en-US" sz="1700" dirty="0"/>
          </a:p>
        </p:txBody>
      </p:sp>
      <p:sp>
        <p:nvSpPr>
          <p:cNvPr id="8" name="Shape 6"/>
          <p:cNvSpPr/>
          <p:nvPr/>
        </p:nvSpPr>
        <p:spPr>
          <a:xfrm>
            <a:off x="6172200" y="1920240"/>
            <a:ext cx="5120640" cy="1051560"/>
          </a:xfrm>
          <a:prstGeom prst="roundRect">
            <a:avLst>
              <a:gd name="adj" fmla="val 5217"/>
            </a:avLst>
          </a:prstGeom>
          <a:solidFill>
            <a:srgbClr val="FFFFFF"/>
          </a:solidFill>
          <a:ln w="12700">
            <a:solidFill>
              <a:srgbClr val="E5E7EB"/>
            </a:solidFill>
            <a:prstDash val="solid"/>
          </a:ln>
        </p:spPr>
      </p:sp>
      <p:sp>
        <p:nvSpPr>
          <p:cNvPr id="9" name="Text 7"/>
          <p:cNvSpPr txBox="1"/>
          <p:nvPr/>
        </p:nvSpPr>
        <p:spPr>
          <a:xfrm>
            <a:off x="6400800" y="204825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Food labeling rules</a:t>
            </a:r>
            <a:endParaRPr lang="en-US" sz="1550" dirty="0"/>
          </a:p>
        </p:txBody>
      </p:sp>
      <p:sp>
        <p:nvSpPr>
          <p:cNvPr id="10" name="Text 8"/>
          <p:cNvSpPr txBox="1"/>
          <p:nvPr/>
        </p:nvSpPr>
        <p:spPr>
          <a:xfrm>
            <a:off x="6400800" y="242316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Hopkins, MN corporate</a:t>
            </a:r>
            <a:endParaRPr lang="en-US" sz="1250" dirty="0"/>
          </a:p>
        </p:txBody>
      </p:sp>
      <p:sp>
        <p:nvSpPr>
          <p:cNvPr id="11" name="Text 9"/>
          <p:cNvSpPr txBox="1"/>
          <p:nvPr/>
        </p:nvSpPr>
        <p:spPr>
          <a:xfrm>
            <a:off x="9829800" y="224942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2 people</a:t>
            </a:r>
            <a:endParaRPr lang="en-US" sz="1700" dirty="0"/>
          </a:p>
        </p:txBody>
      </p:sp>
      <p:sp>
        <p:nvSpPr>
          <p:cNvPr id="12" name="Shape 10"/>
          <p:cNvSpPr/>
          <p:nvPr/>
        </p:nvSpPr>
        <p:spPr>
          <a:xfrm>
            <a:off x="685800" y="3246120"/>
            <a:ext cx="5120640" cy="1051560"/>
          </a:xfrm>
          <a:prstGeom prst="roundRect">
            <a:avLst>
              <a:gd name="adj" fmla="val 5217"/>
            </a:avLst>
          </a:prstGeom>
          <a:solidFill>
            <a:srgbClr val="FFFFFF"/>
          </a:solidFill>
          <a:ln w="12700">
            <a:solidFill>
              <a:srgbClr val="E5E7EB"/>
            </a:solidFill>
            <a:prstDash val="solid"/>
          </a:ln>
        </p:spPr>
      </p:sp>
      <p:sp>
        <p:nvSpPr>
          <p:cNvPr id="13" name="Text 11"/>
          <p:cNvSpPr txBox="1"/>
          <p:nvPr/>
        </p:nvSpPr>
        <p:spPr>
          <a:xfrm>
            <a:off x="914400" y="337413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Ammonia refrigeration</a:t>
            </a:r>
            <a:endParaRPr lang="en-US" sz="1550" dirty="0"/>
          </a:p>
        </p:txBody>
      </p:sp>
      <p:sp>
        <p:nvSpPr>
          <p:cNvPr id="14" name="Text 12"/>
          <p:cNvSpPr txBox="1"/>
          <p:nvPr/>
        </p:nvSpPr>
        <p:spPr>
          <a:xfrm>
            <a:off x="914400" y="374904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Marshall, MN ice cream</a:t>
            </a:r>
            <a:endParaRPr lang="en-US" sz="1250" dirty="0"/>
          </a:p>
        </p:txBody>
      </p:sp>
      <p:sp>
        <p:nvSpPr>
          <p:cNvPr id="15" name="Text 13"/>
          <p:cNvSpPr txBox="1"/>
          <p:nvPr/>
        </p:nvSpPr>
        <p:spPr>
          <a:xfrm>
            <a:off x="4343400" y="357530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2 people</a:t>
            </a:r>
            <a:endParaRPr lang="en-US" sz="1700" dirty="0"/>
          </a:p>
        </p:txBody>
      </p:sp>
      <p:sp>
        <p:nvSpPr>
          <p:cNvPr id="16" name="Shape 14"/>
          <p:cNvSpPr/>
          <p:nvPr/>
        </p:nvSpPr>
        <p:spPr>
          <a:xfrm>
            <a:off x="6172200" y="3246120"/>
            <a:ext cx="5120640" cy="1051560"/>
          </a:xfrm>
          <a:prstGeom prst="roundRect">
            <a:avLst>
              <a:gd name="adj" fmla="val 5217"/>
            </a:avLst>
          </a:prstGeom>
          <a:solidFill>
            <a:srgbClr val="FFFFFF"/>
          </a:solidFill>
          <a:ln w="12700">
            <a:solidFill>
              <a:srgbClr val="E5E7EB"/>
            </a:solidFill>
            <a:prstDash val="solid"/>
          </a:ln>
        </p:spPr>
      </p:sp>
      <p:sp>
        <p:nvSpPr>
          <p:cNvPr id="17" name="Text 15"/>
          <p:cNvSpPr txBox="1"/>
          <p:nvPr/>
        </p:nvSpPr>
        <p:spPr>
          <a:xfrm>
            <a:off x="6400800" y="337413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Pizza line setup</a:t>
            </a:r>
            <a:endParaRPr lang="en-US" sz="1550" dirty="0"/>
          </a:p>
        </p:txBody>
      </p:sp>
      <p:sp>
        <p:nvSpPr>
          <p:cNvPr id="18" name="Text 16"/>
          <p:cNvSpPr txBox="1"/>
          <p:nvPr/>
        </p:nvSpPr>
        <p:spPr>
          <a:xfrm>
            <a:off x="6400800" y="374904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Salina, KS pizza plant</a:t>
            </a:r>
            <a:endParaRPr lang="en-US" sz="1250" dirty="0"/>
          </a:p>
        </p:txBody>
      </p:sp>
      <p:sp>
        <p:nvSpPr>
          <p:cNvPr id="19" name="Text 17"/>
          <p:cNvSpPr txBox="1"/>
          <p:nvPr/>
        </p:nvSpPr>
        <p:spPr>
          <a:xfrm>
            <a:off x="9829800" y="357530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2 people</a:t>
            </a:r>
            <a:endParaRPr lang="en-US" sz="1700" dirty="0"/>
          </a:p>
        </p:txBody>
      </p:sp>
      <p:sp>
        <p:nvSpPr>
          <p:cNvPr id="20" name="Shape 18"/>
          <p:cNvSpPr/>
          <p:nvPr/>
        </p:nvSpPr>
        <p:spPr>
          <a:xfrm>
            <a:off x="685800" y="4572000"/>
            <a:ext cx="5120640" cy="1051560"/>
          </a:xfrm>
          <a:prstGeom prst="roundRect">
            <a:avLst>
              <a:gd name="adj" fmla="val 5217"/>
            </a:avLst>
          </a:prstGeom>
          <a:solidFill>
            <a:srgbClr val="FFFFFF"/>
          </a:solidFill>
          <a:ln w="12700">
            <a:solidFill>
              <a:srgbClr val="E5E7EB"/>
            </a:solidFill>
            <a:prstDash val="solid"/>
          </a:ln>
        </p:spPr>
      </p:sp>
      <p:sp>
        <p:nvSpPr>
          <p:cNvPr id="21" name="Text 19"/>
          <p:cNvSpPr txBox="1"/>
          <p:nvPr/>
        </p:nvSpPr>
        <p:spPr>
          <a:xfrm>
            <a:off x="914400" y="470001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PLC automation</a:t>
            </a:r>
            <a:endParaRPr lang="en-US" sz="1550" dirty="0"/>
          </a:p>
        </p:txBody>
      </p:sp>
      <p:sp>
        <p:nvSpPr>
          <p:cNvPr id="22" name="Text 20"/>
          <p:cNvSpPr txBox="1"/>
          <p:nvPr/>
        </p:nvSpPr>
        <p:spPr>
          <a:xfrm>
            <a:off x="914400" y="507492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Salina, KS pizza plant</a:t>
            </a:r>
            <a:endParaRPr lang="en-US" sz="1250" dirty="0"/>
          </a:p>
        </p:txBody>
      </p:sp>
      <p:sp>
        <p:nvSpPr>
          <p:cNvPr id="23" name="Text 21"/>
          <p:cNvSpPr txBox="1"/>
          <p:nvPr/>
        </p:nvSpPr>
        <p:spPr>
          <a:xfrm>
            <a:off x="4343400" y="490118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3 people</a:t>
            </a:r>
            <a:endParaRPr lang="en-US" sz="1700" dirty="0"/>
          </a:p>
        </p:txBody>
      </p:sp>
      <p:sp>
        <p:nvSpPr>
          <p:cNvPr id="24" name="Shape 22"/>
          <p:cNvSpPr/>
          <p:nvPr/>
        </p:nvSpPr>
        <p:spPr>
          <a:xfrm>
            <a:off x="6172200" y="4572000"/>
            <a:ext cx="5120640" cy="1051560"/>
          </a:xfrm>
          <a:prstGeom prst="roundRect">
            <a:avLst>
              <a:gd name="adj" fmla="val 5217"/>
            </a:avLst>
          </a:prstGeom>
          <a:solidFill>
            <a:srgbClr val="FFFFFF"/>
          </a:solidFill>
          <a:ln w="12700">
            <a:solidFill>
              <a:srgbClr val="E5E7EB"/>
            </a:solidFill>
            <a:prstDash val="solid"/>
          </a:ln>
        </p:spPr>
      </p:sp>
      <p:sp>
        <p:nvSpPr>
          <p:cNvPr id="25" name="Text 23"/>
          <p:cNvSpPr txBox="1"/>
          <p:nvPr/>
        </p:nvSpPr>
        <p:spPr>
          <a:xfrm>
            <a:off x="6400800" y="4700016"/>
            <a:ext cx="3383280" cy="320040"/>
          </a:xfrm>
          <a:prstGeom prst="rect">
            <a:avLst/>
          </a:prstGeom>
          <a:noFill/>
          <a:ln/>
        </p:spPr>
        <p:txBody>
          <a:bodyPr wrap="square" lIns="0" tIns="0" rIns="0" bIns="0" rtlCol="0" anchor="ctr"/>
          <a:lstStyle/>
          <a:p>
            <a:pPr indent="0" marL="0">
              <a:buNone/>
            </a:pPr>
            <a:r>
              <a:rPr lang="en-US" sz="1550" b="1" dirty="0">
                <a:solidFill>
                  <a:srgbClr val="15181D"/>
                </a:solidFill>
                <a:latin typeface="Calibri" pitchFamily="34" charset="0"/>
                <a:ea typeface="Calibri" pitchFamily="34" charset="-122"/>
                <a:cs typeface="Calibri" pitchFamily="34" charset="-120"/>
              </a:rPr>
              <a:t>Culinary consulting</a:t>
            </a:r>
            <a:endParaRPr lang="en-US" sz="1550" dirty="0"/>
          </a:p>
        </p:txBody>
      </p:sp>
      <p:sp>
        <p:nvSpPr>
          <p:cNvPr id="26" name="Text 24"/>
          <p:cNvSpPr txBox="1"/>
          <p:nvPr/>
        </p:nvSpPr>
        <p:spPr>
          <a:xfrm>
            <a:off x="6400800" y="5074920"/>
            <a:ext cx="3566160" cy="3200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Field, national</a:t>
            </a:r>
            <a:endParaRPr lang="en-US" sz="1250" dirty="0"/>
          </a:p>
        </p:txBody>
      </p:sp>
      <p:sp>
        <p:nvSpPr>
          <p:cNvPr id="27" name="Text 25"/>
          <p:cNvSpPr txBox="1"/>
          <p:nvPr/>
        </p:nvSpPr>
        <p:spPr>
          <a:xfrm>
            <a:off x="9829800" y="4901184"/>
            <a:ext cx="1280160" cy="365760"/>
          </a:xfrm>
          <a:prstGeom prst="rect">
            <a:avLst/>
          </a:prstGeom>
          <a:noFill/>
          <a:ln/>
        </p:spPr>
        <p:txBody>
          <a:bodyPr wrap="square" lIns="0" tIns="0" rIns="0" bIns="0" rtlCol="0" anchor="ctr"/>
          <a:lstStyle/>
          <a:p>
            <a:pPr algn="r" indent="0" marL="0">
              <a:buNone/>
            </a:pPr>
            <a:r>
              <a:rPr lang="en-US" sz="1700" b="1" dirty="0">
                <a:solidFill>
                  <a:srgbClr val="8E2B30"/>
                </a:solidFill>
                <a:latin typeface="Cambria" pitchFamily="34" charset="0"/>
                <a:ea typeface="Cambria" pitchFamily="34" charset="-122"/>
                <a:cs typeface="Cambria" pitchFamily="34" charset="-120"/>
              </a:rPr>
              <a:t>3 people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The part that matters: an order of work</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Every at-risk skill is scored on three things, then ranked. A manager gets a list, not a puzzle.</a:t>
            </a:r>
            <a:endParaRPr lang="en-US" sz="1500" dirty="0"/>
          </a:p>
        </p:txBody>
      </p:sp>
      <p:sp>
        <p:nvSpPr>
          <p:cNvPr id="4" name="Shape 2"/>
          <p:cNvSpPr/>
          <p:nvPr/>
        </p:nvSpPr>
        <p:spPr>
          <a:xfrm>
            <a:off x="685800" y="1920240"/>
            <a:ext cx="3291840" cy="1143000"/>
          </a:xfrm>
          <a:prstGeom prst="roundRect">
            <a:avLst>
              <a:gd name="adj" fmla="val 4800"/>
            </a:avLst>
          </a:prstGeom>
          <a:solidFill>
            <a:srgbClr val="F4F5F7"/>
          </a:solidFill>
          <a:ln/>
        </p:spPr>
      </p:sp>
      <p:sp>
        <p:nvSpPr>
          <p:cNvPr id="5" name="Text 3"/>
          <p:cNvSpPr txBox="1"/>
          <p:nvPr/>
        </p:nvSpPr>
        <p:spPr>
          <a:xfrm>
            <a:off x="914400" y="2084832"/>
            <a:ext cx="2834640" cy="365760"/>
          </a:xfrm>
          <a:prstGeom prst="rect">
            <a:avLst/>
          </a:prstGeom>
          <a:noFill/>
          <a:ln/>
        </p:spPr>
        <p:txBody>
          <a:bodyPr wrap="square" lIns="0" tIns="0" rIns="0" bIns="0" rtlCol="0" anchor="ctr"/>
          <a:lstStyle/>
          <a:p>
            <a:pPr indent="0" marL="0">
              <a:buNone/>
            </a:pPr>
            <a:r>
              <a:rPr lang="en-US" sz="1500" b="1" dirty="0">
                <a:solidFill>
                  <a:srgbClr val="15181D"/>
                </a:solidFill>
                <a:latin typeface="Calibri" pitchFamily="34" charset="0"/>
                <a:ea typeface="Calibri" pitchFamily="34" charset="-122"/>
                <a:cs typeface="Calibri" pitchFamily="34" charset="-120"/>
              </a:rPr>
              <a:t>How much it hurts</a:t>
            </a:r>
            <a:endParaRPr lang="en-US" sz="1500" dirty="0"/>
          </a:p>
        </p:txBody>
      </p:sp>
      <p:sp>
        <p:nvSpPr>
          <p:cNvPr id="6" name="Text 4"/>
          <p:cNvSpPr txBox="1"/>
          <p:nvPr/>
        </p:nvSpPr>
        <p:spPr>
          <a:xfrm>
            <a:off x="914400" y="2468880"/>
            <a:ext cx="283464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impact if the knowledge is lost</a:t>
            </a:r>
            <a:endParaRPr lang="en-US" sz="1250" dirty="0"/>
          </a:p>
        </p:txBody>
      </p:sp>
      <p:sp>
        <p:nvSpPr>
          <p:cNvPr id="7" name="Shape 5"/>
          <p:cNvSpPr/>
          <p:nvPr/>
        </p:nvSpPr>
        <p:spPr>
          <a:xfrm>
            <a:off x="4343400" y="1920240"/>
            <a:ext cx="3291840" cy="1143000"/>
          </a:xfrm>
          <a:prstGeom prst="roundRect">
            <a:avLst>
              <a:gd name="adj" fmla="val 4800"/>
            </a:avLst>
          </a:prstGeom>
          <a:solidFill>
            <a:srgbClr val="F4F5F7"/>
          </a:solidFill>
          <a:ln/>
        </p:spPr>
      </p:sp>
      <p:sp>
        <p:nvSpPr>
          <p:cNvPr id="8" name="Text 6"/>
          <p:cNvSpPr txBox="1"/>
          <p:nvPr/>
        </p:nvSpPr>
        <p:spPr>
          <a:xfrm>
            <a:off x="4572000" y="2084832"/>
            <a:ext cx="2834640" cy="365760"/>
          </a:xfrm>
          <a:prstGeom prst="rect">
            <a:avLst/>
          </a:prstGeom>
          <a:noFill/>
          <a:ln/>
        </p:spPr>
        <p:txBody>
          <a:bodyPr wrap="square" lIns="0" tIns="0" rIns="0" bIns="0" rtlCol="0" anchor="ctr"/>
          <a:lstStyle/>
          <a:p>
            <a:pPr indent="0" marL="0">
              <a:buNone/>
            </a:pPr>
            <a:r>
              <a:rPr lang="en-US" sz="1500" b="1" dirty="0">
                <a:solidFill>
                  <a:srgbClr val="15181D"/>
                </a:solidFill>
                <a:latin typeface="Calibri" pitchFamily="34" charset="0"/>
                <a:ea typeface="Calibri" pitchFamily="34" charset="-122"/>
                <a:cs typeface="Calibri" pitchFamily="34" charset="-120"/>
              </a:rPr>
              <a:t>How few hold it</a:t>
            </a:r>
            <a:endParaRPr lang="en-US" sz="1500" dirty="0"/>
          </a:p>
        </p:txBody>
      </p:sp>
      <p:sp>
        <p:nvSpPr>
          <p:cNvPr id="9" name="Text 7"/>
          <p:cNvSpPr txBox="1"/>
          <p:nvPr/>
        </p:nvSpPr>
        <p:spPr>
          <a:xfrm>
            <a:off x="4572000" y="2468880"/>
            <a:ext cx="283464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one person or a handful</a:t>
            </a:r>
            <a:endParaRPr lang="en-US" sz="1250" dirty="0"/>
          </a:p>
        </p:txBody>
      </p:sp>
      <p:sp>
        <p:nvSpPr>
          <p:cNvPr id="10" name="Shape 8"/>
          <p:cNvSpPr/>
          <p:nvPr/>
        </p:nvSpPr>
        <p:spPr>
          <a:xfrm>
            <a:off x="8001000" y="1920240"/>
            <a:ext cx="3291840" cy="1143000"/>
          </a:xfrm>
          <a:prstGeom prst="roundRect">
            <a:avLst>
              <a:gd name="adj" fmla="val 4800"/>
            </a:avLst>
          </a:prstGeom>
          <a:solidFill>
            <a:srgbClr val="F4F5F7"/>
          </a:solidFill>
          <a:ln/>
        </p:spPr>
      </p:sp>
      <p:sp>
        <p:nvSpPr>
          <p:cNvPr id="11" name="Text 9"/>
          <p:cNvSpPr txBox="1"/>
          <p:nvPr/>
        </p:nvSpPr>
        <p:spPr>
          <a:xfrm>
            <a:off x="8229600" y="2084832"/>
            <a:ext cx="2834640" cy="365760"/>
          </a:xfrm>
          <a:prstGeom prst="rect">
            <a:avLst/>
          </a:prstGeom>
          <a:noFill/>
          <a:ln/>
        </p:spPr>
        <p:txBody>
          <a:bodyPr wrap="square" lIns="0" tIns="0" rIns="0" bIns="0" rtlCol="0" anchor="ctr"/>
          <a:lstStyle/>
          <a:p>
            <a:pPr indent="0" marL="0">
              <a:buNone/>
            </a:pPr>
            <a:r>
              <a:rPr lang="en-US" sz="1500" b="1" dirty="0">
                <a:solidFill>
                  <a:srgbClr val="15181D"/>
                </a:solidFill>
                <a:latin typeface="Calibri" pitchFamily="34" charset="0"/>
                <a:ea typeface="Calibri" pitchFamily="34" charset="-122"/>
                <a:cs typeface="Calibri" pitchFamily="34" charset="-120"/>
              </a:rPr>
              <a:t>How big the gap is</a:t>
            </a:r>
            <a:endParaRPr lang="en-US" sz="1500" dirty="0"/>
          </a:p>
        </p:txBody>
      </p:sp>
      <p:sp>
        <p:nvSpPr>
          <p:cNvPr id="12" name="Text 10"/>
          <p:cNvSpPr txBox="1"/>
          <p:nvPr/>
        </p:nvSpPr>
        <p:spPr>
          <a:xfrm>
            <a:off x="8229600" y="2468880"/>
            <a:ext cx="2834640" cy="4572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how far from where it needs to be</a:t>
            </a:r>
            <a:endParaRPr lang="en-US" sz="1250" dirty="0"/>
          </a:p>
        </p:txBody>
      </p:sp>
      <p:sp>
        <p:nvSpPr>
          <p:cNvPr id="13" name="Text 11"/>
          <p:cNvSpPr txBox="1"/>
          <p:nvPr/>
        </p:nvSpPr>
        <p:spPr>
          <a:xfrm>
            <a:off x="685800" y="3520440"/>
            <a:ext cx="365760" cy="365760"/>
          </a:xfrm>
          <a:prstGeom prst="rect">
            <a:avLst/>
          </a:prstGeom>
          <a:noFill/>
          <a:ln/>
        </p:spPr>
        <p:txBody>
          <a:bodyPr wrap="square" lIns="0" tIns="0" rIns="0" bIns="0" rtlCol="0" anchor="ctr"/>
          <a:lstStyle/>
          <a:p>
            <a:pPr indent="0" marL="0">
              <a:buNone/>
            </a:pPr>
            <a:r>
              <a:rPr lang="en-US" sz="1600" b="1" dirty="0">
                <a:solidFill>
                  <a:srgbClr val="C4574B"/>
                </a:solidFill>
                <a:latin typeface="Cambria" pitchFamily="34" charset="0"/>
                <a:ea typeface="Cambria" pitchFamily="34" charset="-122"/>
                <a:cs typeface="Cambria" pitchFamily="34" charset="-120"/>
              </a:rPr>
              <a:t>1</a:t>
            </a:r>
            <a:endParaRPr lang="en-US" sz="1600" dirty="0"/>
          </a:p>
        </p:txBody>
      </p:sp>
      <p:sp>
        <p:nvSpPr>
          <p:cNvPr id="14" name="Text 12"/>
          <p:cNvSpPr txBox="1"/>
          <p:nvPr/>
        </p:nvSpPr>
        <p:spPr>
          <a:xfrm>
            <a:off x="1097280" y="3520440"/>
            <a:ext cx="3017520" cy="365760"/>
          </a:xfrm>
          <a:prstGeom prst="rect">
            <a:avLst/>
          </a:prstGeom>
          <a:noFill/>
          <a:ln/>
        </p:spPr>
        <p:txBody>
          <a:bodyPr wrap="square" lIns="0" tIns="0" rIns="0" bIns="0" rtlCol="0" anchor="ctr"/>
          <a:lstStyle/>
          <a:p>
            <a:pPr indent="0" marL="0">
              <a:buNone/>
            </a:pPr>
            <a:r>
              <a:rPr lang="en-US" sz="1450" b="1" dirty="0">
                <a:solidFill>
                  <a:srgbClr val="15181D"/>
                </a:solidFill>
                <a:latin typeface="Calibri" pitchFamily="34" charset="0"/>
                <a:ea typeface="Calibri" pitchFamily="34" charset="-122"/>
                <a:cs typeface="Calibri" pitchFamily="34" charset="-120"/>
              </a:rPr>
              <a:t>R&amp;D, frozen dough</a:t>
            </a:r>
            <a:endParaRPr lang="en-US" sz="1450" dirty="0"/>
          </a:p>
        </p:txBody>
      </p:sp>
      <p:sp>
        <p:nvSpPr>
          <p:cNvPr id="15" name="Text 13"/>
          <p:cNvSpPr txBox="1"/>
          <p:nvPr/>
        </p:nvSpPr>
        <p:spPr>
          <a:xfrm>
            <a:off x="4251960" y="3520440"/>
            <a:ext cx="694944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1 person holds it. Pair the expert with two mentees.</a:t>
            </a:r>
            <a:endParaRPr lang="en-US" sz="1400" dirty="0"/>
          </a:p>
        </p:txBody>
      </p:sp>
      <p:sp>
        <p:nvSpPr>
          <p:cNvPr id="16" name="Text 14"/>
          <p:cNvSpPr txBox="1"/>
          <p:nvPr/>
        </p:nvSpPr>
        <p:spPr>
          <a:xfrm>
            <a:off x="685800" y="4069080"/>
            <a:ext cx="365760" cy="365760"/>
          </a:xfrm>
          <a:prstGeom prst="rect">
            <a:avLst/>
          </a:prstGeom>
          <a:noFill/>
          <a:ln/>
        </p:spPr>
        <p:txBody>
          <a:bodyPr wrap="square" lIns="0" tIns="0" rIns="0" bIns="0" rtlCol="0" anchor="ctr"/>
          <a:lstStyle/>
          <a:p>
            <a:pPr indent="0" marL="0">
              <a:buNone/>
            </a:pPr>
            <a:r>
              <a:rPr lang="en-US" sz="1600" b="1" dirty="0">
                <a:solidFill>
                  <a:srgbClr val="C4574B"/>
                </a:solidFill>
                <a:latin typeface="Cambria" pitchFamily="34" charset="0"/>
                <a:ea typeface="Cambria" pitchFamily="34" charset="-122"/>
                <a:cs typeface="Cambria" pitchFamily="34" charset="-120"/>
              </a:rPr>
              <a:t>2</a:t>
            </a:r>
            <a:endParaRPr lang="en-US" sz="1600" dirty="0"/>
          </a:p>
        </p:txBody>
      </p:sp>
      <p:sp>
        <p:nvSpPr>
          <p:cNvPr id="17" name="Text 15"/>
          <p:cNvSpPr txBox="1"/>
          <p:nvPr/>
        </p:nvSpPr>
        <p:spPr>
          <a:xfrm>
            <a:off x="1097280" y="4069080"/>
            <a:ext cx="3017520" cy="365760"/>
          </a:xfrm>
          <a:prstGeom prst="rect">
            <a:avLst/>
          </a:prstGeom>
          <a:noFill/>
          <a:ln/>
        </p:spPr>
        <p:txBody>
          <a:bodyPr wrap="square" lIns="0" tIns="0" rIns="0" bIns="0" rtlCol="0" anchor="ctr"/>
          <a:lstStyle/>
          <a:p>
            <a:pPr indent="0" marL="0">
              <a:buNone/>
            </a:pPr>
            <a:r>
              <a:rPr lang="en-US" sz="1450" b="1" dirty="0">
                <a:solidFill>
                  <a:srgbClr val="15181D"/>
                </a:solidFill>
                <a:latin typeface="Calibri" pitchFamily="34" charset="0"/>
                <a:ea typeface="Calibri" pitchFamily="34" charset="-122"/>
                <a:cs typeface="Calibri" pitchFamily="34" charset="-120"/>
              </a:rPr>
              <a:t>Food labeling rules</a:t>
            </a:r>
            <a:endParaRPr lang="en-US" sz="1450" dirty="0"/>
          </a:p>
        </p:txBody>
      </p:sp>
      <p:sp>
        <p:nvSpPr>
          <p:cNvPr id="18" name="Text 16"/>
          <p:cNvSpPr txBox="1"/>
          <p:nvPr/>
        </p:nvSpPr>
        <p:spPr>
          <a:xfrm>
            <a:off x="4251960" y="4069080"/>
            <a:ext cx="694944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2 people. Run a cross-border labeling workshop.</a:t>
            </a:r>
            <a:endParaRPr lang="en-US" sz="1400" dirty="0"/>
          </a:p>
        </p:txBody>
      </p:sp>
      <p:sp>
        <p:nvSpPr>
          <p:cNvPr id="19" name="Text 17"/>
          <p:cNvSpPr txBox="1"/>
          <p:nvPr/>
        </p:nvSpPr>
        <p:spPr>
          <a:xfrm>
            <a:off x="685800" y="4617720"/>
            <a:ext cx="365760" cy="365760"/>
          </a:xfrm>
          <a:prstGeom prst="rect">
            <a:avLst/>
          </a:prstGeom>
          <a:noFill/>
          <a:ln/>
        </p:spPr>
        <p:txBody>
          <a:bodyPr wrap="square" lIns="0" tIns="0" rIns="0" bIns="0" rtlCol="0" anchor="ctr"/>
          <a:lstStyle/>
          <a:p>
            <a:pPr indent="0" marL="0">
              <a:buNone/>
            </a:pPr>
            <a:r>
              <a:rPr lang="en-US" sz="1600" b="1" dirty="0">
                <a:solidFill>
                  <a:srgbClr val="C4574B"/>
                </a:solidFill>
                <a:latin typeface="Cambria" pitchFamily="34" charset="0"/>
                <a:ea typeface="Cambria" pitchFamily="34" charset="-122"/>
                <a:cs typeface="Cambria" pitchFamily="34" charset="-120"/>
              </a:rPr>
              <a:t>3</a:t>
            </a:r>
            <a:endParaRPr lang="en-US" sz="1600" dirty="0"/>
          </a:p>
        </p:txBody>
      </p:sp>
      <p:sp>
        <p:nvSpPr>
          <p:cNvPr id="20" name="Text 18"/>
          <p:cNvSpPr txBox="1"/>
          <p:nvPr/>
        </p:nvSpPr>
        <p:spPr>
          <a:xfrm>
            <a:off x="1097280" y="4617720"/>
            <a:ext cx="3017520" cy="365760"/>
          </a:xfrm>
          <a:prstGeom prst="rect">
            <a:avLst/>
          </a:prstGeom>
          <a:noFill/>
          <a:ln/>
        </p:spPr>
        <p:txBody>
          <a:bodyPr wrap="square" lIns="0" tIns="0" rIns="0" bIns="0" rtlCol="0" anchor="ctr"/>
          <a:lstStyle/>
          <a:p>
            <a:pPr indent="0" marL="0">
              <a:buNone/>
            </a:pPr>
            <a:r>
              <a:rPr lang="en-US" sz="1450" b="1" dirty="0">
                <a:solidFill>
                  <a:srgbClr val="15181D"/>
                </a:solidFill>
                <a:latin typeface="Calibri" pitchFamily="34" charset="0"/>
                <a:ea typeface="Calibri" pitchFamily="34" charset="-122"/>
                <a:cs typeface="Calibri" pitchFamily="34" charset="-120"/>
              </a:rPr>
              <a:t>Ammonia refrigeration</a:t>
            </a:r>
            <a:endParaRPr lang="en-US" sz="1450" dirty="0"/>
          </a:p>
        </p:txBody>
      </p:sp>
      <p:sp>
        <p:nvSpPr>
          <p:cNvPr id="21" name="Text 19"/>
          <p:cNvSpPr txBox="1"/>
          <p:nvPr/>
        </p:nvSpPr>
        <p:spPr>
          <a:xfrm>
            <a:off x="4251960" y="4617720"/>
            <a:ext cx="694944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2 people, both near retirement. Sponsor certification now.</a:t>
            </a:r>
            <a:endParaRPr lang="en-US" sz="1400" dirty="0"/>
          </a:p>
        </p:txBody>
      </p:sp>
      <p:sp>
        <p:nvSpPr>
          <p:cNvPr id="22" name="Text 20"/>
          <p:cNvSpPr txBox="1"/>
          <p:nvPr/>
        </p:nvSpPr>
        <p:spPr>
          <a:xfrm>
            <a:off x="685800" y="5166360"/>
            <a:ext cx="365760" cy="365760"/>
          </a:xfrm>
          <a:prstGeom prst="rect">
            <a:avLst/>
          </a:prstGeom>
          <a:noFill/>
          <a:ln/>
        </p:spPr>
        <p:txBody>
          <a:bodyPr wrap="square" lIns="0" tIns="0" rIns="0" bIns="0" rtlCol="0" anchor="ctr"/>
          <a:lstStyle/>
          <a:p>
            <a:pPr indent="0" marL="0">
              <a:buNone/>
            </a:pPr>
            <a:r>
              <a:rPr lang="en-US" sz="1600" b="1" dirty="0">
                <a:solidFill>
                  <a:srgbClr val="C4574B"/>
                </a:solidFill>
                <a:latin typeface="Cambria" pitchFamily="34" charset="0"/>
                <a:ea typeface="Cambria" pitchFamily="34" charset="-122"/>
                <a:cs typeface="Cambria" pitchFamily="34" charset="-120"/>
              </a:rPr>
              <a:t>4</a:t>
            </a:r>
            <a:endParaRPr lang="en-US" sz="1600" dirty="0"/>
          </a:p>
        </p:txBody>
      </p:sp>
      <p:sp>
        <p:nvSpPr>
          <p:cNvPr id="23" name="Text 21"/>
          <p:cNvSpPr txBox="1"/>
          <p:nvPr/>
        </p:nvSpPr>
        <p:spPr>
          <a:xfrm>
            <a:off x="1097280" y="5166360"/>
            <a:ext cx="3017520" cy="365760"/>
          </a:xfrm>
          <a:prstGeom prst="rect">
            <a:avLst/>
          </a:prstGeom>
          <a:noFill/>
          <a:ln/>
        </p:spPr>
        <p:txBody>
          <a:bodyPr wrap="square" lIns="0" tIns="0" rIns="0" bIns="0" rtlCol="0" anchor="ctr"/>
          <a:lstStyle/>
          <a:p>
            <a:pPr indent="0" marL="0">
              <a:buNone/>
            </a:pPr>
            <a:r>
              <a:rPr lang="en-US" sz="1450" b="1" dirty="0">
                <a:solidFill>
                  <a:srgbClr val="15181D"/>
                </a:solidFill>
                <a:latin typeface="Calibri" pitchFamily="34" charset="0"/>
                <a:ea typeface="Calibri" pitchFamily="34" charset="-122"/>
                <a:cs typeface="Calibri" pitchFamily="34" charset="-120"/>
              </a:rPr>
              <a:t>Pizza line setup</a:t>
            </a:r>
            <a:endParaRPr lang="en-US" sz="1450" dirty="0"/>
          </a:p>
        </p:txBody>
      </p:sp>
      <p:sp>
        <p:nvSpPr>
          <p:cNvPr id="24" name="Text 22"/>
          <p:cNvSpPr txBox="1"/>
          <p:nvPr/>
        </p:nvSpPr>
        <p:spPr>
          <a:xfrm>
            <a:off x="4251960" y="5166360"/>
            <a:ext cx="694944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2 people, nothing written down. Write it down, then mentor backups.</a:t>
            </a:r>
            <a:endParaRPr lang="en-US" sz="1400" dirty="0"/>
          </a:p>
        </p:txBody>
      </p:sp>
      <p:sp>
        <p:nvSpPr>
          <p:cNvPr id="25" name="Text 23"/>
          <p:cNvSpPr txBox="1"/>
          <p:nvPr/>
        </p:nvSpPr>
        <p:spPr>
          <a:xfrm>
            <a:off x="685800" y="5715000"/>
            <a:ext cx="365760" cy="365760"/>
          </a:xfrm>
          <a:prstGeom prst="rect">
            <a:avLst/>
          </a:prstGeom>
          <a:noFill/>
          <a:ln/>
        </p:spPr>
        <p:txBody>
          <a:bodyPr wrap="square" lIns="0" tIns="0" rIns="0" bIns="0" rtlCol="0" anchor="ctr"/>
          <a:lstStyle/>
          <a:p>
            <a:pPr indent="0" marL="0">
              <a:buNone/>
            </a:pPr>
            <a:r>
              <a:rPr lang="en-US" sz="1600" b="1" dirty="0">
                <a:solidFill>
                  <a:srgbClr val="C4574B"/>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1097280" y="5715000"/>
            <a:ext cx="3017520" cy="365760"/>
          </a:xfrm>
          <a:prstGeom prst="rect">
            <a:avLst/>
          </a:prstGeom>
          <a:noFill/>
          <a:ln/>
        </p:spPr>
        <p:txBody>
          <a:bodyPr wrap="square" lIns="0" tIns="0" rIns="0" bIns="0" rtlCol="0" anchor="ctr"/>
          <a:lstStyle/>
          <a:p>
            <a:pPr indent="0" marL="0">
              <a:buNone/>
            </a:pPr>
            <a:r>
              <a:rPr lang="en-US" sz="1450" b="1" dirty="0">
                <a:solidFill>
                  <a:srgbClr val="15181D"/>
                </a:solidFill>
                <a:latin typeface="Calibri" pitchFamily="34" charset="0"/>
                <a:ea typeface="Calibri" pitchFamily="34" charset="-122"/>
                <a:cs typeface="Calibri" pitchFamily="34" charset="-120"/>
              </a:rPr>
              <a:t>PLC automation</a:t>
            </a:r>
            <a:endParaRPr lang="en-US" sz="1450" dirty="0"/>
          </a:p>
        </p:txBody>
      </p:sp>
      <p:sp>
        <p:nvSpPr>
          <p:cNvPr id="27" name="Text 25"/>
          <p:cNvSpPr txBox="1"/>
          <p:nvPr/>
        </p:nvSpPr>
        <p:spPr>
          <a:xfrm>
            <a:off x="4251960" y="5715000"/>
            <a:ext cx="694944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3 people. Rotate techs through Salina before Sioux Falls opens.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What the next two years need</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Tied to things Schwan's is actually doing: the Sioux Falls plant opening in 2027, demand forecasting, the CJ integration.</a:t>
            </a:r>
            <a:endParaRPr lang="en-US" sz="1500" dirty="0"/>
          </a:p>
        </p:txBody>
      </p:sp>
      <p:graphicFrame>
        <p:nvGraphicFramePr>
          <p:cNvPr id="4" name="Chart 0" descr=""/>
          <p:cNvGraphicFramePr/>
          <p:nvPr/>
        </p:nvGraphicFramePr>
        <p:xfrm>
          <a:off x="685800" y="1828800"/>
          <a:ext cx="10789920" cy="40233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548640"/>
          </a:xfrm>
          <a:prstGeom prst="rect">
            <a:avLst/>
          </a:prstGeom>
          <a:noFill/>
          <a:ln/>
        </p:spPr>
        <p:txBody>
          <a:bodyPr wrap="square" lIns="0" tIns="0" rIns="0" bIns="0" rtlCol="0" anchor="ctr"/>
          <a:lstStyle/>
          <a:p>
            <a:pPr indent="0" marL="0">
              <a:buNone/>
            </a:pPr>
            <a:r>
              <a:rPr lang="en-US" sz="3400" b="1" dirty="0">
                <a:solidFill>
                  <a:srgbClr val="15181D"/>
                </a:solidFill>
                <a:latin typeface="Cambria" pitchFamily="34" charset="0"/>
                <a:ea typeface="Cambria" pitchFamily="34" charset="-122"/>
                <a:cs typeface="Cambria" pitchFamily="34" charset="-120"/>
              </a:rPr>
              <a:t>How it is built</a:t>
            </a:r>
            <a:endParaRPr lang="en-US" sz="3400" dirty="0"/>
          </a:p>
        </p:txBody>
      </p:sp>
      <p:sp>
        <p:nvSpPr>
          <p:cNvPr id="3" name="Text 1"/>
          <p:cNvSpPr txBox="1"/>
          <p:nvPr/>
        </p:nvSpPr>
        <p:spPr>
          <a:xfrm>
            <a:off x="685800" y="1097280"/>
            <a:ext cx="10789920" cy="36576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Four files. No frameworks, no build step, no dependencies.</a:t>
            </a:r>
            <a:endParaRPr lang="en-US" sz="1500" dirty="0"/>
          </a:p>
        </p:txBody>
      </p:sp>
      <p:sp>
        <p:nvSpPr>
          <p:cNvPr id="4" name="Text 2"/>
          <p:cNvSpPr txBox="1"/>
          <p:nvPr/>
        </p:nvSpPr>
        <p:spPr>
          <a:xfrm>
            <a:off x="685800" y="1965960"/>
            <a:ext cx="5029200" cy="365760"/>
          </a:xfrm>
          <a:prstGeom prst="rect">
            <a:avLst/>
          </a:prstGeom>
          <a:noFill/>
          <a:ln/>
        </p:spPr>
        <p:txBody>
          <a:bodyPr wrap="square" lIns="0" tIns="0" rIns="0" bIns="0" rtlCol="0" anchor="ctr"/>
          <a:lstStyle/>
          <a:p>
            <a:pPr indent="0" marL="0">
              <a:buNone/>
            </a:pPr>
            <a:r>
              <a:rPr lang="en-US" sz="1700" b="1" dirty="0">
                <a:solidFill>
                  <a:srgbClr val="8E2B30"/>
                </a:solidFill>
                <a:latin typeface="Calibri" pitchFamily="34" charset="0"/>
                <a:ea typeface="Calibri" pitchFamily="34" charset="-122"/>
                <a:cs typeface="Calibri" pitchFamily="34" charset="-120"/>
              </a:rPr>
              <a:t>Runs with no internet</a:t>
            </a:r>
            <a:endParaRPr lang="en-US" sz="1700" dirty="0"/>
          </a:p>
        </p:txBody>
      </p:sp>
      <p:sp>
        <p:nvSpPr>
          <p:cNvPr id="5" name="Text 3"/>
          <p:cNvSpPr txBox="1"/>
          <p:nvPr/>
        </p:nvSpPr>
        <p:spPr>
          <a:xfrm>
            <a:off x="685800" y="2377440"/>
            <a:ext cx="4937760" cy="82296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Nothing loads from a CDN, so a bad connection during judging cannot break the demo.</a:t>
            </a:r>
            <a:endParaRPr lang="en-US" sz="1400" dirty="0"/>
          </a:p>
        </p:txBody>
      </p:sp>
      <p:sp>
        <p:nvSpPr>
          <p:cNvPr id="6" name="Text 4"/>
          <p:cNvSpPr txBox="1"/>
          <p:nvPr/>
        </p:nvSpPr>
        <p:spPr>
          <a:xfrm>
            <a:off x="6172200" y="1965960"/>
            <a:ext cx="5029200" cy="365760"/>
          </a:xfrm>
          <a:prstGeom prst="rect">
            <a:avLst/>
          </a:prstGeom>
          <a:noFill/>
          <a:ln/>
        </p:spPr>
        <p:txBody>
          <a:bodyPr wrap="square" lIns="0" tIns="0" rIns="0" bIns="0" rtlCol="0" anchor="ctr"/>
          <a:lstStyle/>
          <a:p>
            <a:pPr indent="0" marL="0">
              <a:buNone/>
            </a:pPr>
            <a:r>
              <a:rPr lang="en-US" sz="1700" b="1" dirty="0">
                <a:solidFill>
                  <a:srgbClr val="8E2B30"/>
                </a:solidFill>
                <a:latin typeface="Calibri" pitchFamily="34" charset="0"/>
                <a:ea typeface="Calibri" pitchFamily="34" charset="-122"/>
                <a:cs typeface="Calibri" pitchFamily="34" charset="-120"/>
              </a:rPr>
              <a:t>Every line is mine</a:t>
            </a:r>
            <a:endParaRPr lang="en-US" sz="1700" dirty="0"/>
          </a:p>
        </p:txBody>
      </p:sp>
      <p:sp>
        <p:nvSpPr>
          <p:cNvPr id="7" name="Text 5"/>
          <p:cNvSpPr txBox="1"/>
          <p:nvPr/>
        </p:nvSpPr>
        <p:spPr>
          <a:xfrm>
            <a:off x="6172200" y="2377440"/>
            <a:ext cx="4937760" cy="82296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No framework to hide behind. I can explain any part of it.</a:t>
            </a:r>
            <a:endParaRPr lang="en-US" sz="1400" dirty="0"/>
          </a:p>
        </p:txBody>
      </p:sp>
      <p:sp>
        <p:nvSpPr>
          <p:cNvPr id="8" name="Text 6"/>
          <p:cNvSpPr txBox="1"/>
          <p:nvPr/>
        </p:nvSpPr>
        <p:spPr>
          <a:xfrm>
            <a:off x="685800" y="3566160"/>
            <a:ext cx="5029200" cy="365760"/>
          </a:xfrm>
          <a:prstGeom prst="rect">
            <a:avLst/>
          </a:prstGeom>
          <a:noFill/>
          <a:ln/>
        </p:spPr>
        <p:txBody>
          <a:bodyPr wrap="square" lIns="0" tIns="0" rIns="0" bIns="0" rtlCol="0" anchor="ctr"/>
          <a:lstStyle/>
          <a:p>
            <a:pPr indent="0" marL="0">
              <a:buNone/>
            </a:pPr>
            <a:r>
              <a:rPr lang="en-US" sz="1700" b="1" dirty="0">
                <a:solidFill>
                  <a:srgbClr val="8E2B30"/>
                </a:solidFill>
                <a:latin typeface="Calibri" pitchFamily="34" charset="0"/>
                <a:ea typeface="Calibri" pitchFamily="34" charset="-122"/>
                <a:cs typeface="Calibri" pitchFamily="34" charset="-120"/>
              </a:rPr>
              <a:t>Real state, not a mock-up</a:t>
            </a:r>
            <a:endParaRPr lang="en-US" sz="1700" dirty="0"/>
          </a:p>
        </p:txBody>
      </p:sp>
      <p:sp>
        <p:nvSpPr>
          <p:cNvPr id="9" name="Text 7"/>
          <p:cNvSpPr txBox="1"/>
          <p:nvPr/>
        </p:nvSpPr>
        <p:spPr>
          <a:xfrm>
            <a:off x="685800" y="3977640"/>
            <a:ext cx="4937760" cy="82296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Marking a development plan as started is saved and survives a reload.</a:t>
            </a:r>
            <a:endParaRPr lang="en-US" sz="1400" dirty="0"/>
          </a:p>
        </p:txBody>
      </p:sp>
      <p:sp>
        <p:nvSpPr>
          <p:cNvPr id="10" name="Text 8"/>
          <p:cNvSpPr txBox="1"/>
          <p:nvPr/>
        </p:nvSpPr>
        <p:spPr>
          <a:xfrm>
            <a:off x="6172200" y="3566160"/>
            <a:ext cx="5029200" cy="365760"/>
          </a:xfrm>
          <a:prstGeom prst="rect">
            <a:avLst/>
          </a:prstGeom>
          <a:noFill/>
          <a:ln/>
        </p:spPr>
        <p:txBody>
          <a:bodyPr wrap="square" lIns="0" tIns="0" rIns="0" bIns="0" rtlCol="0" anchor="ctr"/>
          <a:lstStyle/>
          <a:p>
            <a:pPr indent="0" marL="0">
              <a:buNone/>
            </a:pPr>
            <a:r>
              <a:rPr lang="en-US" sz="1700" b="1" dirty="0">
                <a:solidFill>
                  <a:srgbClr val="8E2B30"/>
                </a:solidFill>
                <a:latin typeface="Calibri" pitchFamily="34" charset="0"/>
                <a:ea typeface="Calibri" pitchFamily="34" charset="-122"/>
                <a:cs typeface="Calibri" pitchFamily="34" charset="-120"/>
              </a:rPr>
              <a:t>Light and dark</a:t>
            </a:r>
            <a:endParaRPr lang="en-US" sz="1700" dirty="0"/>
          </a:p>
        </p:txBody>
      </p:sp>
      <p:sp>
        <p:nvSpPr>
          <p:cNvPr id="11" name="Text 9"/>
          <p:cNvSpPr txBox="1"/>
          <p:nvPr/>
        </p:nvSpPr>
        <p:spPr>
          <a:xfrm>
            <a:off x="6172200" y="3977640"/>
            <a:ext cx="4937760" cy="822960"/>
          </a:xfrm>
          <a:prstGeom prst="rect">
            <a:avLst/>
          </a:prstGeom>
          <a:noFill/>
          <a:ln/>
        </p:spPr>
        <p:txBody>
          <a:bodyPr wrap="square" lIns="0" tIns="0" rIns="0" bIns="0" rtlCol="0" anchor="ctr"/>
          <a:lstStyle/>
          <a:p>
            <a:pPr indent="0" marL="0">
              <a:lnSpc>
                <a:spcPct val="120000"/>
              </a:lnSpc>
              <a:buNone/>
            </a:pPr>
            <a:r>
              <a:rPr lang="en-US" sz="1400" dirty="0">
                <a:solidFill>
                  <a:srgbClr val="6B7280"/>
                </a:solidFill>
                <a:latin typeface="Calibri" pitchFamily="34" charset="0"/>
                <a:ea typeface="Calibri" pitchFamily="34" charset="-122"/>
                <a:cs typeface="Calibri" pitchFamily="34" charset="-120"/>
              </a:rPr>
              <a:t>One toggle, remembered per browser.</a:t>
            </a:r>
            <a:endParaRPr lang="en-US" sz="1400" dirty="0"/>
          </a:p>
        </p:txBody>
      </p:sp>
      <p:sp>
        <p:nvSpPr>
          <p:cNvPr id="12" name="Text 10"/>
          <p:cNvSpPr txBox="1"/>
          <p:nvPr/>
        </p:nvSpPr>
        <p:spPr>
          <a:xfrm>
            <a:off x="685800" y="5577840"/>
            <a:ext cx="9144000" cy="365760"/>
          </a:xfrm>
          <a:prstGeom prst="rect">
            <a:avLst/>
          </a:prstGeom>
          <a:noFill/>
          <a:ln/>
        </p:spPr>
        <p:txBody>
          <a:bodyPr wrap="square" lIns="0" tIns="0" rIns="0" bIns="0" rtlCol="0" anchor="ctr"/>
          <a:lstStyle/>
          <a:p>
            <a:pPr indent="0" marL="0">
              <a:buNone/>
            </a:pPr>
            <a:r>
              <a:rPr lang="en-US" sz="1300" dirty="0">
                <a:solidFill>
                  <a:srgbClr val="15181D"/>
                </a:solidFill>
                <a:latin typeface="Courier New" pitchFamily="34" charset="0"/>
                <a:ea typeface="Courier New" pitchFamily="34" charset="-122"/>
                <a:cs typeface="Courier New" pitchFamily="34" charset="-120"/>
              </a:rPr>
              <a:t>index.html   ·   style.css   ·   script.js   ·   data.js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81D"/>
        </a:solidFill>
      </p:bgPr>
    </p:bg>
    <p:spTree>
      <p:nvGrpSpPr>
        <p:cNvPr id="1" name=""/>
        <p:cNvGrpSpPr/>
        <p:nvPr/>
      </p:nvGrpSpPr>
      <p:grpSpPr>
        <a:xfrm>
          <a:off x="0" y="0"/>
          <a:ext cx="0" cy="0"/>
          <a:chOff x="0" y="0"/>
          <a:chExt cx="0" cy="0"/>
        </a:xfrm>
      </p:grpSpPr>
      <p:sp>
        <p:nvSpPr>
          <p:cNvPr id="2" name="Text 0"/>
          <p:cNvSpPr txBox="1"/>
          <p:nvPr/>
        </p:nvSpPr>
        <p:spPr>
          <a:xfrm>
            <a:off x="685800" y="137160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is next</a:t>
            </a:r>
            <a:endParaRPr lang="en-US" sz="3400" dirty="0"/>
          </a:p>
        </p:txBody>
      </p:sp>
      <p:sp>
        <p:nvSpPr>
          <p:cNvPr id="3" name="Text 1"/>
          <p:cNvSpPr txBox="1"/>
          <p:nvPr/>
        </p:nvSpPr>
        <p:spPr>
          <a:xfrm>
            <a:off x="685800" y="2286000"/>
            <a:ext cx="9601200" cy="457200"/>
          </a:xfrm>
          <a:prstGeom prst="rect">
            <a:avLst/>
          </a:prstGeom>
          <a:noFill/>
          <a:ln/>
        </p:spPr>
        <p:txBody>
          <a:bodyPr wrap="square" lIns="0" tIns="0" rIns="0" bIns="0" rtlCol="0" anchor="ctr"/>
          <a:lstStyle/>
          <a:p>
            <a:pPr marL="342900" indent="-342900">
              <a:buSzPct val="100000"/>
              <a:buChar char="•"/>
            </a:pPr>
            <a:r>
              <a:rPr lang="en-US" sz="1700" dirty="0">
                <a:solidFill>
                  <a:srgbClr val="C9CDD3"/>
                </a:solidFill>
                <a:latin typeface="Calibri" pitchFamily="34" charset="0"/>
                <a:ea typeface="Calibri" pitchFamily="34" charset="-122"/>
                <a:cs typeface="Calibri" pitchFamily="34" charset="-120"/>
              </a:rPr>
              <a:t>Connect to the HR system so the numbers are live instead of seeded.</a:t>
            </a:r>
            <a:endParaRPr lang="en-US" sz="1700" dirty="0"/>
          </a:p>
        </p:txBody>
      </p:sp>
      <p:sp>
        <p:nvSpPr>
          <p:cNvPr id="4" name="Text 2"/>
          <p:cNvSpPr txBox="1"/>
          <p:nvPr/>
        </p:nvSpPr>
        <p:spPr>
          <a:xfrm>
            <a:off x="685800" y="2852928"/>
            <a:ext cx="9601200" cy="457200"/>
          </a:xfrm>
          <a:prstGeom prst="rect">
            <a:avLst/>
          </a:prstGeom>
          <a:noFill/>
          <a:ln/>
        </p:spPr>
        <p:txBody>
          <a:bodyPr wrap="square" lIns="0" tIns="0" rIns="0" bIns="0" rtlCol="0" anchor="ctr"/>
          <a:lstStyle/>
          <a:p>
            <a:pPr marL="342900" indent="-342900">
              <a:buSzPct val="100000"/>
              <a:buChar char="•"/>
            </a:pPr>
            <a:r>
              <a:rPr lang="en-US" sz="1700" dirty="0">
                <a:solidFill>
                  <a:srgbClr val="C9CDD3"/>
                </a:solidFill>
                <a:latin typeface="Calibri" pitchFamily="34" charset="0"/>
                <a:ea typeface="Calibri" pitchFamily="34" charset="-122"/>
                <a:cs typeface="Calibri" pitchFamily="34" charset="-120"/>
              </a:rPr>
              <a:t>Match people to plans automatically, instead of one written step per skill.</a:t>
            </a:r>
            <a:endParaRPr lang="en-US" sz="1700" dirty="0"/>
          </a:p>
        </p:txBody>
      </p:sp>
      <p:sp>
        <p:nvSpPr>
          <p:cNvPr id="5" name="Text 3"/>
          <p:cNvSpPr txBox="1"/>
          <p:nvPr/>
        </p:nvSpPr>
        <p:spPr>
          <a:xfrm>
            <a:off x="685800" y="3419856"/>
            <a:ext cx="9601200" cy="457200"/>
          </a:xfrm>
          <a:prstGeom prst="rect">
            <a:avLst/>
          </a:prstGeom>
          <a:noFill/>
          <a:ln/>
        </p:spPr>
        <p:txBody>
          <a:bodyPr wrap="square" lIns="0" tIns="0" rIns="0" bIns="0" rtlCol="0" anchor="ctr"/>
          <a:lstStyle/>
          <a:p>
            <a:pPr marL="342900" indent="-342900">
              <a:buSzPct val="100000"/>
              <a:buChar char="•"/>
            </a:pPr>
            <a:r>
              <a:rPr lang="en-US" sz="1700" dirty="0">
                <a:solidFill>
                  <a:srgbClr val="C9CDD3"/>
                </a:solidFill>
                <a:latin typeface="Calibri" pitchFamily="34" charset="0"/>
                <a:ea typeface="Calibri" pitchFamily="34" charset="-122"/>
                <a:cs typeface="Calibri" pitchFamily="34" charset="-120"/>
              </a:rPr>
              <a:t>Badge tap at a plant that pulls up that person's skills and training.</a:t>
            </a:r>
            <a:endParaRPr lang="en-US" sz="1700" dirty="0"/>
          </a:p>
        </p:txBody>
      </p:sp>
      <p:sp>
        <p:nvSpPr>
          <p:cNvPr id="6" name="Text 4"/>
          <p:cNvSpPr txBox="1"/>
          <p:nvPr/>
        </p:nvSpPr>
        <p:spPr>
          <a:xfrm>
            <a:off x="685800" y="4937760"/>
            <a:ext cx="73152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github.com/Aj-Networks/schwan_s</a:t>
            </a:r>
            <a:endParaRPr lang="en-US" sz="1600" dirty="0"/>
          </a:p>
        </p:txBody>
      </p:sp>
      <p:sp>
        <p:nvSpPr>
          <p:cNvPr id="7" name="Text 5"/>
          <p:cNvSpPr txBox="1"/>
          <p:nvPr/>
        </p:nvSpPr>
        <p:spPr>
          <a:xfrm>
            <a:off x="685800" y="5806440"/>
            <a:ext cx="9144000" cy="365760"/>
          </a:xfrm>
          <a:prstGeom prst="rect">
            <a:avLst/>
          </a:prstGeom>
          <a:noFill/>
          <a:ln/>
        </p:spPr>
        <p:txBody>
          <a:bodyPr wrap="square" lIns="0" tIns="0" rIns="0" bIns="0" rtlCol="0" anchor="ctr"/>
          <a:lstStyle/>
          <a:p>
            <a:pPr indent="0" marL="0">
              <a:buNone/>
            </a:pPr>
            <a:r>
              <a:rPr lang="en-US" sz="1200" dirty="0">
                <a:solidFill>
                  <a:srgbClr val="8B939E"/>
                </a:solidFill>
                <a:latin typeface="Calibri" pitchFamily="34" charset="0"/>
                <a:ea typeface="Calibri" pitchFamily="34" charset="-122"/>
                <a:cs typeface="Calibri" pitchFamily="34" charset="-120"/>
              </a:rPr>
              <a:t>Demo numbers. Plant names, offices, job groups and business drivers are real.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SkillSight</dc:title>
  <dc:subject>PptxGenJS Presentation</dc:subject>
  <dc:creator>Ajay Angdembe</dc:creator>
  <cp:lastModifiedBy>Ajay Angdembe</cp:lastModifiedBy>
  <cp:revision>1</cp:revision>
  <dcterms:created xsi:type="dcterms:W3CDTF">2026-09-13T02:24:23Z</dcterms:created>
  <dcterms:modified xsi:type="dcterms:W3CDTF">2026-09-13T02:24:23Z</dcterms:modified>
</cp:coreProperties>
</file>