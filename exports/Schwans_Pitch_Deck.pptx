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SkillSight. What skills Schwan's has, where they are missing, and where one person leaving stops the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More than a dozen US plants, four job groups, a new plant in 2027. No single place that shows what people can 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question per page, in the order the prompt asks. No dashboard wall.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Seven skills under forty percent. The worst is the Salina line setup at twelve.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skills held by three people or fewer. One by a single person.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Ranking is the difference. A manager gets a list, not a puzzle.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Sioux Falls opens in 2027 and needs automation techs. We are at 34 percent and need 65.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Plain HTML, CSS and JavaScript. Open index.html and it runs.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Thank you.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questions judges ask most. The seventh answer is: I do not know, and I would rather find out than guess.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232E54"/>
          </a:solidFill>
          <a:ln w="12700">
            <a:solidFill>
              <a:srgbClr val="232E5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138160"/>
            <a:ext cx="18288000" cy="2148840"/>
          </a:xfrm>
          <a:prstGeom prst="rect">
            <a:avLst/>
          </a:prstGeom>
          <a:solidFill>
            <a:srgbClr val="324070"/>
          </a:solidFill>
          <a:ln w="12700">
            <a:solidFill>
              <a:srgbClr val="32407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280160" y="2194560"/>
            <a:ext cx="84124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1600" dirty="0">
                <a:solidFill>
                  <a:srgbClr val="FFFFFF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SkillSight</a:t>
            </a:r>
            <a:endParaRPr lang="en-US" sz="11600" dirty="0"/>
          </a:p>
        </p:txBody>
      </p:sp>
      <p:sp>
        <p:nvSpPr>
          <p:cNvPr id="5" name="Shape 3"/>
          <p:cNvSpPr/>
          <p:nvPr/>
        </p:nvSpPr>
        <p:spPr>
          <a:xfrm>
            <a:off x="1280160" y="4480560"/>
            <a:ext cx="5852160" cy="0"/>
          </a:xfrm>
          <a:prstGeom prst="line">
            <a:avLst/>
          </a:prstGeom>
          <a:noFill/>
          <a:ln w="25400">
            <a:solidFill>
              <a:srgbClr val="44528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280160" y="4709160"/>
            <a:ext cx="1188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6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WORKFORCE SKILLS INTELLIGENCE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5532120"/>
            <a:ext cx="10972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2100" dirty="0">
                <a:solidFill>
                  <a:srgbClr val="B9C2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skills Schwan's people have, where those skills are missing,</a:t>
            </a:r>
            <a:endParaRPr lang="en-US" sz="2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2100" dirty="0">
                <a:solidFill>
                  <a:srgbClr val="B9C2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where one person leaving stops the work.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14264640" y="2148840"/>
            <a:ext cx="2743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600" dirty="0">
                <a:solidFill>
                  <a:srgbClr val="324070"/>
                </a:solidFill>
                <a:latin typeface="Bahnschrift Light" pitchFamily="34" charset="0"/>
                <a:ea typeface="Bahnschrift Light" pitchFamily="34" charset="-122"/>
                <a:cs typeface="Bahnschrift Light" pitchFamily="34" charset="-120"/>
              </a:rPr>
              <a:t>20</a:t>
            </a:r>
            <a:endParaRPr lang="en-US" sz="9600" dirty="0"/>
          </a:p>
        </p:txBody>
      </p:sp>
      <p:sp>
        <p:nvSpPr>
          <p:cNvPr id="9" name="Text 7"/>
          <p:cNvSpPr txBox="1"/>
          <p:nvPr/>
        </p:nvSpPr>
        <p:spPr>
          <a:xfrm>
            <a:off x="14264640" y="38862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spc="200" kern="0" dirty="0">
                <a:solidFill>
                  <a:srgbClr val="4452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TRACKED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4264640" y="4663440"/>
            <a:ext cx="2743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600" dirty="0">
                <a:solidFill>
                  <a:srgbClr val="324070"/>
                </a:solidFill>
                <a:latin typeface="Bahnschrift Light" pitchFamily="34" charset="0"/>
                <a:ea typeface="Bahnschrift Light" pitchFamily="34" charset="-122"/>
                <a:cs typeface="Bahnschrift Light" pitchFamily="34" charset="-120"/>
              </a:rPr>
              <a:t>06</a:t>
            </a:r>
            <a:endParaRPr lang="en-US" sz="9600" dirty="0"/>
          </a:p>
        </p:txBody>
      </p:sp>
      <p:sp>
        <p:nvSpPr>
          <p:cNvPr id="11" name="Text 9"/>
          <p:cNvSpPr txBox="1"/>
          <p:nvPr/>
        </p:nvSpPr>
        <p:spPr>
          <a:xfrm>
            <a:off x="14264640" y="64008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spc="200" kern="0" dirty="0">
                <a:solidFill>
                  <a:srgbClr val="4452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 BY THREE OR FEWER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8641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8E98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SOUTHWEST MN HACKS 2026  ·  SCHWAN'S PROMPT 01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9052560"/>
            <a:ext cx="1371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Talent Readiness and Skills Intelligence  ·  Ajay Angdembe, solo  ·  github.com/Aj-Networks/schwan_s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280160" y="9144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E7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1280160" y="1371600"/>
            <a:ext cx="13716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4400" dirty="0">
                <a:solidFill>
                  <a:srgbClr val="232E54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Skills data sits in different places,</a:t>
            </a:r>
            <a:endParaRPr lang="en-US" sz="44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4400" dirty="0">
                <a:solidFill>
                  <a:srgbClr val="232E54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so a simple question has no answer.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3840480"/>
            <a:ext cx="11887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400" i="1" dirty="0">
                <a:solidFill>
                  <a:srgbClr val="324070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“If the person who knows the ammonia system leaves,</a:t>
            </a:r>
            <a:endParaRPr lang="en-US" sz="3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400" i="1" dirty="0">
                <a:solidFill>
                  <a:srgbClr val="324070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who else can do it?”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5669280"/>
            <a:ext cx="1188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6E7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that answer takes phone calls to three plants. It should take one click.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6949440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rgbClr val="18212F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12+</a:t>
            </a:r>
            <a:endParaRPr lang="en-US" sz="54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80467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7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facilities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212080" y="6949440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rgbClr val="18212F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4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5212080" y="80467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7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groups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144000" y="6949440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rgbClr val="18212F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2027</a:t>
            </a:r>
            <a:endParaRPr lang="en-US" sz="5400" dirty="0"/>
          </a:p>
        </p:txBody>
      </p:sp>
      <p:sp>
        <p:nvSpPr>
          <p:cNvPr id="11" name="Text 9"/>
          <p:cNvSpPr txBox="1"/>
          <p:nvPr/>
        </p:nvSpPr>
        <p:spPr>
          <a:xfrm>
            <a:off x="9144000" y="80467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7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Sioux Falls opens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075920" y="6949440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rgbClr val="232E54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0</a:t>
            </a:r>
            <a:endParaRPr lang="en-US" sz="5400" dirty="0"/>
          </a:p>
        </p:txBody>
      </p:sp>
      <p:sp>
        <p:nvSpPr>
          <p:cNvPr id="13" name="Text 11"/>
          <p:cNvSpPr txBox="1"/>
          <p:nvPr/>
        </p:nvSpPr>
        <p:spPr>
          <a:xfrm>
            <a:off x="13075920" y="80467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7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view of skills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1280160" y="6812280"/>
            <a:ext cx="1572768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80160" y="9189720"/>
            <a:ext cx="1572768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280160" y="937260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6E7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APP   </a:t>
            </a:r>
            <a:pPr indent="0" marL="0">
              <a:buNone/>
            </a:pPr>
            <a:r>
              <a:rPr lang="en-US" sz="1400" dirty="0">
                <a:solidFill>
                  <a:srgbClr val="182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whole app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9418320" y="9372600"/>
            <a:ext cx="7589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6E7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NUMBERS FROM   </a:t>
            </a:r>
            <a:pPr indent="0" marL="0">
              <a:buNone/>
            </a:pPr>
            <a:r>
              <a:rPr lang="en-US" sz="1400" dirty="0">
                <a:solidFill>
                  <a:srgbClr val="182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Facility count and job groups from Schwan's careers site.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00" cy="10287000"/>
          </a:xfrm>
          <a:prstGeom prst="rect">
            <a:avLst/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280160" y="9144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E7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371600"/>
            <a:ext cx="4754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4000" dirty="0">
                <a:solidFill>
                  <a:srgbClr val="232E54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Six pages.</a:t>
            </a:r>
            <a:endParaRPr lang="en-US" sz="4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4000" dirty="0">
                <a:solidFill>
                  <a:srgbClr val="232E54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One question each.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4023360"/>
            <a:ext cx="39319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700" dirty="0">
                <a:solidFill>
                  <a:srgbClr val="6E7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five questions in the challenge, in the order the challenge asks them, plus the view built for the employee rather than the manager.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406640" y="1124712"/>
            <a:ext cx="1097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dirty="0">
                <a:solidFill>
                  <a:srgbClr val="C3CCDA"/>
                </a:solidFill>
                <a:latin typeface="Bahnschrift Light" pitchFamily="34" charset="0"/>
                <a:ea typeface="Bahnschrift Light" pitchFamily="34" charset="-122"/>
                <a:cs typeface="Bahnschrift Light" pitchFamily="34" charset="-120"/>
              </a:rPr>
              <a:t>01</a:t>
            </a:r>
            <a:endParaRPr lang="en-US" sz="4200" dirty="0"/>
          </a:p>
        </p:txBody>
      </p:sp>
      <p:sp>
        <p:nvSpPr>
          <p:cNvPr id="7" name="Text 5"/>
          <p:cNvSpPr txBox="1"/>
          <p:nvPr/>
        </p:nvSpPr>
        <p:spPr>
          <a:xfrm>
            <a:off x="8686800" y="121615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32E54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Overview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12070080" y="1289304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7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ranked order of work, plus where coverage is lowest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406640" y="2130552"/>
            <a:ext cx="96012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406640" y="2423160"/>
            <a:ext cx="1097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dirty="0">
                <a:solidFill>
                  <a:srgbClr val="C3CCDA"/>
                </a:solidFill>
                <a:latin typeface="Bahnschrift Light" pitchFamily="34" charset="0"/>
                <a:ea typeface="Bahnschrift Light" pitchFamily="34" charset="-122"/>
                <a:cs typeface="Bahnschrift Light" pitchFamily="34" charset="-120"/>
              </a:rPr>
              <a:t>02</a:t>
            </a:r>
            <a:endParaRPr lang="en-US" sz="4200" dirty="0"/>
          </a:p>
        </p:txBody>
      </p:sp>
      <p:sp>
        <p:nvSpPr>
          <p:cNvPr id="11" name="Text 9"/>
          <p:cNvSpPr txBox="1"/>
          <p:nvPr/>
        </p:nvSpPr>
        <p:spPr>
          <a:xfrm>
            <a:off x="8686800" y="25146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32E54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Skills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0" y="2587752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7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skill and how well each one is covered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406640" y="3429000"/>
            <a:ext cx="96012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406640" y="3721608"/>
            <a:ext cx="1097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dirty="0">
                <a:solidFill>
                  <a:srgbClr val="C3CCDA"/>
                </a:solidFill>
                <a:latin typeface="Bahnschrift Light" pitchFamily="34" charset="0"/>
                <a:ea typeface="Bahnschrift Light" pitchFamily="34" charset="-122"/>
                <a:cs typeface="Bahnschrift Light" pitchFamily="34" charset="-120"/>
              </a:rPr>
              <a:t>03</a:t>
            </a:r>
            <a:endParaRPr lang="en-US" sz="4200" dirty="0"/>
          </a:p>
        </p:txBody>
      </p:sp>
      <p:sp>
        <p:nvSpPr>
          <p:cNvPr id="15" name="Text 13"/>
          <p:cNvSpPr txBox="1"/>
          <p:nvPr/>
        </p:nvSpPr>
        <p:spPr>
          <a:xfrm>
            <a:off x="8686800" y="381304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32E54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Future skills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12070080" y="388620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7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next two years need, and the shortfall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7406640" y="4727448"/>
            <a:ext cx="96012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406640" y="5020056"/>
            <a:ext cx="1097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dirty="0">
                <a:solidFill>
                  <a:srgbClr val="C3CCDA"/>
                </a:solidFill>
                <a:latin typeface="Bahnschrift Light" pitchFamily="34" charset="0"/>
                <a:ea typeface="Bahnschrift Light" pitchFamily="34" charset="-122"/>
                <a:cs typeface="Bahnschrift Light" pitchFamily="34" charset="-120"/>
              </a:rPr>
              <a:t>04</a:t>
            </a:r>
            <a:endParaRPr lang="en-US" sz="4200" dirty="0"/>
          </a:p>
        </p:txBody>
      </p:sp>
      <p:sp>
        <p:nvSpPr>
          <p:cNvPr id="19" name="Text 17"/>
          <p:cNvSpPr txBox="1"/>
          <p:nvPr/>
        </p:nvSpPr>
        <p:spPr>
          <a:xfrm>
            <a:off x="8686800" y="5111496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32E54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Succession risk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12070080" y="5184648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7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held by three people or fewer, and what it costs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7406640" y="6025896"/>
            <a:ext cx="96012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406640" y="6318504"/>
            <a:ext cx="1097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dirty="0">
                <a:solidFill>
                  <a:srgbClr val="C3CCDA"/>
                </a:solidFill>
                <a:latin typeface="Bahnschrift Light" pitchFamily="34" charset="0"/>
                <a:ea typeface="Bahnschrift Light" pitchFamily="34" charset="-122"/>
                <a:cs typeface="Bahnschrift Light" pitchFamily="34" charset="-120"/>
              </a:rPr>
              <a:t>05</a:t>
            </a:r>
            <a:endParaRPr lang="en-US" sz="4200" dirty="0"/>
          </a:p>
        </p:txBody>
      </p:sp>
      <p:sp>
        <p:nvSpPr>
          <p:cNvPr id="23" name="Text 21"/>
          <p:cNvSpPr txBox="1"/>
          <p:nvPr/>
        </p:nvSpPr>
        <p:spPr>
          <a:xfrm>
            <a:off x="8686800" y="6409944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32E54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Employee view</a:t>
            </a:r>
            <a:endParaRPr lang="en-US" sz="2200" dirty="0"/>
          </a:p>
        </p:txBody>
      </p:sp>
      <p:sp>
        <p:nvSpPr>
          <p:cNvPr id="24" name="Text 22"/>
          <p:cNvSpPr txBox="1"/>
          <p:nvPr/>
        </p:nvSpPr>
        <p:spPr>
          <a:xfrm>
            <a:off x="12070080" y="6483096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7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data seen by the person, not the manager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7406640" y="7324344"/>
            <a:ext cx="96012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406640" y="7616952"/>
            <a:ext cx="1097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dirty="0">
                <a:solidFill>
                  <a:srgbClr val="C3CCDA"/>
                </a:solidFill>
                <a:latin typeface="Bahnschrift Light" pitchFamily="34" charset="0"/>
                <a:ea typeface="Bahnschrift Light" pitchFamily="34" charset="-122"/>
                <a:cs typeface="Bahnschrift Light" pitchFamily="34" charset="-120"/>
              </a:rPr>
              <a:t>06</a:t>
            </a:r>
            <a:endParaRPr lang="en-US" sz="4200" dirty="0"/>
          </a:p>
        </p:txBody>
      </p:sp>
      <p:sp>
        <p:nvSpPr>
          <p:cNvPr id="27" name="Text 25"/>
          <p:cNvSpPr txBox="1"/>
          <p:nvPr/>
        </p:nvSpPr>
        <p:spPr>
          <a:xfrm>
            <a:off x="8686800" y="770839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32E54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Plants and offices</a:t>
            </a:r>
            <a:endParaRPr lang="en-US" sz="2200" dirty="0"/>
          </a:p>
        </p:txBody>
      </p:sp>
      <p:sp>
        <p:nvSpPr>
          <p:cNvPr id="28" name="Text 26"/>
          <p:cNvSpPr txBox="1"/>
          <p:nvPr/>
        </p:nvSpPr>
        <p:spPr>
          <a:xfrm>
            <a:off x="12070080" y="7781544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7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site the data covers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280160" y="9144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E7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1 AND 4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1280160" y="1371600"/>
            <a:ext cx="1371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4400" dirty="0">
                <a:solidFill>
                  <a:srgbClr val="232E54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Seven skills sit under 40 percent.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2880360"/>
            <a:ext cx="1234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E7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is the share of a job group that holds the skill. Under 40 percent means most of the group cannot do that work.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379476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8212F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Salina line setup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5852160" y="3886200"/>
            <a:ext cx="8778240" cy="237744"/>
          </a:xfrm>
          <a:prstGeom prst="roundRect">
            <a:avLst>
              <a:gd name="adj" fmla="val 192308"/>
            </a:avLst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3886200"/>
            <a:ext cx="1053389" cy="237744"/>
          </a:xfrm>
          <a:prstGeom prst="roundRect">
            <a:avLst>
              <a:gd name="adj" fmla="val 192308"/>
            </a:avLst>
          </a:prstGeom>
          <a:solidFill>
            <a:srgbClr val="232E54"/>
          </a:solidFill>
          <a:ln w="12700">
            <a:solidFill>
              <a:srgbClr val="232E5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4904720" y="381304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821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12%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280160" y="4379976"/>
            <a:ext cx="1572768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280160" y="4544568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8212F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R&amp;D, food science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5852160" y="4636008"/>
            <a:ext cx="8778240" cy="237744"/>
          </a:xfrm>
          <a:prstGeom prst="roundRect">
            <a:avLst>
              <a:gd name="adj" fmla="val 192308"/>
            </a:avLst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852160" y="4636008"/>
            <a:ext cx="1580083" cy="237744"/>
          </a:xfrm>
          <a:prstGeom prst="roundRect">
            <a:avLst>
              <a:gd name="adj" fmla="val 192308"/>
            </a:avLst>
          </a:prstGeom>
          <a:solidFill>
            <a:srgbClr val="324070"/>
          </a:solidFill>
          <a:ln w="12700">
            <a:solidFill>
              <a:srgbClr val="32407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4904720" y="4562856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821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18%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1280160" y="5129784"/>
            <a:ext cx="1572768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280160" y="5294376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8212F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Legal and compliance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5852160" y="5385816"/>
            <a:ext cx="8778240" cy="237744"/>
          </a:xfrm>
          <a:prstGeom prst="roundRect">
            <a:avLst>
              <a:gd name="adj" fmla="val 192308"/>
            </a:avLst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852160" y="5385816"/>
            <a:ext cx="1755648" cy="237744"/>
          </a:xfrm>
          <a:prstGeom prst="roundRect">
            <a:avLst>
              <a:gd name="adj" fmla="val 192308"/>
            </a:avLst>
          </a:prstGeom>
          <a:solidFill>
            <a:srgbClr val="324070"/>
          </a:solidFill>
          <a:ln w="12700">
            <a:solidFill>
              <a:srgbClr val="32407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4904720" y="5312664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821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20%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1280160" y="5879592"/>
            <a:ext cx="1572768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280160" y="6044184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8212F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Refrigeration and ammonia</a:t>
            </a:r>
            <a:endParaRPr lang="en-US" sz="1900" dirty="0"/>
          </a:p>
        </p:txBody>
      </p:sp>
      <p:sp>
        <p:nvSpPr>
          <p:cNvPr id="21" name="Shape 19"/>
          <p:cNvSpPr/>
          <p:nvPr/>
        </p:nvSpPr>
        <p:spPr>
          <a:xfrm>
            <a:off x="5852160" y="6135624"/>
            <a:ext cx="8778240" cy="237744"/>
          </a:xfrm>
          <a:prstGeom prst="roundRect">
            <a:avLst>
              <a:gd name="adj" fmla="val 192308"/>
            </a:avLst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852160" y="6135624"/>
            <a:ext cx="1931213" cy="237744"/>
          </a:xfrm>
          <a:prstGeom prst="roundRect">
            <a:avLst>
              <a:gd name="adj" fmla="val 192308"/>
            </a:avLst>
          </a:prstGeom>
          <a:solidFill>
            <a:srgbClr val="324070"/>
          </a:solidFill>
          <a:ln w="12700">
            <a:solidFill>
              <a:srgbClr val="32407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4904720" y="6062472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821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22%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1280160" y="6629400"/>
            <a:ext cx="1572768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280160" y="679399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8212F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Menu and culinary consulting</a:t>
            </a:r>
            <a:endParaRPr lang="en-US" sz="1900" dirty="0"/>
          </a:p>
        </p:txBody>
      </p:sp>
      <p:sp>
        <p:nvSpPr>
          <p:cNvPr id="26" name="Shape 24"/>
          <p:cNvSpPr/>
          <p:nvPr/>
        </p:nvSpPr>
        <p:spPr>
          <a:xfrm>
            <a:off x="5852160" y="6885432"/>
            <a:ext cx="8778240" cy="237744"/>
          </a:xfrm>
          <a:prstGeom prst="roundRect">
            <a:avLst>
              <a:gd name="adj" fmla="val 192308"/>
            </a:avLst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852160" y="6885432"/>
            <a:ext cx="2545690" cy="237744"/>
          </a:xfrm>
          <a:prstGeom prst="roundRect">
            <a:avLst>
              <a:gd name="adj" fmla="val 192308"/>
            </a:avLst>
          </a:prstGeom>
          <a:solidFill>
            <a:srgbClr val="324070"/>
          </a:solidFill>
          <a:ln w="12700">
            <a:solidFill>
              <a:srgbClr val="32407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4904720" y="681228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821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29%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1280160" y="7379208"/>
            <a:ext cx="1572768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280160" y="754380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8212F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PLC and automation</a:t>
            </a:r>
            <a:endParaRPr lang="en-US" sz="1900" dirty="0"/>
          </a:p>
        </p:txBody>
      </p:sp>
      <p:sp>
        <p:nvSpPr>
          <p:cNvPr id="31" name="Shape 29"/>
          <p:cNvSpPr/>
          <p:nvPr/>
        </p:nvSpPr>
        <p:spPr>
          <a:xfrm>
            <a:off x="5852160" y="7635240"/>
            <a:ext cx="8778240" cy="237744"/>
          </a:xfrm>
          <a:prstGeom prst="roundRect">
            <a:avLst>
              <a:gd name="adj" fmla="val 192308"/>
            </a:avLst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852160" y="7635240"/>
            <a:ext cx="2984602" cy="237744"/>
          </a:xfrm>
          <a:prstGeom prst="roundRect">
            <a:avLst>
              <a:gd name="adj" fmla="val 192308"/>
            </a:avLst>
          </a:prstGeom>
          <a:solidFill>
            <a:srgbClr val="324070"/>
          </a:solidFill>
          <a:ln w="12700">
            <a:solidFill>
              <a:srgbClr val="32407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14904720" y="756208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821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34%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1280160" y="8129016"/>
            <a:ext cx="1572768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280160" y="8293608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8212F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Lean and Six Sigma</a:t>
            </a:r>
            <a:endParaRPr lang="en-US" sz="1900" dirty="0"/>
          </a:p>
        </p:txBody>
      </p:sp>
      <p:sp>
        <p:nvSpPr>
          <p:cNvPr id="36" name="Shape 34"/>
          <p:cNvSpPr/>
          <p:nvPr/>
        </p:nvSpPr>
        <p:spPr>
          <a:xfrm>
            <a:off x="5852160" y="8385048"/>
            <a:ext cx="8778240" cy="237744"/>
          </a:xfrm>
          <a:prstGeom prst="roundRect">
            <a:avLst>
              <a:gd name="adj" fmla="val 192308"/>
            </a:avLst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852160" y="8385048"/>
            <a:ext cx="3335731" cy="237744"/>
          </a:xfrm>
          <a:prstGeom prst="roundRect">
            <a:avLst>
              <a:gd name="adj" fmla="val 192308"/>
            </a:avLst>
          </a:prstGeom>
          <a:solidFill>
            <a:srgbClr val="324070"/>
          </a:solidFill>
          <a:ln w="12700">
            <a:solidFill>
              <a:srgbClr val="324070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14904720" y="8311896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821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38%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1280160" y="9189720"/>
            <a:ext cx="1572768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1280160" y="937260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6E7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APP   </a:t>
            </a:r>
            <a:pPr indent="0" marL="0">
              <a:buNone/>
            </a:pPr>
            <a:r>
              <a:rPr lang="en-US" sz="1400" dirty="0">
                <a:solidFill>
                  <a:srgbClr val="182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 and Skills tabs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9418320" y="9372600"/>
            <a:ext cx="7589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6E7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NUMBERS FROM   </a:t>
            </a:r>
            <a:pPr indent="0" marL="0">
              <a:buNone/>
            </a:pPr>
            <a:r>
              <a:rPr lang="en-US" sz="1400" dirty="0">
                <a:solidFill>
                  <a:srgbClr val="182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coverage figures, stated as demo data on screen.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232E54"/>
          </a:solidFill>
          <a:ln w="12700">
            <a:solidFill>
              <a:srgbClr val="232E5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607040" y="-365760"/>
            <a:ext cx="8229600" cy="10972800"/>
          </a:xfrm>
          <a:prstGeom prst="rect">
            <a:avLst/>
          </a:prstGeom>
          <a:solidFill>
            <a:srgbClr val="324070"/>
          </a:solidFill>
          <a:ln w="12700">
            <a:solidFill>
              <a:srgbClr val="32407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280160" y="9144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8E98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3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371600"/>
            <a:ext cx="8595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4000" dirty="0">
                <a:solidFill>
                  <a:srgbClr val="FFFFFF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Six skills are held by</a:t>
            </a:r>
            <a:endParaRPr lang="en-US" sz="4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4000" dirty="0">
                <a:solidFill>
                  <a:srgbClr val="FFFFFF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three people or fewer.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4114800"/>
            <a:ext cx="8412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900" dirty="0">
                <a:solidFill>
                  <a:srgbClr val="B9C2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of them is held by a single person, at the Marshall R&amp;D centre. If that person leaves, frozen dough formulation leaves with them.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6217920"/>
            <a:ext cx="8412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A skill known by one person is not a statistic.</a:t>
            </a:r>
            <a:endParaRPr lang="en-US" sz="2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It is a production risk with a name on it.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11064240" y="941832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1</a:t>
            </a:r>
            <a:endParaRPr lang="en-US" sz="4600" dirty="0"/>
          </a:p>
        </p:txBody>
      </p:sp>
      <p:sp>
        <p:nvSpPr>
          <p:cNvPr id="9" name="Text 7"/>
          <p:cNvSpPr txBox="1"/>
          <p:nvPr/>
        </p:nvSpPr>
        <p:spPr>
          <a:xfrm>
            <a:off x="12070080" y="1069848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R&amp;D, frozen dough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0" y="15087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9C2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Marshall, MN R&amp;D centre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1064240" y="2039112"/>
            <a:ext cx="5760720" cy="0"/>
          </a:xfrm>
          <a:prstGeom prst="line">
            <a:avLst/>
          </a:prstGeom>
          <a:noFill/>
          <a:ln w="12700">
            <a:solidFill>
              <a:srgbClr val="44528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1064240" y="2258568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2</a:t>
            </a:r>
            <a:endParaRPr lang="en-US" sz="4600" dirty="0"/>
          </a:p>
        </p:txBody>
      </p:sp>
      <p:sp>
        <p:nvSpPr>
          <p:cNvPr id="13" name="Text 11"/>
          <p:cNvSpPr txBox="1"/>
          <p:nvPr/>
        </p:nvSpPr>
        <p:spPr>
          <a:xfrm>
            <a:off x="12070080" y="2386584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Ammonia refrigeration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12070080" y="2825496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9C2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Marshall, MN ice cream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11064240" y="3355848"/>
            <a:ext cx="5760720" cy="0"/>
          </a:xfrm>
          <a:prstGeom prst="line">
            <a:avLst/>
          </a:prstGeom>
          <a:noFill/>
          <a:ln w="12700">
            <a:solidFill>
              <a:srgbClr val="44528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1064240" y="3575304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2</a:t>
            </a:r>
            <a:endParaRPr lang="en-US" sz="4600" dirty="0"/>
          </a:p>
        </p:txBody>
      </p:sp>
      <p:sp>
        <p:nvSpPr>
          <p:cNvPr id="17" name="Text 15"/>
          <p:cNvSpPr txBox="1"/>
          <p:nvPr/>
        </p:nvSpPr>
        <p:spPr>
          <a:xfrm>
            <a:off x="12070080" y="370332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Food labeling rules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12070080" y="414223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9C2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Hopkins, MN corporate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11064240" y="4672584"/>
            <a:ext cx="5760720" cy="0"/>
          </a:xfrm>
          <a:prstGeom prst="line">
            <a:avLst/>
          </a:prstGeom>
          <a:noFill/>
          <a:ln w="12700">
            <a:solidFill>
              <a:srgbClr val="44528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1064240" y="489204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2</a:t>
            </a:r>
            <a:endParaRPr lang="en-US" sz="4600" dirty="0"/>
          </a:p>
        </p:txBody>
      </p:sp>
      <p:sp>
        <p:nvSpPr>
          <p:cNvPr id="21" name="Text 19"/>
          <p:cNvSpPr txBox="1"/>
          <p:nvPr/>
        </p:nvSpPr>
        <p:spPr>
          <a:xfrm>
            <a:off x="12070080" y="5020056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Salina line setup</a:t>
            </a:r>
            <a:endParaRPr lang="en-US" sz="1900" dirty="0"/>
          </a:p>
        </p:txBody>
      </p:sp>
      <p:sp>
        <p:nvSpPr>
          <p:cNvPr id="22" name="Text 20"/>
          <p:cNvSpPr txBox="1"/>
          <p:nvPr/>
        </p:nvSpPr>
        <p:spPr>
          <a:xfrm>
            <a:off x="12070080" y="545896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9C2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Salina, KS pizza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11064240" y="5989320"/>
            <a:ext cx="5760720" cy="0"/>
          </a:xfrm>
          <a:prstGeom prst="line">
            <a:avLst/>
          </a:prstGeom>
          <a:noFill/>
          <a:ln w="12700">
            <a:solidFill>
              <a:srgbClr val="44528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1064240" y="6208776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3</a:t>
            </a:r>
            <a:endParaRPr lang="en-US" sz="4600" dirty="0"/>
          </a:p>
        </p:txBody>
      </p:sp>
      <p:sp>
        <p:nvSpPr>
          <p:cNvPr id="25" name="Text 23"/>
          <p:cNvSpPr txBox="1"/>
          <p:nvPr/>
        </p:nvSpPr>
        <p:spPr>
          <a:xfrm>
            <a:off x="12070080" y="6336792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PLC automation</a:t>
            </a:r>
            <a:endParaRPr lang="en-US" sz="1900" dirty="0"/>
          </a:p>
        </p:txBody>
      </p:sp>
      <p:sp>
        <p:nvSpPr>
          <p:cNvPr id="26" name="Text 24"/>
          <p:cNvSpPr txBox="1"/>
          <p:nvPr/>
        </p:nvSpPr>
        <p:spPr>
          <a:xfrm>
            <a:off x="12070080" y="6775704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9C2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Salina, KS pizza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11064240" y="7306056"/>
            <a:ext cx="5760720" cy="0"/>
          </a:xfrm>
          <a:prstGeom prst="line">
            <a:avLst/>
          </a:prstGeom>
          <a:noFill/>
          <a:ln w="12700">
            <a:solidFill>
              <a:srgbClr val="44528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1064240" y="7525512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3</a:t>
            </a:r>
            <a:endParaRPr lang="en-US" sz="4600" dirty="0"/>
          </a:p>
        </p:txBody>
      </p:sp>
      <p:sp>
        <p:nvSpPr>
          <p:cNvPr id="29" name="Text 27"/>
          <p:cNvSpPr txBox="1"/>
          <p:nvPr/>
        </p:nvSpPr>
        <p:spPr>
          <a:xfrm>
            <a:off x="12070080" y="7653528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Culinary consulting</a:t>
            </a:r>
            <a:endParaRPr lang="en-US" sz="1900" dirty="0"/>
          </a:p>
        </p:txBody>
      </p:sp>
      <p:sp>
        <p:nvSpPr>
          <p:cNvPr id="30" name="Text 28"/>
          <p:cNvSpPr txBox="1"/>
          <p:nvPr/>
        </p:nvSpPr>
        <p:spPr>
          <a:xfrm>
            <a:off x="12070080" y="80924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9C2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Field, national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1280160" y="9189720"/>
            <a:ext cx="15727680" cy="0"/>
          </a:xfrm>
          <a:prstGeom prst="line">
            <a:avLst/>
          </a:prstGeom>
          <a:noFill/>
          <a:ln w="12700">
            <a:solidFill>
              <a:srgbClr val="32407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280160" y="937260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E98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APP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Succession risk tab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9418320" y="9372600"/>
            <a:ext cx="7589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E98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NUMBERS FROM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headcounts. The ammonia roster exists by law: OSHA 1910.119.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280160" y="9144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E7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PART THAT MATTERS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1280160" y="1371600"/>
            <a:ext cx="14081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4000" dirty="0">
                <a:solidFill>
                  <a:srgbClr val="232E54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Most dashboards show numbers and stop.</a:t>
            </a:r>
            <a:endParaRPr lang="en-US" sz="4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4000" dirty="0">
                <a:solidFill>
                  <a:srgbClr val="232E54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This one puts them in an order of work.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1280160" y="3931920"/>
            <a:ext cx="4754880" cy="1371600"/>
          </a:xfrm>
          <a:prstGeom prst="rect">
            <a:avLst/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554480" y="411480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32E54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How much it hurts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554480" y="457200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7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if the knowledge is lost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583680" y="3931920"/>
            <a:ext cx="4754880" cy="1371600"/>
          </a:xfrm>
          <a:prstGeom prst="rect">
            <a:avLst/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0" y="411480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32E54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How few hold it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858000" y="457200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7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person, or a handful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11887200" y="3931920"/>
            <a:ext cx="4754880" cy="1371600"/>
          </a:xfrm>
          <a:prstGeom prst="rect">
            <a:avLst/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2161520" y="411480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32E54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How big the gap is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2161520" y="457200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7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 from where it needs to be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5751576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232E54"/>
                </a:solidFill>
                <a:latin typeface="Bahnschrift Light" pitchFamily="34" charset="0"/>
                <a:ea typeface="Bahnschrift Light" pitchFamily="34" charset="-122"/>
                <a:cs typeface="Bahnschrift Light" pitchFamily="34" charset="-120"/>
              </a:rPr>
              <a:t>01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2377440" y="5843016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8212F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R&amp;D, frozen dough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0" y="5861304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E7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person holds it. Pair the expert with two mentees.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1280160" y="6409944"/>
            <a:ext cx="1572768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280160" y="6528816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C3CCDA"/>
                </a:solidFill>
                <a:latin typeface="Bahnschrift Light" pitchFamily="34" charset="0"/>
                <a:ea typeface="Bahnschrift Light" pitchFamily="34" charset="-122"/>
                <a:cs typeface="Bahnschrift Light" pitchFamily="34" charset="-120"/>
              </a:rPr>
              <a:t>02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2377440" y="6620256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8212F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Food labeling</a:t>
            </a:r>
            <a:endParaRPr lang="en-US" sz="19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0" y="6638544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E7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people. Run a cross-border labeling workshop.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1280160" y="7187184"/>
            <a:ext cx="1572768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280160" y="7306056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C3CCDA"/>
                </a:solidFill>
                <a:latin typeface="Bahnschrift Light" pitchFamily="34" charset="0"/>
                <a:ea typeface="Bahnschrift Light" pitchFamily="34" charset="-122"/>
                <a:cs typeface="Bahnschrift Light" pitchFamily="34" charset="-120"/>
              </a:rPr>
              <a:t>03</a:t>
            </a:r>
            <a:endParaRPr lang="en-US" sz="3000" dirty="0"/>
          </a:p>
        </p:txBody>
      </p:sp>
      <p:sp>
        <p:nvSpPr>
          <p:cNvPr id="22" name="Text 20"/>
          <p:cNvSpPr txBox="1"/>
          <p:nvPr/>
        </p:nvSpPr>
        <p:spPr>
          <a:xfrm>
            <a:off x="2377440" y="7397496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8212F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Ammonia refrigeration</a:t>
            </a:r>
            <a:endParaRPr lang="en-US" sz="19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0" y="7415784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E7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people, both near retirement. Sponsor certification now.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1280160" y="7964424"/>
            <a:ext cx="1572768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280160" y="8083296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C3CCDA"/>
                </a:solidFill>
                <a:latin typeface="Bahnschrift Light" pitchFamily="34" charset="0"/>
                <a:ea typeface="Bahnschrift Light" pitchFamily="34" charset="-122"/>
                <a:cs typeface="Bahnschrift Light" pitchFamily="34" charset="-120"/>
              </a:rPr>
              <a:t>04</a:t>
            </a:r>
            <a:endParaRPr lang="en-US" sz="3000" dirty="0"/>
          </a:p>
        </p:txBody>
      </p:sp>
      <p:sp>
        <p:nvSpPr>
          <p:cNvPr id="26" name="Text 24"/>
          <p:cNvSpPr txBox="1"/>
          <p:nvPr/>
        </p:nvSpPr>
        <p:spPr>
          <a:xfrm>
            <a:off x="2377440" y="8174736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8212F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Salina line setup</a:t>
            </a:r>
            <a:endParaRPr lang="en-US" sz="1900" dirty="0"/>
          </a:p>
        </p:txBody>
      </p:sp>
      <p:sp>
        <p:nvSpPr>
          <p:cNvPr id="27" name="Text 25"/>
          <p:cNvSpPr txBox="1"/>
          <p:nvPr/>
        </p:nvSpPr>
        <p:spPr>
          <a:xfrm>
            <a:off x="6400800" y="8193024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E7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people, nothing written down. Write it down, then mentor backups.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1280160" y="9189720"/>
            <a:ext cx="1572768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280160" y="937260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6E7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APP   </a:t>
            </a:r>
            <a:pPr indent="0" marL="0">
              <a:buNone/>
            </a:pPr>
            <a:r>
              <a:rPr lang="en-US" sz="1400" dirty="0">
                <a:solidFill>
                  <a:srgbClr val="182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 tab, Do this first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9418320" y="9372600"/>
            <a:ext cx="7589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6E7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NUMBERS FROM   </a:t>
            </a:r>
            <a:pPr indent="0" marL="0">
              <a:buNone/>
            </a:pPr>
            <a:r>
              <a:rPr lang="en-US" sz="1400" dirty="0">
                <a:solidFill>
                  <a:srgbClr val="182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= impact × scarcity × gap size, shown on screen.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280160" y="9144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E7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2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371600"/>
            <a:ext cx="1371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4400" dirty="0">
                <a:solidFill>
                  <a:srgbClr val="232E54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Five skills carry a 2027 target.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2880360"/>
            <a:ext cx="1234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E7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one is tied to something the company is already doing, not to technology in general.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852160" y="35661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 bar is coverage today. Light bar is what 2027 needs.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420624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8212F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Legal and compliance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852160" y="4297680"/>
            <a:ext cx="5120640" cy="237744"/>
          </a:xfrm>
          <a:prstGeom prst="roundRect">
            <a:avLst>
              <a:gd name="adj" fmla="val 19230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852160" y="4297680"/>
            <a:ext cx="2816352" cy="237744"/>
          </a:xfrm>
          <a:prstGeom prst="roundRect">
            <a:avLst>
              <a:gd name="adj" fmla="val 192308"/>
            </a:avLst>
          </a:prstGeom>
          <a:solidFill>
            <a:srgbClr val="C3CCDA"/>
          </a:solidFill>
          <a:ln w="12700">
            <a:solidFill>
              <a:srgbClr val="C3CCD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852160" y="4297680"/>
            <a:ext cx="1024128" cy="237744"/>
          </a:xfrm>
          <a:prstGeom prst="roundRect">
            <a:avLst>
              <a:gd name="adj" fmla="val 192308"/>
            </a:avLst>
          </a:prstGeom>
          <a:solidFill>
            <a:srgbClr val="232E54"/>
          </a:solidFill>
          <a:ln w="12700">
            <a:solidFill>
              <a:srgbClr val="232E5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247120" y="4224528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821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 to 55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893040" y="4215384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32E54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+35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13898880" y="4242816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CJ CheilJedang integration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1280160" y="4974336"/>
            <a:ext cx="15727680" cy="0"/>
          </a:xfrm>
          <a:prstGeom prst="line">
            <a:avLst/>
          </a:prstGeom>
          <a:noFill/>
          <a:ln w="12700">
            <a:solidFill>
              <a:srgbClr val="DCE3E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280160" y="516636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8212F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PLC and automation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5852160" y="5257800"/>
            <a:ext cx="5120640" cy="237744"/>
          </a:xfrm>
          <a:prstGeom prst="roundRect">
            <a:avLst>
              <a:gd name="adj" fmla="val 19230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852160" y="5257800"/>
            <a:ext cx="3328416" cy="237744"/>
          </a:xfrm>
          <a:prstGeom prst="roundRect">
            <a:avLst>
              <a:gd name="adj" fmla="val 192308"/>
            </a:avLst>
          </a:prstGeom>
          <a:solidFill>
            <a:srgbClr val="C3CCDA"/>
          </a:solidFill>
          <a:ln w="12700">
            <a:solidFill>
              <a:srgbClr val="C3CCD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852160" y="5257800"/>
            <a:ext cx="1741018" cy="237744"/>
          </a:xfrm>
          <a:prstGeom prst="roundRect">
            <a:avLst>
              <a:gd name="adj" fmla="val 192308"/>
            </a:avLst>
          </a:prstGeom>
          <a:solidFill>
            <a:srgbClr val="232E54"/>
          </a:solidFill>
          <a:ln w="12700">
            <a:solidFill>
              <a:srgbClr val="232E5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1247120" y="5184648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821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34 to 65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2893040" y="5175504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32E54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+31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13898880" y="5202936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Sioux Falls plant opens 2027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1280160" y="5934456"/>
            <a:ext cx="15727680" cy="0"/>
          </a:xfrm>
          <a:prstGeom prst="line">
            <a:avLst/>
          </a:prstGeom>
          <a:noFill/>
          <a:ln w="12700">
            <a:solidFill>
              <a:srgbClr val="DCE3E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280160" y="612648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8212F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Data analytics</a:t>
            </a:r>
            <a:endParaRPr lang="en-US" sz="1900" dirty="0"/>
          </a:p>
        </p:txBody>
      </p:sp>
      <p:sp>
        <p:nvSpPr>
          <p:cNvPr id="24" name="Shape 22"/>
          <p:cNvSpPr/>
          <p:nvPr/>
        </p:nvSpPr>
        <p:spPr>
          <a:xfrm>
            <a:off x="5852160" y="6217920"/>
            <a:ext cx="5120640" cy="237744"/>
          </a:xfrm>
          <a:prstGeom prst="roundRect">
            <a:avLst>
              <a:gd name="adj" fmla="val 19230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852160" y="6217920"/>
            <a:ext cx="3584448" cy="237744"/>
          </a:xfrm>
          <a:prstGeom prst="roundRect">
            <a:avLst>
              <a:gd name="adj" fmla="val 192308"/>
            </a:avLst>
          </a:prstGeom>
          <a:solidFill>
            <a:srgbClr val="C3CCDA"/>
          </a:solidFill>
          <a:ln w="12700">
            <a:solidFill>
              <a:srgbClr val="C3CCD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852160" y="6217920"/>
            <a:ext cx="2099462" cy="237744"/>
          </a:xfrm>
          <a:prstGeom prst="roundRect">
            <a:avLst>
              <a:gd name="adj" fmla="val 192308"/>
            </a:avLst>
          </a:prstGeom>
          <a:solidFill>
            <a:srgbClr val="232E54"/>
          </a:solidFill>
          <a:ln w="12700">
            <a:solidFill>
              <a:srgbClr val="232E54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1247120" y="6144768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821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41 to 70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12893040" y="6135624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32E54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+29</a:t>
            </a:r>
            <a:endParaRPr lang="en-US" sz="1900" dirty="0"/>
          </a:p>
        </p:txBody>
      </p:sp>
      <p:sp>
        <p:nvSpPr>
          <p:cNvPr id="29" name="Text 27"/>
          <p:cNvSpPr txBox="1"/>
          <p:nvPr/>
        </p:nvSpPr>
        <p:spPr>
          <a:xfrm>
            <a:off x="13898880" y="6163056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forecasting rollout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1280160" y="6894576"/>
            <a:ext cx="15727680" cy="0"/>
          </a:xfrm>
          <a:prstGeom prst="line">
            <a:avLst/>
          </a:prstGeom>
          <a:noFill/>
          <a:ln w="12700">
            <a:solidFill>
              <a:srgbClr val="DCE3E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280160" y="708660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8212F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Refrigeration and ammonia</a:t>
            </a:r>
            <a:endParaRPr lang="en-US" sz="1900" dirty="0"/>
          </a:p>
        </p:txBody>
      </p:sp>
      <p:sp>
        <p:nvSpPr>
          <p:cNvPr id="32" name="Shape 30"/>
          <p:cNvSpPr/>
          <p:nvPr/>
        </p:nvSpPr>
        <p:spPr>
          <a:xfrm>
            <a:off x="5852160" y="7178040"/>
            <a:ext cx="5120640" cy="237744"/>
          </a:xfrm>
          <a:prstGeom prst="roundRect">
            <a:avLst>
              <a:gd name="adj" fmla="val 19230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852160" y="7178040"/>
            <a:ext cx="2560320" cy="237744"/>
          </a:xfrm>
          <a:prstGeom prst="roundRect">
            <a:avLst>
              <a:gd name="adj" fmla="val 192308"/>
            </a:avLst>
          </a:prstGeom>
          <a:solidFill>
            <a:srgbClr val="C3CCDA"/>
          </a:solidFill>
          <a:ln w="12700">
            <a:solidFill>
              <a:srgbClr val="C3CCD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852160" y="7178040"/>
            <a:ext cx="1126541" cy="237744"/>
          </a:xfrm>
          <a:prstGeom prst="roundRect">
            <a:avLst>
              <a:gd name="adj" fmla="val 192308"/>
            </a:avLst>
          </a:prstGeom>
          <a:solidFill>
            <a:srgbClr val="232E54"/>
          </a:solidFill>
          <a:ln w="12700">
            <a:solidFill>
              <a:srgbClr val="232E54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1247120" y="7104888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821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 to 50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12893040" y="7095744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32E54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+28</a:t>
            </a:r>
            <a:endParaRPr lang="en-US" sz="1900" dirty="0"/>
          </a:p>
        </p:txBody>
      </p:sp>
      <p:sp>
        <p:nvSpPr>
          <p:cNvPr id="37" name="Text 35"/>
          <p:cNvSpPr txBox="1"/>
          <p:nvPr/>
        </p:nvSpPr>
        <p:spPr>
          <a:xfrm>
            <a:off x="13898880" y="7123176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Frozen capacity expansion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1280160" y="7854696"/>
            <a:ext cx="15727680" cy="0"/>
          </a:xfrm>
          <a:prstGeom prst="line">
            <a:avLst/>
          </a:prstGeom>
          <a:noFill/>
          <a:ln w="12700">
            <a:solidFill>
              <a:srgbClr val="DCE3E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1280160" y="804672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8212F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Menu and culinary consulting</a:t>
            </a:r>
            <a:endParaRPr lang="en-US" sz="1900" dirty="0"/>
          </a:p>
        </p:txBody>
      </p:sp>
      <p:sp>
        <p:nvSpPr>
          <p:cNvPr id="40" name="Shape 38"/>
          <p:cNvSpPr/>
          <p:nvPr/>
        </p:nvSpPr>
        <p:spPr>
          <a:xfrm>
            <a:off x="5852160" y="8138160"/>
            <a:ext cx="5120640" cy="237744"/>
          </a:xfrm>
          <a:prstGeom prst="roundRect">
            <a:avLst>
              <a:gd name="adj" fmla="val 19230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852160" y="8138160"/>
            <a:ext cx="2816352" cy="237744"/>
          </a:xfrm>
          <a:prstGeom prst="roundRect">
            <a:avLst>
              <a:gd name="adj" fmla="val 192308"/>
            </a:avLst>
          </a:prstGeom>
          <a:solidFill>
            <a:srgbClr val="C3CCDA"/>
          </a:solidFill>
          <a:ln w="12700">
            <a:solidFill>
              <a:srgbClr val="C3CCDA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852160" y="8138160"/>
            <a:ext cx="1484986" cy="237744"/>
          </a:xfrm>
          <a:prstGeom prst="roundRect">
            <a:avLst>
              <a:gd name="adj" fmla="val 192308"/>
            </a:avLst>
          </a:prstGeom>
          <a:solidFill>
            <a:srgbClr val="232E54"/>
          </a:solidFill>
          <a:ln w="12700">
            <a:solidFill>
              <a:srgbClr val="232E54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11247120" y="8065008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821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29 to 55</a:t>
            </a:r>
            <a:endParaRPr lang="en-US" sz="1500" dirty="0"/>
          </a:p>
        </p:txBody>
      </p:sp>
      <p:sp>
        <p:nvSpPr>
          <p:cNvPr id="44" name="Text 42"/>
          <p:cNvSpPr txBox="1"/>
          <p:nvPr/>
        </p:nvSpPr>
        <p:spPr>
          <a:xfrm>
            <a:off x="12893040" y="8055864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32E54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+26</a:t>
            </a:r>
            <a:endParaRPr lang="en-US" sz="1900" dirty="0"/>
          </a:p>
        </p:txBody>
      </p:sp>
      <p:sp>
        <p:nvSpPr>
          <p:cNvPr id="45" name="Text 43"/>
          <p:cNvSpPr txBox="1"/>
          <p:nvPr/>
        </p:nvSpPr>
        <p:spPr>
          <a:xfrm>
            <a:off x="13898880" y="8083296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K-12 and healthcare accounts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1280160" y="9189720"/>
            <a:ext cx="1572768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280160" y="937260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6E7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APP   </a:t>
            </a:r>
            <a:pPr indent="0" marL="0">
              <a:buNone/>
            </a:pPr>
            <a:r>
              <a:rPr lang="en-US" sz="1400" dirty="0">
                <a:solidFill>
                  <a:srgbClr val="182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skills tab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9418320" y="9372600"/>
            <a:ext cx="7589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6E7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NUMBERS FROM   </a:t>
            </a:r>
            <a:pPr indent="0" marL="0">
              <a:buNone/>
            </a:pPr>
            <a:r>
              <a:rPr lang="en-US" sz="1400" dirty="0">
                <a:solidFill>
                  <a:srgbClr val="182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targets. Drivers sourced: company release, CJ CheilJedang.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280160" y="9144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E7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IS BUILT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1280160" y="1371600"/>
            <a:ext cx="12801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4000" dirty="0">
                <a:solidFill>
                  <a:srgbClr val="232E54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Four files. No framework,</a:t>
            </a:r>
            <a:endParaRPr lang="en-US" sz="4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4000" dirty="0">
                <a:solidFill>
                  <a:srgbClr val="232E54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no build step, no dependencies.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393192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32E54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Runs with no internet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448056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700" dirty="0">
                <a:solidFill>
                  <a:srgbClr val="6E7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loads from a CDN, so a bad venue network cannot break the demo.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8595360" y="3840480"/>
            <a:ext cx="0" cy="164592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235440" y="393192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32E54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Every line is mine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9235440" y="448056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700" dirty="0">
                <a:solidFill>
                  <a:srgbClr val="6E7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framework to hide behind. Ask me about any part of it.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1280160" y="603504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32E54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Real state, not a mock-up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658368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700" dirty="0">
                <a:solidFill>
                  <a:srgbClr val="6E7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Ticking a development plan is saved and survives a reload.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595360" y="5943600"/>
            <a:ext cx="0" cy="164592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235440" y="603504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32E54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Checked by a script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9235440" y="658368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700" dirty="0">
                <a:solidFill>
                  <a:srgbClr val="6E7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verify.js renders every page and asserts 42 list and plan combinations.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1280160" y="8503920"/>
            <a:ext cx="1572768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280160" y="8686800"/>
            <a:ext cx="1371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32E5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index.html      style.css      script.js      data.js      verify.js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1280160" y="9189720"/>
            <a:ext cx="1572768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280160" y="937260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6E7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APP   </a:t>
            </a:r>
            <a:pPr indent="0" marL="0">
              <a:buNone/>
            </a:pPr>
            <a:r>
              <a:rPr lang="en-US" sz="1400" dirty="0">
                <a:solidFill>
                  <a:srgbClr val="182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repository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9418320" y="9372600"/>
            <a:ext cx="7589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6E7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NUMBERS FROM   </a:t>
            </a:r>
            <a:pPr indent="0" marL="0">
              <a:buNone/>
            </a:pPr>
            <a:r>
              <a:rPr lang="en-US" sz="1400" dirty="0">
                <a:solidFill>
                  <a:srgbClr val="182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HTML, CSS and JavaScript. Nothing else.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232E54"/>
          </a:solidFill>
          <a:ln w="12700">
            <a:solidFill>
              <a:srgbClr val="232E5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966960" y="-365760"/>
            <a:ext cx="9144000" cy="10972800"/>
          </a:xfrm>
          <a:prstGeom prst="rect">
            <a:avLst/>
          </a:prstGeom>
          <a:solidFill>
            <a:srgbClr val="324070"/>
          </a:solidFill>
          <a:ln w="12700">
            <a:solidFill>
              <a:srgbClr val="32407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280160" y="23774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dirty="0">
                <a:solidFill>
                  <a:srgbClr val="FFFFFF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What is next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280160" y="3566160"/>
            <a:ext cx="4754880" cy="0"/>
          </a:xfrm>
          <a:prstGeom prst="line">
            <a:avLst/>
          </a:prstGeom>
          <a:noFill/>
          <a:ln w="25400">
            <a:solidFill>
              <a:srgbClr val="44528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280160" y="402336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900" dirty="0">
                <a:solidFill>
                  <a:srgbClr val="B9C2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to the HR system so the numbers are live.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502920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900" dirty="0">
                <a:solidFill>
                  <a:srgbClr val="B9C2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people to plans automatically, not one written step per skill.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603504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900" dirty="0">
                <a:solidFill>
                  <a:srgbClr val="B9C2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badge tap at a plant that pulls up that person's skills and training.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1280160" y="76809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github.com/Aj-Networks/schwan_s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82296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E98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numbers. Plants, offices, job groups and the regulations are real and sourced.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0" y="2743200"/>
            <a:ext cx="6035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dirty="0">
                <a:solidFill>
                  <a:srgbClr val="FFFFFF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SkillSight</a:t>
            </a:r>
            <a:endParaRPr lang="en-US" sz="56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0" y="4206240"/>
            <a:ext cx="5852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B9C2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Shows what skills Schwan's people have, where those skills are missing, and where a critical one is known by too few.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10972800" y="6492240"/>
            <a:ext cx="5852160" cy="0"/>
          </a:xfrm>
          <a:prstGeom prst="line">
            <a:avLst/>
          </a:prstGeom>
          <a:noFill/>
          <a:ln w="12700">
            <a:solidFill>
              <a:srgbClr val="44528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972800" y="672084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Ajay Angdembe  ·  solo entry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280160" y="9144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E7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TO EXPECT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325880"/>
            <a:ext cx="12801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4200" dirty="0">
                <a:solidFill>
                  <a:srgbClr val="232E54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Ask me any of these.</a:t>
            </a:r>
            <a:endParaRPr lang="en-US" sz="42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3566160"/>
            <a:ext cx="6858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2000" dirty="0">
                <a:solidFill>
                  <a:srgbClr val="232E54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Are these real numbers?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4206240"/>
            <a:ext cx="6858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7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and headcounts are demo data. The job groups, sites, drivers and regulations are sourced in FACTS.md.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595360" y="3429000"/>
            <a:ext cx="0" cy="1554480"/>
          </a:xfrm>
          <a:prstGeom prst="line">
            <a:avLst/>
          </a:prstGeom>
          <a:noFill/>
          <a:ln w="12700">
            <a:solidFill>
              <a:srgbClr val="DCE3E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280160" y="5193792"/>
            <a:ext cx="6858000" cy="0"/>
          </a:xfrm>
          <a:prstGeom prst="line">
            <a:avLst/>
          </a:prstGeom>
          <a:noFill/>
          <a:ln w="12700">
            <a:solidFill>
              <a:srgbClr val="DCE3E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235440" y="3566160"/>
            <a:ext cx="6858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2000" dirty="0">
                <a:solidFill>
                  <a:srgbClr val="232E54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Workday already does this. Why build it?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9235440" y="4206240"/>
            <a:ext cx="6858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7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Those systems hold the data. This one ranks it and attaches a first step. It is a lens, not a replacement.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9235440" y="5193792"/>
            <a:ext cx="6858000" cy="0"/>
          </a:xfrm>
          <a:prstGeom prst="line">
            <a:avLst/>
          </a:prstGeom>
          <a:noFill/>
          <a:ln w="12700">
            <a:solidFill>
              <a:srgbClr val="DCE3E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280160" y="5394960"/>
            <a:ext cx="6858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2000" dirty="0">
                <a:solidFill>
                  <a:srgbClr val="232E54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Did you use AI to build it?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6035040"/>
            <a:ext cx="6858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7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Yes, and the rules allow it. The architecture calls are mine and I can explain any line in the four files.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595360" y="5257800"/>
            <a:ext cx="0" cy="1554480"/>
          </a:xfrm>
          <a:prstGeom prst="line">
            <a:avLst/>
          </a:prstGeom>
          <a:noFill/>
          <a:ln w="12700">
            <a:solidFill>
              <a:srgbClr val="DCE3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80160" y="7022592"/>
            <a:ext cx="6858000" cy="0"/>
          </a:xfrm>
          <a:prstGeom prst="line">
            <a:avLst/>
          </a:prstGeom>
          <a:noFill/>
          <a:ln w="12700">
            <a:solidFill>
              <a:srgbClr val="DCE3E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235440" y="5394960"/>
            <a:ext cx="6858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2000" dirty="0">
                <a:solidFill>
                  <a:srgbClr val="232E54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How is the order decided?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9235440" y="6035040"/>
            <a:ext cx="6858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7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Impact, how few people hold it, and how big the gap is, multiplied. The formula is on screen, not hidden.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9235440" y="7022592"/>
            <a:ext cx="6858000" cy="0"/>
          </a:xfrm>
          <a:prstGeom prst="line">
            <a:avLst/>
          </a:prstGeom>
          <a:noFill/>
          <a:ln w="12700">
            <a:solidFill>
              <a:srgbClr val="DCE3E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280160" y="7223760"/>
            <a:ext cx="6858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2000" dirty="0">
                <a:solidFill>
                  <a:srgbClr val="232E54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What about privacy?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1280160" y="7863840"/>
            <a:ext cx="6858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7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and training records only. No performance data. Employees see their own record, and the demo shows no real people.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8595360" y="7086600"/>
            <a:ext cx="0" cy="1554480"/>
          </a:xfrm>
          <a:prstGeom prst="line">
            <a:avLst/>
          </a:prstGeom>
          <a:noFill/>
          <a:ln w="12700">
            <a:solidFill>
              <a:srgbClr val="DCE3E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235440" y="7223760"/>
            <a:ext cx="6858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2000" dirty="0">
                <a:solidFill>
                  <a:srgbClr val="232E54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What is still missing?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9235440" y="7863840"/>
            <a:ext cx="6858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7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data, plans matched to people automatically, and a team view for the manager who would open it weekly.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1280160" y="9189720"/>
            <a:ext cx="1572768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280160" y="937260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6E7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APP   </a:t>
            </a:r>
            <a:pPr indent="0" marL="0">
              <a:buNone/>
            </a:pPr>
            <a:r>
              <a:rPr lang="en-US" sz="1400" dirty="0">
                <a:solidFill>
                  <a:srgbClr val="182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Q&amp;A.html in the repository has the full sheet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9418320" y="9372600"/>
            <a:ext cx="7589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6E7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NUMBERS FROM   </a:t>
            </a:r>
            <a:pPr indent="0" marL="0">
              <a:buNone/>
            </a:pPr>
            <a:r>
              <a:rPr lang="en-US" sz="1400" dirty="0">
                <a:solidFill>
                  <a:srgbClr val="182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FACTS.md lists every claim, its source, and what was cut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SkillSight</dc:title>
  <dc:subject>PptxGenJS Presentation</dc:subject>
  <dc:creator>Ajay Angdembe</dc:creator>
  <cp:lastModifiedBy>Ajay Angdembe</cp:lastModifiedBy>
  <cp:revision>1</cp:revision>
  <dcterms:created xsi:type="dcterms:W3CDTF">2026-09-13T06:12:33Z</dcterms:created>
  <dcterms:modified xsi:type="dcterms:W3CDTF">2026-09-13T06:12:33Z</dcterms:modified>
</cp:coreProperties>
</file>