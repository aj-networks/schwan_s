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BD2AFA-3D7A-4DCB-862F-5334681A181B}" v="2" dt="2026-09-13T06:32:38.1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53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6/11/relationships/changesInfo" Target="changesInfos/changesInfo1.xml"/><Relationship Id="rId15"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r Aj" userId="6857a7655e0290f7" providerId="LiveId" clId="{1269664D-8E21-4D12-9992-D2CA9025F01D}"/>
    <pc:docChg chg="custSel addSld modSld sldOrd">
      <pc:chgData name="Mr Aj" userId="6857a7655e0290f7" providerId="LiveId" clId="{1269664D-8E21-4D12-9992-D2CA9025F01D}" dt="2026-09-13T06:33:14.556" v="134" actId="14100"/>
      <pc:docMkLst>
        <pc:docMk/>
      </pc:docMkLst>
      <pc:sldChg chg="modSp mod">
        <pc:chgData name="Mr Aj" userId="6857a7655e0290f7" providerId="LiveId" clId="{1269664D-8E21-4D12-9992-D2CA9025F01D}" dt="2026-09-13T06:29:04.543" v="5" actId="14100"/>
        <pc:sldMkLst>
          <pc:docMk/>
          <pc:sldMk cId="0" sldId="258"/>
        </pc:sldMkLst>
        <pc:spChg chg="mod">
          <ac:chgData name="Mr Aj" userId="6857a7655e0290f7" providerId="LiveId" clId="{1269664D-8E21-4D12-9992-D2CA9025F01D}" dt="2026-09-13T06:29:04.543" v="5" actId="14100"/>
          <ac:spMkLst>
            <pc:docMk/>
            <pc:sldMk cId="0" sldId="258"/>
            <ac:spMk id="3" creationId="{00000000-0000-0000-0000-000000000000}"/>
          </ac:spMkLst>
        </pc:spChg>
      </pc:sldChg>
      <pc:sldChg chg="modSp mod">
        <pc:chgData name="Mr Aj" userId="6857a7655e0290f7" providerId="LiveId" clId="{1269664D-8E21-4D12-9992-D2CA9025F01D}" dt="2026-09-13T06:28:53.886" v="2" actId="14100"/>
        <pc:sldMkLst>
          <pc:docMk/>
          <pc:sldMk cId="0" sldId="260"/>
        </pc:sldMkLst>
        <pc:spChg chg="mod">
          <ac:chgData name="Mr Aj" userId="6857a7655e0290f7" providerId="LiveId" clId="{1269664D-8E21-4D12-9992-D2CA9025F01D}" dt="2026-09-13T06:28:53.886" v="2" actId="14100"/>
          <ac:spMkLst>
            <pc:docMk/>
            <pc:sldMk cId="0" sldId="260"/>
            <ac:spMk id="3" creationId="{00000000-0000-0000-0000-000000000000}"/>
          </ac:spMkLst>
        </pc:spChg>
      </pc:sldChg>
      <pc:sldChg chg="delSp modSp add mod ord">
        <pc:chgData name="Mr Aj" userId="6857a7655e0290f7" providerId="LiveId" clId="{1269664D-8E21-4D12-9992-D2CA9025F01D}" dt="2026-09-13T06:33:14.556" v="134" actId="14100"/>
        <pc:sldMkLst>
          <pc:docMk/>
          <pc:sldMk cId="3577902648" sldId="262"/>
        </pc:sldMkLst>
        <pc:spChg chg="mod">
          <ac:chgData name="Mr Aj" userId="6857a7655e0290f7" providerId="LiveId" clId="{1269664D-8E21-4D12-9992-D2CA9025F01D}" dt="2026-09-13T06:30:41.973" v="65" actId="14100"/>
          <ac:spMkLst>
            <pc:docMk/>
            <pc:sldMk cId="3577902648" sldId="262"/>
            <ac:spMk id="3" creationId="{A5A59A27-37FF-EF7F-1034-410C72E39F0D}"/>
          </ac:spMkLst>
        </pc:spChg>
        <pc:spChg chg="mod">
          <ac:chgData name="Mr Aj" userId="6857a7655e0290f7" providerId="LiveId" clId="{1269664D-8E21-4D12-9992-D2CA9025F01D}" dt="2026-09-13T06:33:09.107" v="132" actId="1076"/>
          <ac:spMkLst>
            <pc:docMk/>
            <pc:sldMk cId="3577902648" sldId="262"/>
            <ac:spMk id="4" creationId="{97698546-F9C7-F70D-7750-1BC89EEA285A}"/>
          </ac:spMkLst>
        </pc:spChg>
        <pc:spChg chg="mod">
          <ac:chgData name="Mr Aj" userId="6857a7655e0290f7" providerId="LiveId" clId="{1269664D-8E21-4D12-9992-D2CA9025F01D}" dt="2026-09-13T06:33:14.556" v="134" actId="14100"/>
          <ac:spMkLst>
            <pc:docMk/>
            <pc:sldMk cId="3577902648" sldId="262"/>
            <ac:spMk id="5" creationId="{81F81FF6-8524-41E0-7F88-84371AA2DFAF}"/>
          </ac:spMkLst>
        </pc:spChg>
        <pc:spChg chg="mod">
          <ac:chgData name="Mr Aj" userId="6857a7655e0290f7" providerId="LiveId" clId="{1269664D-8E21-4D12-9992-D2CA9025F01D}" dt="2026-09-13T06:33:03.886" v="131" actId="1076"/>
          <ac:spMkLst>
            <pc:docMk/>
            <pc:sldMk cId="3577902648" sldId="262"/>
            <ac:spMk id="6" creationId="{64BCBE2E-6BB5-E28D-A70E-28237DDEA8CD}"/>
          </ac:spMkLst>
        </pc:spChg>
        <pc:spChg chg="del">
          <ac:chgData name="Mr Aj" userId="6857a7655e0290f7" providerId="LiveId" clId="{1269664D-8E21-4D12-9992-D2CA9025F01D}" dt="2026-09-13T06:30:19.918" v="61" actId="478"/>
          <ac:spMkLst>
            <pc:docMk/>
            <pc:sldMk cId="3577902648" sldId="262"/>
            <ac:spMk id="7" creationId="{AA465E6B-FEC5-738E-8A6E-B4F64EF4FD0E}"/>
          </ac:spMkLst>
        </pc:spChg>
        <pc:spChg chg="del">
          <ac:chgData name="Mr Aj" userId="6857a7655e0290f7" providerId="LiveId" clId="{1269664D-8E21-4D12-9992-D2CA9025F01D}" dt="2026-09-13T06:29:56.460" v="20" actId="478"/>
          <ac:spMkLst>
            <pc:docMk/>
            <pc:sldMk cId="3577902648" sldId="262"/>
            <ac:spMk id="8" creationId="{67CFF362-8A7D-0DCB-6F8E-F7E541675EA6}"/>
          </ac:spMkLst>
        </pc:spChg>
        <pc:spChg chg="del mod">
          <ac:chgData name="Mr Aj" userId="6857a7655e0290f7" providerId="LiveId" clId="{1269664D-8E21-4D12-9992-D2CA9025F01D}" dt="2026-09-13T06:30:00.406" v="24" actId="478"/>
          <ac:spMkLst>
            <pc:docMk/>
            <pc:sldMk cId="3577902648" sldId="262"/>
            <ac:spMk id="9" creationId="{13227C56-6596-307B-9588-9D7B649B1D37}"/>
          </ac:spMkLst>
        </pc:spChg>
        <pc:spChg chg="del mod">
          <ac:chgData name="Mr Aj" userId="6857a7655e0290f7" providerId="LiveId" clId="{1269664D-8E21-4D12-9992-D2CA9025F01D}" dt="2026-09-13T06:29:59.191" v="23" actId="478"/>
          <ac:spMkLst>
            <pc:docMk/>
            <pc:sldMk cId="3577902648" sldId="262"/>
            <ac:spMk id="10" creationId="{6E406E8D-00A5-B815-A869-263E20D03290}"/>
          </ac:spMkLst>
        </pc:spChg>
        <pc:spChg chg="del">
          <ac:chgData name="Mr Aj" userId="6857a7655e0290f7" providerId="LiveId" clId="{1269664D-8E21-4D12-9992-D2CA9025F01D}" dt="2026-09-13T06:30:02.038" v="25" actId="478"/>
          <ac:spMkLst>
            <pc:docMk/>
            <pc:sldMk cId="3577902648" sldId="262"/>
            <ac:spMk id="11" creationId="{AF3DBA55-CC1C-26F3-0A08-59DFF04390D1}"/>
          </ac:spMkLst>
        </pc:spChg>
        <pc:spChg chg="mod">
          <ac:chgData name="Mr Aj" userId="6857a7655e0290f7" providerId="LiveId" clId="{1269664D-8E21-4D12-9992-D2CA9025F01D}" dt="2026-09-13T06:30:37.447" v="64" actId="1076"/>
          <ac:spMkLst>
            <pc:docMk/>
            <pc:sldMk cId="3577902648" sldId="262"/>
            <ac:spMk id="12" creationId="{E0FD87FF-FAA9-33A1-3962-112A150ABC9A}"/>
          </ac:spMkLst>
        </pc:spChg>
        <pc:spChg chg="del">
          <ac:chgData name="Mr Aj" userId="6857a7655e0290f7" providerId="LiveId" clId="{1269664D-8E21-4D12-9992-D2CA9025F01D}" dt="2026-09-13T06:30:28.557" v="62" actId="478"/>
          <ac:spMkLst>
            <pc:docMk/>
            <pc:sldMk cId="3577902648" sldId="262"/>
            <ac:spMk id="13" creationId="{76009807-808C-453A-A0DD-0CF4766346D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64310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to 0:15  OPENER
"SkillSight. It shows what skills Schwan's people have, where those skills are missing, and where one person leaving stops the work."
Do not read the numbers out. Let them sit on the slide. Move on at fifteen seconds.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0:15 to 0:40  THE PROBLEM</a:t>
            </a:r>
          </a:p>
          <a:p/>
          <a:p>
            <a:r>
              <a:t>"Schwan's runs more than a dozen US plants across four job groups, and a new plant opens in 2027."</a:t>
            </a:r>
          </a:p>
          <a:p/>
          <a:p>
            <a:r>
              <a:t>"But ask a simple question. If the person who knows the ammonia refrigeration system leaves, who else can do it? Today that answer takes phone calls to three plants."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0:40 to 1:15  THE FINDING</a:t>
            </a:r>
          </a:p>
          <a:p/>
          <a:p>
            <a:r>
              <a:t>"Six skills in this demo are held by three people or fewer. One is held by a single person: frozen dough formulation, at the Marshall R&amp;D centre."</a:t>
            </a:r>
          </a:p>
          <a:p/>
          <a:p>
            <a:r>
              <a:t>"Two of these are ammonia refrigeration techs who are close to retirement. That one is not guesswork. Ammonia systems over ten thousand pounds are an OSHA covered process, so the list of trained operators is kept by law. The data already exists."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1:15 to 2:00  THE ANSWER  </a:t>
            </a:r>
          </a:p>
          <a:p/>
          <a:p>
            <a:r>
              <a:t>"Most dashboards show numbers and stop. This one scores every at-risk skill on three things: how much it hurts, how few people hold it, and how big the gap is. Then it sorts them."</a:t>
            </a:r>
          </a:p>
          <a:p/>
          <a:p>
            <a:r>
              <a:t>"So a manager does not get a puzzle. They get an order of work. Fix frozen dough first, and here is the first step: pair the expert with two mentees."</a:t>
            </a:r>
          </a:p>
          <a:p/>
          <a:p>
            <a:r>
              <a:t>"Each step is one of the five methods the challenge names. Training, mentoring, certification, job rotation, project experience."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2:00 to 2:30  THE EMPLOYEE</a:t>
            </a:r>
          </a:p>
          <a:p/>
          <a:p>
            <a:r>
              <a:t>"The challenge says employees close skill gaps, so one screen is built for the employee, not only about them."</a:t>
            </a:r>
          </a:p>
          <a:p/>
          <a:p>
            <a:r>
              <a:t>"Sam is a refrigeration tech at Marshall, fourteen years in. He is one of two people who hold the ammonia certification, so his step is to pass it on. He ticks the same box his manager sees."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2:30 to 3:00  CLOSE, then leave this slide up for questions</a:t>
            </a:r>
          </a:p>
          <a:p/>
          <a:p>
            <a:r>
              <a:t>"It is four files. Plain HTML, CSS and JavaScript. No framework, no build step, and nothing loads from the internet, so it cannot break on a bad venue network."</a:t>
            </a:r>
          </a:p>
          <a:p/>
          <a:p>
            <a:r>
              <a:t>"Every outside number is sourced. Three claims got cut during a fact check because I could only trace them to blogs."</a:t>
            </a:r>
          </a:p>
          <a:p/>
          <a:p>
            <a:r>
              <a:t>"Happy to take questions. These four are the ones I expect."</a:t>
            </a:r>
          </a:p>
          <a:p/>
          <a:p>
            <a:r>
              <a:t>If asked something not here: "I do not know, and I would rather find out than guess."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11E06-F609-1945-23E1-DA98416278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1508D2-C296-3122-51AB-EFAC8792C9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C2F6F7-6768-AAAA-7C8B-BD66A7E6F7AE}"/>
              </a:ext>
            </a:extLst>
          </p:cNvPr>
          <p:cNvSpPr>
            <a:spLocks noGrp="1"/>
          </p:cNvSpPr>
          <p:nvPr>
            <p:ph type="body" idx="1"/>
          </p:nvPr>
        </p:nvSpPr>
        <p:spPr/>
        <p:txBody>
          <a:bodyPr/>
          <a:lstStyle/>
          <a:p>
            <a:r>
              <a:t>3:00  QUESTIONS</a:t>
            </a:r>
          </a:p>
          <a:p/>
          <a:p>
            <a:r>
              <a:t>Hold here. The four questions on the previous slide are the ones to expect.</a:t>
            </a:r>
          </a:p>
        </p:txBody>
      </p:sp>
      <p:sp>
        <p:nvSpPr>
          <p:cNvPr id="4" name="Slide Number Placeholder 3">
            <a:extLst>
              <a:ext uri="{FF2B5EF4-FFF2-40B4-BE49-F238E27FC236}">
                <a16:creationId xmlns:a16="http://schemas.microsoft.com/office/drawing/2014/main" id="{0DBE8ED7-A24F-90D0-B003-451D820B499B}"/>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9609187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232E54"/>
          </a:solidFill>
          <a:ln w="12700">
            <a:solidFill>
              <a:srgbClr val="232E54"/>
            </a:solidFill>
            <a:prstDash val="solid"/>
          </a:ln>
        </p:spPr>
        <p:txBody>
          <a:bodyPr/>
          <a:lstStyle/>
          <a:p>
            <a:endParaRPr lang="en-US"/>
          </a:p>
        </p:txBody>
      </p:sp>
      <p:sp>
        <p:nvSpPr>
          <p:cNvPr id="3" name="Shape 1"/>
          <p:cNvSpPr/>
          <p:nvPr/>
        </p:nvSpPr>
        <p:spPr>
          <a:xfrm>
            <a:off x="0" y="8138160"/>
            <a:ext cx="18288000" cy="2148840"/>
          </a:xfrm>
          <a:prstGeom prst="rect">
            <a:avLst/>
          </a:prstGeom>
          <a:solidFill>
            <a:srgbClr val="324070"/>
          </a:solidFill>
          <a:ln w="12700">
            <a:solidFill>
              <a:srgbClr val="324070"/>
            </a:solidFill>
            <a:prstDash val="solid"/>
          </a:ln>
        </p:spPr>
        <p:txBody>
          <a:bodyPr/>
          <a:lstStyle/>
          <a:p>
            <a:endParaRPr lang="en-US"/>
          </a:p>
        </p:txBody>
      </p:sp>
      <p:sp>
        <p:nvSpPr>
          <p:cNvPr id="4" name="Text 2"/>
          <p:cNvSpPr txBox="1"/>
          <p:nvPr/>
        </p:nvSpPr>
        <p:spPr>
          <a:xfrm>
            <a:off x="1280160" y="2194560"/>
            <a:ext cx="8412480" cy="2103120"/>
          </a:xfrm>
          <a:prstGeom prst="rect">
            <a:avLst/>
          </a:prstGeom>
          <a:noFill/>
          <a:ln/>
        </p:spPr>
        <p:txBody>
          <a:bodyPr wrap="square" lIns="0" tIns="0" rIns="0" bIns="0" rtlCol="0" anchor="ctr"/>
          <a:lstStyle/>
          <a:p>
            <a:pPr marL="0" indent="0">
              <a:lnSpc>
                <a:spcPct val="90000"/>
              </a:lnSpc>
              <a:buNone/>
            </a:pPr>
            <a:r>
              <a:rPr lang="en-US" sz="11600" dirty="0">
                <a:solidFill>
                  <a:srgbClr val="FFFFFF"/>
                </a:solidFill>
                <a:latin typeface="Bahnschrift SemiBold" pitchFamily="34" charset="0"/>
                <a:ea typeface="Bahnschrift SemiBold" pitchFamily="34" charset="-122"/>
                <a:cs typeface="Bahnschrift SemiBold" pitchFamily="34" charset="-120"/>
              </a:rPr>
              <a:t>SkillSight</a:t>
            </a:r>
            <a:endParaRPr lang="en-US" sz="11600" dirty="0"/>
          </a:p>
        </p:txBody>
      </p:sp>
      <p:sp>
        <p:nvSpPr>
          <p:cNvPr id="5" name="Shape 3"/>
          <p:cNvSpPr/>
          <p:nvPr/>
        </p:nvSpPr>
        <p:spPr>
          <a:xfrm>
            <a:off x="1280160" y="4480560"/>
            <a:ext cx="5852160" cy="0"/>
          </a:xfrm>
          <a:prstGeom prst="line">
            <a:avLst/>
          </a:prstGeom>
          <a:noFill/>
          <a:ln w="25400">
            <a:solidFill>
              <a:srgbClr val="44528A"/>
            </a:solidFill>
            <a:prstDash val="solid"/>
          </a:ln>
        </p:spPr>
        <p:txBody>
          <a:bodyPr/>
          <a:lstStyle/>
          <a:p>
            <a:endParaRPr lang="en-US"/>
          </a:p>
        </p:txBody>
      </p:sp>
      <p:sp>
        <p:nvSpPr>
          <p:cNvPr id="6" name="Text 4"/>
          <p:cNvSpPr txBox="1"/>
          <p:nvPr/>
        </p:nvSpPr>
        <p:spPr>
          <a:xfrm>
            <a:off x="1280160" y="4709160"/>
            <a:ext cx="10972800" cy="548640"/>
          </a:xfrm>
          <a:prstGeom prst="rect">
            <a:avLst/>
          </a:prstGeom>
          <a:noFill/>
          <a:ln/>
        </p:spPr>
        <p:txBody>
          <a:bodyPr wrap="square" lIns="0" tIns="0" rIns="0" bIns="0" rtlCol="0" anchor="ctr"/>
          <a:lstStyle/>
          <a:p>
            <a:pPr marL="0" indent="0">
              <a:buNone/>
            </a:pPr>
            <a:r>
              <a:rPr lang="en-US" sz="2000" b="1" kern="0" spc="600" dirty="0">
                <a:solidFill>
                  <a:srgbClr val="FFFFFF"/>
                </a:solidFill>
                <a:latin typeface="Calibri" pitchFamily="34" charset="0"/>
                <a:ea typeface="Calibri" pitchFamily="34" charset="-122"/>
                <a:cs typeface="Calibri" pitchFamily="34" charset="-120"/>
              </a:rPr>
              <a:t>WORKFORCE SKILLS INTELLIGENCE</a:t>
            </a:r>
            <a:endParaRPr lang="en-US" sz="2000" dirty="0"/>
          </a:p>
        </p:txBody>
      </p:sp>
      <p:sp>
        <p:nvSpPr>
          <p:cNvPr id="7" name="Text 5"/>
          <p:cNvSpPr txBox="1"/>
          <p:nvPr/>
        </p:nvSpPr>
        <p:spPr>
          <a:xfrm>
            <a:off x="1280160" y="5532120"/>
            <a:ext cx="10515600" cy="1280160"/>
          </a:xfrm>
          <a:prstGeom prst="rect">
            <a:avLst/>
          </a:prstGeom>
          <a:noFill/>
          <a:ln/>
        </p:spPr>
        <p:txBody>
          <a:bodyPr wrap="square" lIns="0" tIns="0" rIns="0" bIns="0" rtlCol="0" anchor="ctr"/>
          <a:lstStyle/>
          <a:p>
            <a:pPr marL="0" indent="0">
              <a:lnSpc>
                <a:spcPct val="135000"/>
              </a:lnSpc>
              <a:buNone/>
            </a:pPr>
            <a:r>
              <a:rPr lang="en-US" sz="2100" dirty="0">
                <a:solidFill>
                  <a:srgbClr val="B9C2D4"/>
                </a:solidFill>
                <a:latin typeface="Calibri" pitchFamily="34" charset="0"/>
                <a:ea typeface="Calibri" pitchFamily="34" charset="-122"/>
                <a:cs typeface="Calibri" pitchFamily="34" charset="-120"/>
              </a:rPr>
              <a:t>What skills Schwan's people have, where those skills are missing,</a:t>
            </a:r>
            <a:endParaRPr lang="en-US" sz="2100" dirty="0"/>
          </a:p>
          <a:p>
            <a:pPr marL="0" indent="0">
              <a:lnSpc>
                <a:spcPct val="135000"/>
              </a:lnSpc>
              <a:buNone/>
            </a:pPr>
            <a:r>
              <a:rPr lang="en-US" sz="2100" dirty="0">
                <a:solidFill>
                  <a:srgbClr val="B9C2D4"/>
                </a:solidFill>
                <a:latin typeface="Calibri" pitchFamily="34" charset="0"/>
                <a:ea typeface="Calibri" pitchFamily="34" charset="-122"/>
                <a:cs typeface="Calibri" pitchFamily="34" charset="-120"/>
              </a:rPr>
              <a:t>and where one person leaving stops the work.</a:t>
            </a:r>
            <a:endParaRPr lang="en-US" sz="2100" dirty="0"/>
          </a:p>
        </p:txBody>
      </p:sp>
      <p:sp>
        <p:nvSpPr>
          <p:cNvPr id="8" name="Text 6"/>
          <p:cNvSpPr txBox="1"/>
          <p:nvPr/>
        </p:nvSpPr>
        <p:spPr>
          <a:xfrm>
            <a:off x="14264640" y="2148840"/>
            <a:ext cx="2743200" cy="1737360"/>
          </a:xfrm>
          <a:prstGeom prst="rect">
            <a:avLst/>
          </a:prstGeom>
          <a:noFill/>
          <a:ln/>
        </p:spPr>
        <p:txBody>
          <a:bodyPr wrap="square" lIns="0" tIns="0" rIns="0" bIns="0" rtlCol="0" anchor="ctr"/>
          <a:lstStyle/>
          <a:p>
            <a:pPr marL="0" indent="0" algn="r">
              <a:buNone/>
            </a:pPr>
            <a:r>
              <a:rPr lang="en-US" sz="9600" dirty="0">
                <a:solidFill>
                  <a:srgbClr val="324070"/>
                </a:solidFill>
                <a:latin typeface="Bahnschrift Light" pitchFamily="34" charset="0"/>
                <a:ea typeface="Bahnschrift Light" pitchFamily="34" charset="-122"/>
                <a:cs typeface="Bahnschrift Light" pitchFamily="34" charset="-120"/>
              </a:rPr>
              <a:t>20</a:t>
            </a:r>
            <a:endParaRPr lang="en-US" sz="9600" dirty="0"/>
          </a:p>
        </p:txBody>
      </p:sp>
      <p:sp>
        <p:nvSpPr>
          <p:cNvPr id="9" name="Text 7"/>
          <p:cNvSpPr txBox="1"/>
          <p:nvPr/>
        </p:nvSpPr>
        <p:spPr>
          <a:xfrm>
            <a:off x="14264640" y="3886200"/>
            <a:ext cx="2743200" cy="365760"/>
          </a:xfrm>
          <a:prstGeom prst="rect">
            <a:avLst/>
          </a:prstGeom>
          <a:noFill/>
          <a:ln/>
        </p:spPr>
        <p:txBody>
          <a:bodyPr wrap="square" lIns="0" tIns="0" rIns="0" bIns="0" rtlCol="0" anchor="ctr"/>
          <a:lstStyle/>
          <a:p>
            <a:pPr marL="0" indent="0" algn="r">
              <a:buNone/>
            </a:pPr>
            <a:r>
              <a:rPr lang="en-US" sz="1300" kern="0" spc="200" dirty="0">
                <a:solidFill>
                  <a:srgbClr val="44528A"/>
                </a:solidFill>
                <a:latin typeface="Calibri" pitchFamily="34" charset="0"/>
                <a:ea typeface="Calibri" pitchFamily="34" charset="-122"/>
                <a:cs typeface="Calibri" pitchFamily="34" charset="-120"/>
              </a:rPr>
              <a:t>SKILLS TRACKED</a:t>
            </a:r>
            <a:endParaRPr lang="en-US" sz="1300" dirty="0"/>
          </a:p>
        </p:txBody>
      </p:sp>
      <p:sp>
        <p:nvSpPr>
          <p:cNvPr id="10" name="Text 8"/>
          <p:cNvSpPr txBox="1"/>
          <p:nvPr/>
        </p:nvSpPr>
        <p:spPr>
          <a:xfrm>
            <a:off x="14264640" y="4663440"/>
            <a:ext cx="2743200" cy="1737360"/>
          </a:xfrm>
          <a:prstGeom prst="rect">
            <a:avLst/>
          </a:prstGeom>
          <a:noFill/>
          <a:ln/>
        </p:spPr>
        <p:txBody>
          <a:bodyPr wrap="square" lIns="0" tIns="0" rIns="0" bIns="0" rtlCol="0" anchor="ctr"/>
          <a:lstStyle/>
          <a:p>
            <a:pPr marL="0" indent="0" algn="r">
              <a:buNone/>
            </a:pPr>
            <a:r>
              <a:rPr lang="en-US" sz="9600" dirty="0">
                <a:solidFill>
                  <a:srgbClr val="324070"/>
                </a:solidFill>
                <a:latin typeface="Bahnschrift Light" pitchFamily="34" charset="0"/>
                <a:ea typeface="Bahnschrift Light" pitchFamily="34" charset="-122"/>
                <a:cs typeface="Bahnschrift Light" pitchFamily="34" charset="-120"/>
              </a:rPr>
              <a:t>06</a:t>
            </a:r>
            <a:endParaRPr lang="en-US" sz="9600" dirty="0"/>
          </a:p>
        </p:txBody>
      </p:sp>
      <p:sp>
        <p:nvSpPr>
          <p:cNvPr id="11" name="Text 9"/>
          <p:cNvSpPr txBox="1"/>
          <p:nvPr/>
        </p:nvSpPr>
        <p:spPr>
          <a:xfrm>
            <a:off x="14264640" y="6400800"/>
            <a:ext cx="2743200" cy="365760"/>
          </a:xfrm>
          <a:prstGeom prst="rect">
            <a:avLst/>
          </a:prstGeom>
          <a:noFill/>
          <a:ln/>
        </p:spPr>
        <p:txBody>
          <a:bodyPr wrap="square" lIns="0" tIns="0" rIns="0" bIns="0" rtlCol="0" anchor="ctr"/>
          <a:lstStyle/>
          <a:p>
            <a:pPr marL="0" indent="0" algn="r">
              <a:buNone/>
            </a:pPr>
            <a:r>
              <a:rPr lang="en-US" sz="1300" kern="0" spc="200" dirty="0">
                <a:solidFill>
                  <a:srgbClr val="44528A"/>
                </a:solidFill>
                <a:latin typeface="Calibri" pitchFamily="34" charset="0"/>
                <a:ea typeface="Calibri" pitchFamily="34" charset="-122"/>
                <a:cs typeface="Calibri" pitchFamily="34" charset="-120"/>
              </a:rPr>
              <a:t>HELD BY THREE OR FEWER</a:t>
            </a:r>
            <a:endParaRPr lang="en-US" sz="1300" dirty="0"/>
          </a:p>
        </p:txBody>
      </p:sp>
      <p:sp>
        <p:nvSpPr>
          <p:cNvPr id="12" name="Text 10"/>
          <p:cNvSpPr txBox="1"/>
          <p:nvPr/>
        </p:nvSpPr>
        <p:spPr>
          <a:xfrm>
            <a:off x="1280160" y="8641080"/>
            <a:ext cx="10972800" cy="365760"/>
          </a:xfrm>
          <a:prstGeom prst="rect">
            <a:avLst/>
          </a:prstGeom>
          <a:noFill/>
          <a:ln/>
        </p:spPr>
        <p:txBody>
          <a:bodyPr wrap="square" lIns="0" tIns="0" rIns="0" bIns="0" rtlCol="0" anchor="ctr"/>
          <a:lstStyle/>
          <a:p>
            <a:pPr marL="0" indent="0">
              <a:buNone/>
            </a:pPr>
            <a:r>
              <a:rPr lang="en-US" sz="1300" b="1" kern="0" spc="300" dirty="0">
                <a:solidFill>
                  <a:srgbClr val="8E98AE"/>
                </a:solidFill>
                <a:latin typeface="Calibri" pitchFamily="34" charset="0"/>
                <a:ea typeface="Calibri" pitchFamily="34" charset="-122"/>
                <a:cs typeface="Calibri" pitchFamily="34" charset="-120"/>
              </a:rPr>
              <a:t>SOUTHWEST MN HACKS 2026  ·  SCHWAN'S PROMPT 01</a:t>
            </a:r>
            <a:endParaRPr lang="en-US" sz="1300" dirty="0"/>
          </a:p>
        </p:txBody>
      </p:sp>
      <p:sp>
        <p:nvSpPr>
          <p:cNvPr id="13" name="Text 11"/>
          <p:cNvSpPr txBox="1"/>
          <p:nvPr/>
        </p:nvSpPr>
        <p:spPr>
          <a:xfrm>
            <a:off x="1280160" y="9052560"/>
            <a:ext cx="13716000" cy="457200"/>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Talent Readiness and Skills Intelligence  ·  Ajay Angdembe, solo  ·  github.com/Aj-Networks/schwan_s</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1280160" y="914400"/>
            <a:ext cx="8229600" cy="365760"/>
          </a:xfrm>
          <a:prstGeom prst="rect">
            <a:avLst/>
          </a:prstGeom>
          <a:noFill/>
          <a:ln/>
        </p:spPr>
        <p:txBody>
          <a:bodyPr wrap="square" lIns="0" tIns="0" rIns="0" bIns="0" rtlCol="0" anchor="ctr"/>
          <a:lstStyle/>
          <a:p>
            <a:pPr marL="0" indent="0">
              <a:buNone/>
            </a:pPr>
            <a:r>
              <a:rPr lang="en-US" sz="1300" b="1" kern="0" spc="300" dirty="0">
                <a:solidFill>
                  <a:srgbClr val="6E7788"/>
                </a:solidFill>
                <a:latin typeface="Calibri" pitchFamily="34" charset="0"/>
                <a:ea typeface="Calibri" pitchFamily="34" charset="-122"/>
                <a:cs typeface="Calibri" pitchFamily="34" charset="-120"/>
              </a:rPr>
              <a:t>THE PROBLEM</a:t>
            </a:r>
            <a:endParaRPr lang="en-US" sz="1300" dirty="0"/>
          </a:p>
        </p:txBody>
      </p:sp>
      <p:sp>
        <p:nvSpPr>
          <p:cNvPr id="3" name="Text 1"/>
          <p:cNvSpPr txBox="1"/>
          <p:nvPr/>
        </p:nvSpPr>
        <p:spPr>
          <a:xfrm>
            <a:off x="1280160" y="1371600"/>
            <a:ext cx="11430000" cy="1828800"/>
          </a:xfrm>
          <a:prstGeom prst="rect">
            <a:avLst/>
          </a:prstGeom>
          <a:noFill/>
          <a:ln/>
        </p:spPr>
        <p:txBody>
          <a:bodyPr wrap="square" lIns="0" tIns="0" rIns="0" bIns="0" rtlCol="0" anchor="ctr"/>
          <a:lstStyle/>
          <a:p>
            <a:pPr marL="0" indent="0">
              <a:lnSpc>
                <a:spcPct val="106000"/>
              </a:lnSpc>
              <a:buNone/>
            </a:pPr>
            <a:r>
              <a:rPr lang="en-US" sz="4400" dirty="0">
                <a:solidFill>
                  <a:srgbClr val="232E54"/>
                </a:solidFill>
                <a:latin typeface="Bahnschrift SemiBold" pitchFamily="34" charset="0"/>
                <a:ea typeface="Bahnschrift SemiBold" pitchFamily="34" charset="-122"/>
                <a:cs typeface="Bahnschrift SemiBold" pitchFamily="34" charset="-120"/>
              </a:rPr>
              <a:t>Skills data sits in different places,</a:t>
            </a:r>
            <a:endParaRPr lang="en-US" sz="4400" dirty="0"/>
          </a:p>
          <a:p>
            <a:pPr marL="0" indent="0">
              <a:lnSpc>
                <a:spcPct val="106000"/>
              </a:lnSpc>
              <a:buNone/>
            </a:pPr>
            <a:r>
              <a:rPr lang="en-US" sz="4400" dirty="0">
                <a:solidFill>
                  <a:srgbClr val="232E54"/>
                </a:solidFill>
                <a:latin typeface="Bahnschrift SemiBold" pitchFamily="34" charset="0"/>
                <a:ea typeface="Bahnschrift SemiBold" pitchFamily="34" charset="-122"/>
                <a:cs typeface="Bahnschrift SemiBold" pitchFamily="34" charset="-120"/>
              </a:rPr>
              <a:t>so a simple question has no answer.</a:t>
            </a:r>
            <a:endParaRPr lang="en-US" sz="4400" dirty="0"/>
          </a:p>
        </p:txBody>
      </p:sp>
      <p:sp>
        <p:nvSpPr>
          <p:cNvPr id="4" name="Text 2"/>
          <p:cNvSpPr txBox="1"/>
          <p:nvPr/>
        </p:nvSpPr>
        <p:spPr>
          <a:xfrm>
            <a:off x="1280160" y="3931920"/>
            <a:ext cx="11887200" cy="1645920"/>
          </a:xfrm>
          <a:prstGeom prst="rect">
            <a:avLst/>
          </a:prstGeom>
          <a:noFill/>
          <a:ln/>
        </p:spPr>
        <p:txBody>
          <a:bodyPr wrap="square" lIns="0" tIns="0" rIns="0" bIns="0" rtlCol="0" anchor="ctr"/>
          <a:lstStyle/>
          <a:p>
            <a:pPr marL="0" indent="0">
              <a:lnSpc>
                <a:spcPct val="120000"/>
              </a:lnSpc>
              <a:buNone/>
            </a:pPr>
            <a:r>
              <a:rPr lang="en-US" sz="3400" i="1" dirty="0">
                <a:solidFill>
                  <a:srgbClr val="324070"/>
                </a:solidFill>
                <a:latin typeface="Bahnschrift SemiBold" pitchFamily="34" charset="0"/>
                <a:ea typeface="Bahnschrift SemiBold" pitchFamily="34" charset="-122"/>
                <a:cs typeface="Bahnschrift SemiBold" pitchFamily="34" charset="-120"/>
              </a:rPr>
              <a:t>“If the person who knows the ammonia system leaves,</a:t>
            </a:r>
            <a:endParaRPr lang="en-US" sz="3400" dirty="0"/>
          </a:p>
          <a:p>
            <a:pPr marL="0" indent="0">
              <a:lnSpc>
                <a:spcPct val="120000"/>
              </a:lnSpc>
              <a:buNone/>
            </a:pPr>
            <a:r>
              <a:rPr lang="en-US" sz="3400" i="1" dirty="0">
                <a:solidFill>
                  <a:srgbClr val="324070"/>
                </a:solidFill>
                <a:latin typeface="Bahnschrift SemiBold" pitchFamily="34" charset="0"/>
                <a:ea typeface="Bahnschrift SemiBold" pitchFamily="34" charset="-122"/>
                <a:cs typeface="Bahnschrift SemiBold" pitchFamily="34" charset="-120"/>
              </a:rPr>
              <a:t>who else can do it?”</a:t>
            </a:r>
            <a:endParaRPr lang="en-US" sz="3400" dirty="0"/>
          </a:p>
        </p:txBody>
      </p:sp>
      <p:sp>
        <p:nvSpPr>
          <p:cNvPr id="5" name="Text 3"/>
          <p:cNvSpPr txBox="1"/>
          <p:nvPr/>
        </p:nvSpPr>
        <p:spPr>
          <a:xfrm>
            <a:off x="1280160" y="5760720"/>
            <a:ext cx="11887200" cy="548640"/>
          </a:xfrm>
          <a:prstGeom prst="rect">
            <a:avLst/>
          </a:prstGeom>
          <a:noFill/>
          <a:ln/>
        </p:spPr>
        <p:txBody>
          <a:bodyPr wrap="square" lIns="0" tIns="0" rIns="0" bIns="0" rtlCol="0" anchor="ctr"/>
          <a:lstStyle/>
          <a:p>
            <a:pPr marL="0" indent="0">
              <a:buNone/>
            </a:pPr>
            <a:r>
              <a:rPr lang="en-US" sz="1900" dirty="0">
                <a:solidFill>
                  <a:srgbClr val="6E7788"/>
                </a:solidFill>
                <a:latin typeface="Calibri" pitchFamily="34" charset="0"/>
                <a:ea typeface="Calibri" pitchFamily="34" charset="-122"/>
                <a:cs typeface="Calibri" pitchFamily="34" charset="-120"/>
              </a:rPr>
              <a:t>Today that takes phone calls to three plants. It should take one click.</a:t>
            </a:r>
            <a:endParaRPr lang="en-US" sz="1900" dirty="0"/>
          </a:p>
        </p:txBody>
      </p:sp>
      <p:sp>
        <p:nvSpPr>
          <p:cNvPr id="6" name="Shape 4"/>
          <p:cNvSpPr/>
          <p:nvPr/>
        </p:nvSpPr>
        <p:spPr>
          <a:xfrm>
            <a:off x="1280160" y="6812280"/>
            <a:ext cx="15727680" cy="0"/>
          </a:xfrm>
          <a:prstGeom prst="line">
            <a:avLst/>
          </a:prstGeom>
          <a:noFill/>
          <a:ln w="12700">
            <a:solidFill>
              <a:srgbClr val="D9D9D9"/>
            </a:solidFill>
            <a:prstDash val="solid"/>
          </a:ln>
        </p:spPr>
        <p:txBody>
          <a:bodyPr/>
          <a:lstStyle/>
          <a:p>
            <a:endParaRPr lang="en-US"/>
          </a:p>
        </p:txBody>
      </p:sp>
      <p:sp>
        <p:nvSpPr>
          <p:cNvPr id="7" name="Text 5"/>
          <p:cNvSpPr txBox="1"/>
          <p:nvPr/>
        </p:nvSpPr>
        <p:spPr>
          <a:xfrm>
            <a:off x="1280160" y="6949440"/>
            <a:ext cx="3657600" cy="1005840"/>
          </a:xfrm>
          <a:prstGeom prst="rect">
            <a:avLst/>
          </a:prstGeom>
          <a:noFill/>
          <a:ln/>
        </p:spPr>
        <p:txBody>
          <a:bodyPr wrap="square" lIns="0" tIns="0" rIns="0" bIns="0" rtlCol="0" anchor="ctr"/>
          <a:lstStyle/>
          <a:p>
            <a:pPr marL="0" indent="0">
              <a:buNone/>
            </a:pPr>
            <a:r>
              <a:rPr lang="en-US" sz="5400" dirty="0">
                <a:solidFill>
                  <a:srgbClr val="18212F"/>
                </a:solidFill>
                <a:latin typeface="Bahnschrift SemiBold" pitchFamily="34" charset="0"/>
                <a:ea typeface="Bahnschrift SemiBold" pitchFamily="34" charset="-122"/>
                <a:cs typeface="Bahnschrift SemiBold" pitchFamily="34" charset="-120"/>
              </a:rPr>
              <a:t>12+</a:t>
            </a:r>
            <a:endParaRPr lang="en-US" sz="5400" dirty="0"/>
          </a:p>
        </p:txBody>
      </p:sp>
      <p:sp>
        <p:nvSpPr>
          <p:cNvPr id="8" name="Text 6"/>
          <p:cNvSpPr txBox="1"/>
          <p:nvPr/>
        </p:nvSpPr>
        <p:spPr>
          <a:xfrm>
            <a:off x="1280160" y="8046720"/>
            <a:ext cx="3657600" cy="457200"/>
          </a:xfrm>
          <a:prstGeom prst="rect">
            <a:avLst/>
          </a:prstGeom>
          <a:noFill/>
          <a:ln/>
        </p:spPr>
        <p:txBody>
          <a:bodyPr wrap="square" lIns="0" tIns="0" rIns="0" bIns="0" rtlCol="0" anchor="ctr"/>
          <a:lstStyle/>
          <a:p>
            <a:pPr marL="0" indent="0">
              <a:buNone/>
            </a:pPr>
            <a:r>
              <a:rPr lang="en-US" sz="1500" dirty="0">
                <a:solidFill>
                  <a:srgbClr val="6E7788"/>
                </a:solidFill>
                <a:latin typeface="Calibri" pitchFamily="34" charset="0"/>
                <a:ea typeface="Calibri" pitchFamily="34" charset="-122"/>
                <a:cs typeface="Calibri" pitchFamily="34" charset="-120"/>
              </a:rPr>
              <a:t>US facilities</a:t>
            </a:r>
            <a:endParaRPr lang="en-US" sz="1500" dirty="0"/>
          </a:p>
        </p:txBody>
      </p:sp>
      <p:sp>
        <p:nvSpPr>
          <p:cNvPr id="9" name="Text 7"/>
          <p:cNvSpPr txBox="1"/>
          <p:nvPr/>
        </p:nvSpPr>
        <p:spPr>
          <a:xfrm>
            <a:off x="5212080" y="6949440"/>
            <a:ext cx="3657600" cy="1005840"/>
          </a:xfrm>
          <a:prstGeom prst="rect">
            <a:avLst/>
          </a:prstGeom>
          <a:noFill/>
          <a:ln/>
        </p:spPr>
        <p:txBody>
          <a:bodyPr wrap="square" lIns="0" tIns="0" rIns="0" bIns="0" rtlCol="0" anchor="ctr"/>
          <a:lstStyle/>
          <a:p>
            <a:pPr marL="0" indent="0">
              <a:buNone/>
            </a:pPr>
            <a:r>
              <a:rPr lang="en-US" sz="5400" dirty="0">
                <a:solidFill>
                  <a:srgbClr val="18212F"/>
                </a:solidFill>
                <a:latin typeface="Bahnschrift SemiBold" pitchFamily="34" charset="0"/>
                <a:ea typeface="Bahnschrift SemiBold" pitchFamily="34" charset="-122"/>
                <a:cs typeface="Bahnschrift SemiBold" pitchFamily="34" charset="-120"/>
              </a:rPr>
              <a:t>4</a:t>
            </a:r>
            <a:endParaRPr lang="en-US" sz="5400" dirty="0"/>
          </a:p>
        </p:txBody>
      </p:sp>
      <p:sp>
        <p:nvSpPr>
          <p:cNvPr id="10" name="Text 8"/>
          <p:cNvSpPr txBox="1"/>
          <p:nvPr/>
        </p:nvSpPr>
        <p:spPr>
          <a:xfrm>
            <a:off x="5212080" y="8046720"/>
            <a:ext cx="3657600" cy="457200"/>
          </a:xfrm>
          <a:prstGeom prst="rect">
            <a:avLst/>
          </a:prstGeom>
          <a:noFill/>
          <a:ln/>
        </p:spPr>
        <p:txBody>
          <a:bodyPr wrap="square" lIns="0" tIns="0" rIns="0" bIns="0" rtlCol="0" anchor="ctr"/>
          <a:lstStyle/>
          <a:p>
            <a:pPr marL="0" indent="0">
              <a:buNone/>
            </a:pPr>
            <a:r>
              <a:rPr lang="en-US" sz="1500" dirty="0">
                <a:solidFill>
                  <a:srgbClr val="6E7788"/>
                </a:solidFill>
                <a:latin typeface="Calibri" pitchFamily="34" charset="0"/>
                <a:ea typeface="Calibri" pitchFamily="34" charset="-122"/>
                <a:cs typeface="Calibri" pitchFamily="34" charset="-120"/>
              </a:rPr>
              <a:t>job groups</a:t>
            </a:r>
            <a:endParaRPr lang="en-US" sz="1500" dirty="0"/>
          </a:p>
        </p:txBody>
      </p:sp>
      <p:sp>
        <p:nvSpPr>
          <p:cNvPr id="11" name="Text 9"/>
          <p:cNvSpPr txBox="1"/>
          <p:nvPr/>
        </p:nvSpPr>
        <p:spPr>
          <a:xfrm>
            <a:off x="9144000" y="6949440"/>
            <a:ext cx="3657600" cy="1005840"/>
          </a:xfrm>
          <a:prstGeom prst="rect">
            <a:avLst/>
          </a:prstGeom>
          <a:noFill/>
          <a:ln/>
        </p:spPr>
        <p:txBody>
          <a:bodyPr wrap="square" lIns="0" tIns="0" rIns="0" bIns="0" rtlCol="0" anchor="ctr"/>
          <a:lstStyle/>
          <a:p>
            <a:pPr marL="0" indent="0">
              <a:buNone/>
            </a:pPr>
            <a:r>
              <a:rPr lang="en-US" sz="5400" dirty="0">
                <a:solidFill>
                  <a:srgbClr val="18212F"/>
                </a:solidFill>
                <a:latin typeface="Bahnschrift SemiBold" pitchFamily="34" charset="0"/>
                <a:ea typeface="Bahnschrift SemiBold" pitchFamily="34" charset="-122"/>
                <a:cs typeface="Bahnschrift SemiBold" pitchFamily="34" charset="-120"/>
              </a:rPr>
              <a:t>2027</a:t>
            </a:r>
            <a:endParaRPr lang="en-US" sz="5400" dirty="0"/>
          </a:p>
        </p:txBody>
      </p:sp>
      <p:sp>
        <p:nvSpPr>
          <p:cNvPr id="12" name="Text 10"/>
          <p:cNvSpPr txBox="1"/>
          <p:nvPr/>
        </p:nvSpPr>
        <p:spPr>
          <a:xfrm>
            <a:off x="9144000" y="8046720"/>
            <a:ext cx="3657600" cy="457200"/>
          </a:xfrm>
          <a:prstGeom prst="rect">
            <a:avLst/>
          </a:prstGeom>
          <a:noFill/>
          <a:ln/>
        </p:spPr>
        <p:txBody>
          <a:bodyPr wrap="square" lIns="0" tIns="0" rIns="0" bIns="0" rtlCol="0" anchor="ctr"/>
          <a:lstStyle/>
          <a:p>
            <a:pPr marL="0" indent="0">
              <a:buNone/>
            </a:pPr>
            <a:r>
              <a:rPr lang="en-US" sz="1500" dirty="0">
                <a:solidFill>
                  <a:srgbClr val="6E7788"/>
                </a:solidFill>
                <a:latin typeface="Calibri" pitchFamily="34" charset="0"/>
                <a:ea typeface="Calibri" pitchFamily="34" charset="-122"/>
                <a:cs typeface="Calibri" pitchFamily="34" charset="-120"/>
              </a:rPr>
              <a:t>Sioux Falls opens</a:t>
            </a:r>
            <a:endParaRPr lang="en-US" sz="1500" dirty="0"/>
          </a:p>
        </p:txBody>
      </p:sp>
      <p:sp>
        <p:nvSpPr>
          <p:cNvPr id="13" name="Text 11"/>
          <p:cNvSpPr txBox="1"/>
          <p:nvPr/>
        </p:nvSpPr>
        <p:spPr>
          <a:xfrm>
            <a:off x="13075920" y="6949440"/>
            <a:ext cx="3657600" cy="1005840"/>
          </a:xfrm>
          <a:prstGeom prst="rect">
            <a:avLst/>
          </a:prstGeom>
          <a:noFill/>
          <a:ln/>
        </p:spPr>
        <p:txBody>
          <a:bodyPr wrap="square" lIns="0" tIns="0" rIns="0" bIns="0" rtlCol="0" anchor="ctr"/>
          <a:lstStyle/>
          <a:p>
            <a:pPr marL="0" indent="0">
              <a:buNone/>
            </a:pPr>
            <a:r>
              <a:rPr lang="en-US" sz="5400" dirty="0">
                <a:solidFill>
                  <a:srgbClr val="232E54"/>
                </a:solidFill>
                <a:latin typeface="Bahnschrift SemiBold" pitchFamily="34" charset="0"/>
                <a:ea typeface="Bahnschrift SemiBold" pitchFamily="34" charset="-122"/>
                <a:cs typeface="Bahnschrift SemiBold" pitchFamily="34" charset="-120"/>
              </a:rPr>
              <a:t>0</a:t>
            </a:r>
            <a:endParaRPr lang="en-US" sz="5400" dirty="0"/>
          </a:p>
        </p:txBody>
      </p:sp>
      <p:sp>
        <p:nvSpPr>
          <p:cNvPr id="14" name="Text 12"/>
          <p:cNvSpPr txBox="1"/>
          <p:nvPr/>
        </p:nvSpPr>
        <p:spPr>
          <a:xfrm>
            <a:off x="13075920" y="8046720"/>
            <a:ext cx="3657600" cy="457200"/>
          </a:xfrm>
          <a:prstGeom prst="rect">
            <a:avLst/>
          </a:prstGeom>
          <a:noFill/>
          <a:ln/>
        </p:spPr>
        <p:txBody>
          <a:bodyPr wrap="square" lIns="0" tIns="0" rIns="0" bIns="0" rtlCol="0" anchor="ctr"/>
          <a:lstStyle/>
          <a:p>
            <a:pPr marL="0" indent="0">
              <a:buNone/>
            </a:pPr>
            <a:r>
              <a:rPr lang="en-US" sz="1500" dirty="0">
                <a:solidFill>
                  <a:srgbClr val="6E7788"/>
                </a:solidFill>
                <a:latin typeface="Calibri" pitchFamily="34" charset="0"/>
                <a:ea typeface="Calibri" pitchFamily="34" charset="-122"/>
                <a:cs typeface="Calibri" pitchFamily="34" charset="-120"/>
              </a:rPr>
              <a:t>single view of skills</a:t>
            </a:r>
            <a:endParaRPr lang="en-US" sz="1500" dirty="0"/>
          </a:p>
        </p:txBody>
      </p:sp>
      <p:sp>
        <p:nvSpPr>
          <p:cNvPr id="15" name="Shape 13"/>
          <p:cNvSpPr/>
          <p:nvPr/>
        </p:nvSpPr>
        <p:spPr>
          <a:xfrm>
            <a:off x="1280160" y="9189720"/>
            <a:ext cx="15727680" cy="0"/>
          </a:xfrm>
          <a:prstGeom prst="line">
            <a:avLst/>
          </a:prstGeom>
          <a:noFill/>
          <a:ln w="12700">
            <a:solidFill>
              <a:srgbClr val="D9D9D9"/>
            </a:solidFill>
            <a:prstDash val="solid"/>
          </a:ln>
        </p:spPr>
        <p:txBody>
          <a:bodyPr/>
          <a:lstStyle/>
          <a:p>
            <a:endParaRPr lang="en-US"/>
          </a:p>
        </p:txBody>
      </p:sp>
      <p:sp>
        <p:nvSpPr>
          <p:cNvPr id="16" name="Text 14"/>
          <p:cNvSpPr txBox="1"/>
          <p:nvPr/>
        </p:nvSpPr>
        <p:spPr>
          <a:xfrm>
            <a:off x="1280160" y="9372600"/>
            <a:ext cx="8138160" cy="411480"/>
          </a:xfrm>
          <a:prstGeom prst="rect">
            <a:avLst/>
          </a:prstGeom>
          <a:noFill/>
          <a:ln/>
        </p:spPr>
        <p:txBody>
          <a:bodyPr wrap="square" lIns="0" tIns="0" rIns="0" bIns="0" rtlCol="0" anchor="ctr"/>
          <a:lstStyle/>
          <a:p>
            <a:pPr marL="0" indent="0">
              <a:buNone/>
            </a:pPr>
            <a:r>
              <a:rPr lang="en-US" sz="1400" b="1" kern="0" spc="200" dirty="0">
                <a:solidFill>
                  <a:srgbClr val="6E7788"/>
                </a:solidFill>
                <a:latin typeface="Calibri" pitchFamily="34" charset="0"/>
                <a:ea typeface="Calibri" pitchFamily="34" charset="-122"/>
                <a:cs typeface="Calibri" pitchFamily="34" charset="-120"/>
              </a:rPr>
              <a:t>IN THE APP   </a:t>
            </a:r>
            <a:r>
              <a:rPr lang="en-US" sz="1400" dirty="0">
                <a:solidFill>
                  <a:srgbClr val="18212F"/>
                </a:solidFill>
                <a:latin typeface="Calibri" pitchFamily="34" charset="0"/>
                <a:ea typeface="Calibri" pitchFamily="34" charset="-122"/>
                <a:cs typeface="Calibri" pitchFamily="34" charset="-120"/>
              </a:rPr>
              <a:t>Sets up the whole demo</a:t>
            </a:r>
            <a:endParaRPr lang="en-US" sz="1400" dirty="0"/>
          </a:p>
        </p:txBody>
      </p:sp>
      <p:sp>
        <p:nvSpPr>
          <p:cNvPr id="17" name="Text 15"/>
          <p:cNvSpPr txBox="1"/>
          <p:nvPr/>
        </p:nvSpPr>
        <p:spPr>
          <a:xfrm>
            <a:off x="9418320" y="9372600"/>
            <a:ext cx="7589520" cy="411480"/>
          </a:xfrm>
          <a:prstGeom prst="rect">
            <a:avLst/>
          </a:prstGeom>
          <a:noFill/>
          <a:ln/>
        </p:spPr>
        <p:txBody>
          <a:bodyPr wrap="square" lIns="0" tIns="0" rIns="0" bIns="0" rtlCol="0" anchor="ctr"/>
          <a:lstStyle/>
          <a:p>
            <a:pPr marL="0" indent="0">
              <a:buNone/>
            </a:pPr>
            <a:r>
              <a:rPr lang="en-US" sz="1400" b="1" kern="0" spc="200" dirty="0">
                <a:solidFill>
                  <a:srgbClr val="6E7788"/>
                </a:solidFill>
                <a:latin typeface="Calibri" pitchFamily="34" charset="0"/>
                <a:ea typeface="Calibri" pitchFamily="34" charset="-122"/>
                <a:cs typeface="Calibri" pitchFamily="34" charset="-120"/>
              </a:rPr>
              <a:t>NUMBERS FROM   </a:t>
            </a:r>
            <a:r>
              <a:rPr lang="en-US" sz="1400" dirty="0">
                <a:solidFill>
                  <a:srgbClr val="18212F"/>
                </a:solidFill>
                <a:latin typeface="Calibri" pitchFamily="34" charset="0"/>
                <a:ea typeface="Calibri" pitchFamily="34" charset="-122"/>
                <a:cs typeface="Calibri" pitchFamily="34" charset="-120"/>
              </a:rPr>
              <a:t>Facilities and job groups from Schwan's careers site.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232E54"/>
          </a:solidFill>
          <a:ln w="12700">
            <a:solidFill>
              <a:srgbClr val="232E54"/>
            </a:solidFill>
            <a:prstDash val="solid"/>
          </a:ln>
        </p:spPr>
        <p:txBody>
          <a:bodyPr/>
          <a:lstStyle/>
          <a:p>
            <a:endParaRPr lang="en-US"/>
          </a:p>
        </p:txBody>
      </p:sp>
      <p:sp>
        <p:nvSpPr>
          <p:cNvPr id="3" name="Shape 1"/>
          <p:cNvSpPr/>
          <p:nvPr/>
        </p:nvSpPr>
        <p:spPr>
          <a:xfrm>
            <a:off x="10607040" y="0"/>
            <a:ext cx="7680960" cy="10286999"/>
          </a:xfrm>
          <a:prstGeom prst="rect">
            <a:avLst/>
          </a:prstGeom>
          <a:solidFill>
            <a:srgbClr val="324070"/>
          </a:solidFill>
          <a:ln w="12700">
            <a:solidFill>
              <a:srgbClr val="324070"/>
            </a:solidFill>
            <a:prstDash val="solid"/>
          </a:ln>
        </p:spPr>
        <p:txBody>
          <a:bodyPr/>
          <a:lstStyle/>
          <a:p>
            <a:endParaRPr lang="en-US"/>
          </a:p>
        </p:txBody>
      </p:sp>
      <p:sp>
        <p:nvSpPr>
          <p:cNvPr id="4" name="Text 2"/>
          <p:cNvSpPr txBox="1"/>
          <p:nvPr/>
        </p:nvSpPr>
        <p:spPr>
          <a:xfrm>
            <a:off x="1280160" y="914400"/>
            <a:ext cx="8229600" cy="365760"/>
          </a:xfrm>
          <a:prstGeom prst="rect">
            <a:avLst/>
          </a:prstGeom>
          <a:noFill/>
          <a:ln/>
        </p:spPr>
        <p:txBody>
          <a:bodyPr wrap="square" lIns="0" tIns="0" rIns="0" bIns="0" rtlCol="0" anchor="ctr"/>
          <a:lstStyle/>
          <a:p>
            <a:pPr marL="0" indent="0">
              <a:buNone/>
            </a:pPr>
            <a:r>
              <a:rPr lang="en-US" sz="1300" b="1" kern="0" spc="300" dirty="0">
                <a:solidFill>
                  <a:srgbClr val="8E98AE"/>
                </a:solidFill>
                <a:latin typeface="Calibri" pitchFamily="34" charset="0"/>
                <a:ea typeface="Calibri" pitchFamily="34" charset="-122"/>
                <a:cs typeface="Calibri" pitchFamily="34" charset="-120"/>
              </a:rPr>
              <a:t>WHAT THE DATA SHOWS</a:t>
            </a:r>
            <a:endParaRPr lang="en-US" sz="1300" dirty="0"/>
          </a:p>
        </p:txBody>
      </p:sp>
      <p:sp>
        <p:nvSpPr>
          <p:cNvPr id="5" name="Text 3"/>
          <p:cNvSpPr txBox="1"/>
          <p:nvPr/>
        </p:nvSpPr>
        <p:spPr>
          <a:xfrm>
            <a:off x="1280160" y="1371600"/>
            <a:ext cx="8595360" cy="1828800"/>
          </a:xfrm>
          <a:prstGeom prst="rect">
            <a:avLst/>
          </a:prstGeom>
          <a:noFill/>
          <a:ln/>
        </p:spPr>
        <p:txBody>
          <a:bodyPr wrap="square" lIns="0" tIns="0" rIns="0" bIns="0" rtlCol="0" anchor="ctr"/>
          <a:lstStyle/>
          <a:p>
            <a:pPr marL="0" indent="0">
              <a:lnSpc>
                <a:spcPct val="106000"/>
              </a:lnSpc>
              <a:buNone/>
            </a:pPr>
            <a:r>
              <a:rPr lang="en-US" sz="4000" dirty="0">
                <a:solidFill>
                  <a:srgbClr val="FFFFFF"/>
                </a:solidFill>
                <a:latin typeface="Bahnschrift SemiBold" pitchFamily="34" charset="0"/>
                <a:ea typeface="Bahnschrift SemiBold" pitchFamily="34" charset="-122"/>
                <a:cs typeface="Bahnschrift SemiBold" pitchFamily="34" charset="-120"/>
              </a:rPr>
              <a:t>Six skills are held by</a:t>
            </a:r>
            <a:endParaRPr lang="en-US" sz="4000" dirty="0"/>
          </a:p>
          <a:p>
            <a:pPr marL="0" indent="0">
              <a:lnSpc>
                <a:spcPct val="106000"/>
              </a:lnSpc>
              <a:buNone/>
            </a:pPr>
            <a:r>
              <a:rPr lang="en-US" sz="4000" dirty="0">
                <a:solidFill>
                  <a:srgbClr val="FFFFFF"/>
                </a:solidFill>
                <a:latin typeface="Bahnschrift SemiBold" pitchFamily="34" charset="0"/>
                <a:ea typeface="Bahnschrift SemiBold" pitchFamily="34" charset="-122"/>
                <a:cs typeface="Bahnschrift SemiBold" pitchFamily="34" charset="-120"/>
              </a:rPr>
              <a:t>three people or fewer.</a:t>
            </a:r>
            <a:endParaRPr lang="en-US" sz="4000" dirty="0"/>
          </a:p>
        </p:txBody>
      </p:sp>
      <p:sp>
        <p:nvSpPr>
          <p:cNvPr id="6" name="Text 4"/>
          <p:cNvSpPr txBox="1"/>
          <p:nvPr/>
        </p:nvSpPr>
        <p:spPr>
          <a:xfrm>
            <a:off x="1280160" y="4114800"/>
            <a:ext cx="8412480" cy="1645920"/>
          </a:xfrm>
          <a:prstGeom prst="rect">
            <a:avLst/>
          </a:prstGeom>
          <a:noFill/>
          <a:ln/>
        </p:spPr>
        <p:txBody>
          <a:bodyPr wrap="square" lIns="0" tIns="0" rIns="0" bIns="0" rtlCol="0" anchor="ctr"/>
          <a:lstStyle/>
          <a:p>
            <a:pPr marL="0" indent="0">
              <a:lnSpc>
                <a:spcPct val="140000"/>
              </a:lnSpc>
              <a:buNone/>
            </a:pPr>
            <a:r>
              <a:rPr lang="en-US" sz="1900" dirty="0">
                <a:solidFill>
                  <a:srgbClr val="B9C2D4"/>
                </a:solidFill>
                <a:latin typeface="Calibri" pitchFamily="34" charset="0"/>
                <a:ea typeface="Calibri" pitchFamily="34" charset="-122"/>
                <a:cs typeface="Calibri" pitchFamily="34" charset="-120"/>
              </a:rPr>
              <a:t>One of them is held by a single person, at the Marshall R&amp;D centre. If that person leaves, frozen dough formulation leaves with them.</a:t>
            </a:r>
            <a:endParaRPr lang="en-US" sz="1900" dirty="0"/>
          </a:p>
        </p:txBody>
      </p:sp>
      <p:sp>
        <p:nvSpPr>
          <p:cNvPr id="7" name="Text 5"/>
          <p:cNvSpPr txBox="1"/>
          <p:nvPr/>
        </p:nvSpPr>
        <p:spPr>
          <a:xfrm>
            <a:off x="1280160" y="6126480"/>
            <a:ext cx="8412480" cy="2011680"/>
          </a:xfrm>
          <a:prstGeom prst="rect">
            <a:avLst/>
          </a:prstGeom>
          <a:noFill/>
          <a:ln/>
        </p:spPr>
        <p:txBody>
          <a:bodyPr wrap="square" lIns="0" tIns="0" rIns="0" bIns="0" rtlCol="0" anchor="ctr"/>
          <a:lstStyle/>
          <a:p>
            <a:pPr marL="0" indent="0">
              <a:lnSpc>
                <a:spcPct val="130000"/>
              </a:lnSpc>
              <a:buNone/>
            </a:pPr>
            <a:r>
              <a:rPr lang="en-US" sz="2400" dirty="0">
                <a:solidFill>
                  <a:srgbClr val="FFFFFF"/>
                </a:solidFill>
                <a:latin typeface="Bahnschrift SemiBold" pitchFamily="34" charset="0"/>
                <a:ea typeface="Bahnschrift SemiBold" pitchFamily="34" charset="-122"/>
                <a:cs typeface="Bahnschrift SemiBold" pitchFamily="34" charset="-120"/>
              </a:rPr>
              <a:t>A skill known by one person is not</a:t>
            </a:r>
            <a:endParaRPr lang="en-US" sz="2400" dirty="0"/>
          </a:p>
          <a:p>
            <a:pPr marL="0" indent="0">
              <a:lnSpc>
                <a:spcPct val="130000"/>
              </a:lnSpc>
              <a:buNone/>
            </a:pPr>
            <a:r>
              <a:rPr lang="en-US" sz="2400" dirty="0">
                <a:solidFill>
                  <a:srgbClr val="FFFFFF"/>
                </a:solidFill>
                <a:latin typeface="Bahnschrift SemiBold" pitchFamily="34" charset="0"/>
                <a:ea typeface="Bahnschrift SemiBold" pitchFamily="34" charset="-122"/>
                <a:cs typeface="Bahnschrift SemiBold" pitchFamily="34" charset="-120"/>
              </a:rPr>
              <a:t>a statistic. It is a production risk</a:t>
            </a:r>
            <a:endParaRPr lang="en-US" sz="2400" dirty="0"/>
          </a:p>
          <a:p>
            <a:pPr marL="0" indent="0">
              <a:lnSpc>
                <a:spcPct val="130000"/>
              </a:lnSpc>
              <a:buNone/>
            </a:pPr>
            <a:r>
              <a:rPr lang="en-US" sz="2400" dirty="0">
                <a:solidFill>
                  <a:srgbClr val="FFFFFF"/>
                </a:solidFill>
                <a:latin typeface="Bahnschrift SemiBold" pitchFamily="34" charset="0"/>
                <a:ea typeface="Bahnschrift SemiBold" pitchFamily="34" charset="-122"/>
                <a:cs typeface="Bahnschrift SemiBold" pitchFamily="34" charset="-120"/>
              </a:rPr>
              <a:t>with a name on it.</a:t>
            </a:r>
            <a:endParaRPr lang="en-US" sz="2400" dirty="0"/>
          </a:p>
        </p:txBody>
      </p:sp>
      <p:sp>
        <p:nvSpPr>
          <p:cNvPr id="8" name="Text 6"/>
          <p:cNvSpPr txBox="1"/>
          <p:nvPr/>
        </p:nvSpPr>
        <p:spPr>
          <a:xfrm>
            <a:off x="11064240" y="941832"/>
            <a:ext cx="914400" cy="914400"/>
          </a:xfrm>
          <a:prstGeom prst="rect">
            <a:avLst/>
          </a:prstGeom>
          <a:noFill/>
          <a:ln/>
        </p:spPr>
        <p:txBody>
          <a:bodyPr wrap="square" lIns="0" tIns="0" rIns="0" bIns="0" rtlCol="0" anchor="ctr"/>
          <a:lstStyle/>
          <a:p>
            <a:pPr marL="0" indent="0">
              <a:buNone/>
            </a:pPr>
            <a:r>
              <a:rPr lang="en-US" sz="4600" dirty="0">
                <a:solidFill>
                  <a:srgbClr val="FFFFFF"/>
                </a:solidFill>
                <a:latin typeface="Bahnschrift SemiBold" pitchFamily="34" charset="0"/>
                <a:ea typeface="Bahnschrift SemiBold" pitchFamily="34" charset="-122"/>
                <a:cs typeface="Bahnschrift SemiBold" pitchFamily="34" charset="-120"/>
              </a:rPr>
              <a:t>1</a:t>
            </a:r>
            <a:endParaRPr lang="en-US" sz="4600" dirty="0"/>
          </a:p>
        </p:txBody>
      </p:sp>
      <p:sp>
        <p:nvSpPr>
          <p:cNvPr id="9" name="Text 7"/>
          <p:cNvSpPr txBox="1"/>
          <p:nvPr/>
        </p:nvSpPr>
        <p:spPr>
          <a:xfrm>
            <a:off x="12070080" y="1069848"/>
            <a:ext cx="4572000" cy="411480"/>
          </a:xfrm>
          <a:prstGeom prst="rect">
            <a:avLst/>
          </a:prstGeom>
          <a:noFill/>
          <a:ln/>
        </p:spPr>
        <p:txBody>
          <a:bodyPr wrap="square" lIns="0" tIns="0" rIns="0" bIns="0" rtlCol="0" anchor="ctr"/>
          <a:lstStyle/>
          <a:p>
            <a:pPr marL="0" indent="0">
              <a:buNone/>
            </a:pPr>
            <a:r>
              <a:rPr lang="en-US" sz="1900" dirty="0">
                <a:solidFill>
                  <a:srgbClr val="FFFFFF"/>
                </a:solidFill>
                <a:latin typeface="Bahnschrift SemiBold" pitchFamily="34" charset="0"/>
                <a:ea typeface="Bahnschrift SemiBold" pitchFamily="34" charset="-122"/>
                <a:cs typeface="Bahnschrift SemiBold" pitchFamily="34" charset="-120"/>
              </a:rPr>
              <a:t>R&amp;D, frozen dough</a:t>
            </a:r>
            <a:endParaRPr lang="en-US" sz="1900" dirty="0"/>
          </a:p>
        </p:txBody>
      </p:sp>
      <p:sp>
        <p:nvSpPr>
          <p:cNvPr id="10" name="Text 8"/>
          <p:cNvSpPr txBox="1"/>
          <p:nvPr/>
        </p:nvSpPr>
        <p:spPr>
          <a:xfrm>
            <a:off x="12070080" y="1508760"/>
            <a:ext cx="4754880" cy="365760"/>
          </a:xfrm>
          <a:prstGeom prst="rect">
            <a:avLst/>
          </a:prstGeom>
          <a:noFill/>
          <a:ln/>
        </p:spPr>
        <p:txBody>
          <a:bodyPr wrap="square" lIns="0" tIns="0" rIns="0" bIns="0" rtlCol="0" anchor="ctr"/>
          <a:lstStyle/>
          <a:p>
            <a:pPr marL="0" indent="0">
              <a:buNone/>
            </a:pPr>
            <a:r>
              <a:rPr lang="en-US" sz="1400" dirty="0">
                <a:solidFill>
                  <a:srgbClr val="B9C2D4"/>
                </a:solidFill>
                <a:latin typeface="Calibri" pitchFamily="34" charset="0"/>
                <a:ea typeface="Calibri" pitchFamily="34" charset="-122"/>
                <a:cs typeface="Calibri" pitchFamily="34" charset="-120"/>
              </a:rPr>
              <a:t>Marshall, MN R&amp;D centre</a:t>
            </a:r>
            <a:endParaRPr lang="en-US" sz="1400" dirty="0"/>
          </a:p>
        </p:txBody>
      </p:sp>
      <p:sp>
        <p:nvSpPr>
          <p:cNvPr id="11" name="Shape 9"/>
          <p:cNvSpPr/>
          <p:nvPr/>
        </p:nvSpPr>
        <p:spPr>
          <a:xfrm>
            <a:off x="11064240" y="2039112"/>
            <a:ext cx="5760720" cy="0"/>
          </a:xfrm>
          <a:prstGeom prst="line">
            <a:avLst/>
          </a:prstGeom>
          <a:noFill/>
          <a:ln w="12700">
            <a:solidFill>
              <a:srgbClr val="44528A"/>
            </a:solidFill>
            <a:prstDash val="solid"/>
          </a:ln>
        </p:spPr>
        <p:txBody>
          <a:bodyPr/>
          <a:lstStyle/>
          <a:p>
            <a:endParaRPr lang="en-US"/>
          </a:p>
        </p:txBody>
      </p:sp>
      <p:sp>
        <p:nvSpPr>
          <p:cNvPr id="12" name="Text 10"/>
          <p:cNvSpPr txBox="1"/>
          <p:nvPr/>
        </p:nvSpPr>
        <p:spPr>
          <a:xfrm>
            <a:off x="11064240" y="2258568"/>
            <a:ext cx="914400" cy="914400"/>
          </a:xfrm>
          <a:prstGeom prst="rect">
            <a:avLst/>
          </a:prstGeom>
          <a:noFill/>
          <a:ln/>
        </p:spPr>
        <p:txBody>
          <a:bodyPr wrap="square" lIns="0" tIns="0" rIns="0" bIns="0" rtlCol="0" anchor="ctr"/>
          <a:lstStyle/>
          <a:p>
            <a:pPr marL="0" indent="0">
              <a:buNone/>
            </a:pPr>
            <a:r>
              <a:rPr lang="en-US" sz="4600" dirty="0">
                <a:solidFill>
                  <a:srgbClr val="FFFFFF"/>
                </a:solidFill>
                <a:latin typeface="Bahnschrift SemiBold" pitchFamily="34" charset="0"/>
                <a:ea typeface="Bahnschrift SemiBold" pitchFamily="34" charset="-122"/>
                <a:cs typeface="Bahnschrift SemiBold" pitchFamily="34" charset="-120"/>
              </a:rPr>
              <a:t>2</a:t>
            </a:r>
            <a:endParaRPr lang="en-US" sz="4600" dirty="0"/>
          </a:p>
        </p:txBody>
      </p:sp>
      <p:sp>
        <p:nvSpPr>
          <p:cNvPr id="13" name="Text 11"/>
          <p:cNvSpPr txBox="1"/>
          <p:nvPr/>
        </p:nvSpPr>
        <p:spPr>
          <a:xfrm>
            <a:off x="12070080" y="2386584"/>
            <a:ext cx="4572000" cy="411480"/>
          </a:xfrm>
          <a:prstGeom prst="rect">
            <a:avLst/>
          </a:prstGeom>
          <a:noFill/>
          <a:ln/>
        </p:spPr>
        <p:txBody>
          <a:bodyPr wrap="square" lIns="0" tIns="0" rIns="0" bIns="0" rtlCol="0" anchor="ctr"/>
          <a:lstStyle/>
          <a:p>
            <a:pPr marL="0" indent="0">
              <a:buNone/>
            </a:pPr>
            <a:r>
              <a:rPr lang="en-US" sz="1900" dirty="0">
                <a:solidFill>
                  <a:srgbClr val="FFFFFF"/>
                </a:solidFill>
                <a:latin typeface="Bahnschrift SemiBold" pitchFamily="34" charset="0"/>
                <a:ea typeface="Bahnschrift SemiBold" pitchFamily="34" charset="-122"/>
                <a:cs typeface="Bahnschrift SemiBold" pitchFamily="34" charset="-120"/>
              </a:rPr>
              <a:t>Ammonia refrigeration</a:t>
            </a:r>
            <a:endParaRPr lang="en-US" sz="1900" dirty="0"/>
          </a:p>
        </p:txBody>
      </p:sp>
      <p:sp>
        <p:nvSpPr>
          <p:cNvPr id="14" name="Text 12"/>
          <p:cNvSpPr txBox="1"/>
          <p:nvPr/>
        </p:nvSpPr>
        <p:spPr>
          <a:xfrm>
            <a:off x="12070080" y="2825496"/>
            <a:ext cx="4754880" cy="365760"/>
          </a:xfrm>
          <a:prstGeom prst="rect">
            <a:avLst/>
          </a:prstGeom>
          <a:noFill/>
          <a:ln/>
        </p:spPr>
        <p:txBody>
          <a:bodyPr wrap="square" lIns="0" tIns="0" rIns="0" bIns="0" rtlCol="0" anchor="ctr"/>
          <a:lstStyle/>
          <a:p>
            <a:pPr marL="0" indent="0">
              <a:buNone/>
            </a:pPr>
            <a:r>
              <a:rPr lang="en-US" sz="1400" dirty="0">
                <a:solidFill>
                  <a:srgbClr val="B9C2D4"/>
                </a:solidFill>
                <a:latin typeface="Calibri" pitchFamily="34" charset="0"/>
                <a:ea typeface="Calibri" pitchFamily="34" charset="-122"/>
                <a:cs typeface="Calibri" pitchFamily="34" charset="-120"/>
              </a:rPr>
              <a:t>Marshall, MN ice cream</a:t>
            </a:r>
            <a:endParaRPr lang="en-US" sz="1400" dirty="0"/>
          </a:p>
        </p:txBody>
      </p:sp>
      <p:sp>
        <p:nvSpPr>
          <p:cNvPr id="15" name="Shape 13"/>
          <p:cNvSpPr/>
          <p:nvPr/>
        </p:nvSpPr>
        <p:spPr>
          <a:xfrm>
            <a:off x="11064240" y="3355848"/>
            <a:ext cx="5760720" cy="0"/>
          </a:xfrm>
          <a:prstGeom prst="line">
            <a:avLst/>
          </a:prstGeom>
          <a:noFill/>
          <a:ln w="12700">
            <a:solidFill>
              <a:srgbClr val="44528A"/>
            </a:solidFill>
            <a:prstDash val="solid"/>
          </a:ln>
        </p:spPr>
        <p:txBody>
          <a:bodyPr/>
          <a:lstStyle/>
          <a:p>
            <a:endParaRPr lang="en-US"/>
          </a:p>
        </p:txBody>
      </p:sp>
      <p:sp>
        <p:nvSpPr>
          <p:cNvPr id="16" name="Text 14"/>
          <p:cNvSpPr txBox="1"/>
          <p:nvPr/>
        </p:nvSpPr>
        <p:spPr>
          <a:xfrm>
            <a:off x="11064240" y="3575304"/>
            <a:ext cx="914400" cy="914400"/>
          </a:xfrm>
          <a:prstGeom prst="rect">
            <a:avLst/>
          </a:prstGeom>
          <a:noFill/>
          <a:ln/>
        </p:spPr>
        <p:txBody>
          <a:bodyPr wrap="square" lIns="0" tIns="0" rIns="0" bIns="0" rtlCol="0" anchor="ctr"/>
          <a:lstStyle/>
          <a:p>
            <a:pPr marL="0" indent="0">
              <a:buNone/>
            </a:pPr>
            <a:r>
              <a:rPr lang="en-US" sz="4600" dirty="0">
                <a:solidFill>
                  <a:srgbClr val="FFFFFF"/>
                </a:solidFill>
                <a:latin typeface="Bahnschrift SemiBold" pitchFamily="34" charset="0"/>
                <a:ea typeface="Bahnschrift SemiBold" pitchFamily="34" charset="-122"/>
                <a:cs typeface="Bahnschrift SemiBold" pitchFamily="34" charset="-120"/>
              </a:rPr>
              <a:t>2</a:t>
            </a:r>
            <a:endParaRPr lang="en-US" sz="4600" dirty="0"/>
          </a:p>
        </p:txBody>
      </p:sp>
      <p:sp>
        <p:nvSpPr>
          <p:cNvPr id="17" name="Text 15"/>
          <p:cNvSpPr txBox="1"/>
          <p:nvPr/>
        </p:nvSpPr>
        <p:spPr>
          <a:xfrm>
            <a:off x="12070080" y="3703320"/>
            <a:ext cx="4572000" cy="411480"/>
          </a:xfrm>
          <a:prstGeom prst="rect">
            <a:avLst/>
          </a:prstGeom>
          <a:noFill/>
          <a:ln/>
        </p:spPr>
        <p:txBody>
          <a:bodyPr wrap="square" lIns="0" tIns="0" rIns="0" bIns="0" rtlCol="0" anchor="ctr"/>
          <a:lstStyle/>
          <a:p>
            <a:pPr marL="0" indent="0">
              <a:buNone/>
            </a:pPr>
            <a:r>
              <a:rPr lang="en-US" sz="1900" dirty="0">
                <a:solidFill>
                  <a:srgbClr val="FFFFFF"/>
                </a:solidFill>
                <a:latin typeface="Bahnschrift SemiBold" pitchFamily="34" charset="0"/>
                <a:ea typeface="Bahnschrift SemiBold" pitchFamily="34" charset="-122"/>
                <a:cs typeface="Bahnschrift SemiBold" pitchFamily="34" charset="-120"/>
              </a:rPr>
              <a:t>Food labeling rules</a:t>
            </a:r>
            <a:endParaRPr lang="en-US" sz="1900" dirty="0"/>
          </a:p>
        </p:txBody>
      </p:sp>
      <p:sp>
        <p:nvSpPr>
          <p:cNvPr id="18" name="Text 16"/>
          <p:cNvSpPr txBox="1"/>
          <p:nvPr/>
        </p:nvSpPr>
        <p:spPr>
          <a:xfrm>
            <a:off x="12070080" y="4142232"/>
            <a:ext cx="4754880" cy="365760"/>
          </a:xfrm>
          <a:prstGeom prst="rect">
            <a:avLst/>
          </a:prstGeom>
          <a:noFill/>
          <a:ln/>
        </p:spPr>
        <p:txBody>
          <a:bodyPr wrap="square" lIns="0" tIns="0" rIns="0" bIns="0" rtlCol="0" anchor="ctr"/>
          <a:lstStyle/>
          <a:p>
            <a:pPr marL="0" indent="0">
              <a:buNone/>
            </a:pPr>
            <a:r>
              <a:rPr lang="en-US" sz="1400" dirty="0">
                <a:solidFill>
                  <a:srgbClr val="B9C2D4"/>
                </a:solidFill>
                <a:latin typeface="Calibri" pitchFamily="34" charset="0"/>
                <a:ea typeface="Calibri" pitchFamily="34" charset="-122"/>
                <a:cs typeface="Calibri" pitchFamily="34" charset="-120"/>
              </a:rPr>
              <a:t>Hopkins, MN corporate</a:t>
            </a:r>
            <a:endParaRPr lang="en-US" sz="1400" dirty="0"/>
          </a:p>
        </p:txBody>
      </p:sp>
      <p:sp>
        <p:nvSpPr>
          <p:cNvPr id="19" name="Shape 17"/>
          <p:cNvSpPr/>
          <p:nvPr/>
        </p:nvSpPr>
        <p:spPr>
          <a:xfrm>
            <a:off x="11064240" y="4672584"/>
            <a:ext cx="5760720" cy="0"/>
          </a:xfrm>
          <a:prstGeom prst="line">
            <a:avLst/>
          </a:prstGeom>
          <a:noFill/>
          <a:ln w="12700">
            <a:solidFill>
              <a:srgbClr val="44528A"/>
            </a:solidFill>
            <a:prstDash val="solid"/>
          </a:ln>
        </p:spPr>
        <p:txBody>
          <a:bodyPr/>
          <a:lstStyle/>
          <a:p>
            <a:endParaRPr lang="en-US"/>
          </a:p>
        </p:txBody>
      </p:sp>
      <p:sp>
        <p:nvSpPr>
          <p:cNvPr id="20" name="Text 18"/>
          <p:cNvSpPr txBox="1"/>
          <p:nvPr/>
        </p:nvSpPr>
        <p:spPr>
          <a:xfrm>
            <a:off x="11064240" y="4892040"/>
            <a:ext cx="914400" cy="914400"/>
          </a:xfrm>
          <a:prstGeom prst="rect">
            <a:avLst/>
          </a:prstGeom>
          <a:noFill/>
          <a:ln/>
        </p:spPr>
        <p:txBody>
          <a:bodyPr wrap="square" lIns="0" tIns="0" rIns="0" bIns="0" rtlCol="0" anchor="ctr"/>
          <a:lstStyle/>
          <a:p>
            <a:pPr marL="0" indent="0">
              <a:buNone/>
            </a:pPr>
            <a:r>
              <a:rPr lang="en-US" sz="4600" dirty="0">
                <a:solidFill>
                  <a:srgbClr val="FFFFFF"/>
                </a:solidFill>
                <a:latin typeface="Bahnschrift SemiBold" pitchFamily="34" charset="0"/>
                <a:ea typeface="Bahnschrift SemiBold" pitchFamily="34" charset="-122"/>
                <a:cs typeface="Bahnschrift SemiBold" pitchFamily="34" charset="-120"/>
              </a:rPr>
              <a:t>2</a:t>
            </a:r>
            <a:endParaRPr lang="en-US" sz="4600" dirty="0"/>
          </a:p>
        </p:txBody>
      </p:sp>
      <p:sp>
        <p:nvSpPr>
          <p:cNvPr id="21" name="Text 19"/>
          <p:cNvSpPr txBox="1"/>
          <p:nvPr/>
        </p:nvSpPr>
        <p:spPr>
          <a:xfrm>
            <a:off x="12070080" y="5020056"/>
            <a:ext cx="4572000" cy="411480"/>
          </a:xfrm>
          <a:prstGeom prst="rect">
            <a:avLst/>
          </a:prstGeom>
          <a:noFill/>
          <a:ln/>
        </p:spPr>
        <p:txBody>
          <a:bodyPr wrap="square" lIns="0" tIns="0" rIns="0" bIns="0" rtlCol="0" anchor="ctr"/>
          <a:lstStyle/>
          <a:p>
            <a:pPr marL="0" indent="0">
              <a:buNone/>
            </a:pPr>
            <a:r>
              <a:rPr lang="en-US" sz="1900" dirty="0">
                <a:solidFill>
                  <a:srgbClr val="FFFFFF"/>
                </a:solidFill>
                <a:latin typeface="Bahnschrift SemiBold" pitchFamily="34" charset="0"/>
                <a:ea typeface="Bahnschrift SemiBold" pitchFamily="34" charset="-122"/>
                <a:cs typeface="Bahnschrift SemiBold" pitchFamily="34" charset="-120"/>
              </a:rPr>
              <a:t>Salina line setup</a:t>
            </a:r>
            <a:endParaRPr lang="en-US" sz="1900" dirty="0"/>
          </a:p>
        </p:txBody>
      </p:sp>
      <p:sp>
        <p:nvSpPr>
          <p:cNvPr id="22" name="Text 20"/>
          <p:cNvSpPr txBox="1"/>
          <p:nvPr/>
        </p:nvSpPr>
        <p:spPr>
          <a:xfrm>
            <a:off x="12070080" y="5458968"/>
            <a:ext cx="4754880" cy="365760"/>
          </a:xfrm>
          <a:prstGeom prst="rect">
            <a:avLst/>
          </a:prstGeom>
          <a:noFill/>
          <a:ln/>
        </p:spPr>
        <p:txBody>
          <a:bodyPr wrap="square" lIns="0" tIns="0" rIns="0" bIns="0" rtlCol="0" anchor="ctr"/>
          <a:lstStyle/>
          <a:p>
            <a:pPr marL="0" indent="0">
              <a:buNone/>
            </a:pPr>
            <a:r>
              <a:rPr lang="en-US" sz="1400" dirty="0">
                <a:solidFill>
                  <a:srgbClr val="B9C2D4"/>
                </a:solidFill>
                <a:latin typeface="Calibri" pitchFamily="34" charset="0"/>
                <a:ea typeface="Calibri" pitchFamily="34" charset="-122"/>
                <a:cs typeface="Calibri" pitchFamily="34" charset="-120"/>
              </a:rPr>
              <a:t>Salina, KS pizza</a:t>
            </a:r>
            <a:endParaRPr lang="en-US" sz="1400" dirty="0"/>
          </a:p>
        </p:txBody>
      </p:sp>
      <p:sp>
        <p:nvSpPr>
          <p:cNvPr id="23" name="Shape 21"/>
          <p:cNvSpPr/>
          <p:nvPr/>
        </p:nvSpPr>
        <p:spPr>
          <a:xfrm>
            <a:off x="11064240" y="5989320"/>
            <a:ext cx="5760720" cy="0"/>
          </a:xfrm>
          <a:prstGeom prst="line">
            <a:avLst/>
          </a:prstGeom>
          <a:noFill/>
          <a:ln w="12700">
            <a:solidFill>
              <a:srgbClr val="44528A"/>
            </a:solidFill>
            <a:prstDash val="solid"/>
          </a:ln>
        </p:spPr>
        <p:txBody>
          <a:bodyPr/>
          <a:lstStyle/>
          <a:p>
            <a:endParaRPr lang="en-US"/>
          </a:p>
        </p:txBody>
      </p:sp>
      <p:sp>
        <p:nvSpPr>
          <p:cNvPr id="24" name="Text 22"/>
          <p:cNvSpPr txBox="1"/>
          <p:nvPr/>
        </p:nvSpPr>
        <p:spPr>
          <a:xfrm>
            <a:off x="11064240" y="6208776"/>
            <a:ext cx="914400" cy="914400"/>
          </a:xfrm>
          <a:prstGeom prst="rect">
            <a:avLst/>
          </a:prstGeom>
          <a:noFill/>
          <a:ln/>
        </p:spPr>
        <p:txBody>
          <a:bodyPr wrap="square" lIns="0" tIns="0" rIns="0" bIns="0" rtlCol="0" anchor="ctr"/>
          <a:lstStyle/>
          <a:p>
            <a:pPr marL="0" indent="0">
              <a:buNone/>
            </a:pPr>
            <a:r>
              <a:rPr lang="en-US" sz="4600" dirty="0">
                <a:solidFill>
                  <a:srgbClr val="FFFFFF"/>
                </a:solidFill>
                <a:latin typeface="Bahnschrift SemiBold" pitchFamily="34" charset="0"/>
                <a:ea typeface="Bahnschrift SemiBold" pitchFamily="34" charset="-122"/>
                <a:cs typeface="Bahnschrift SemiBold" pitchFamily="34" charset="-120"/>
              </a:rPr>
              <a:t>3</a:t>
            </a:r>
            <a:endParaRPr lang="en-US" sz="4600" dirty="0"/>
          </a:p>
        </p:txBody>
      </p:sp>
      <p:sp>
        <p:nvSpPr>
          <p:cNvPr id="25" name="Text 23"/>
          <p:cNvSpPr txBox="1"/>
          <p:nvPr/>
        </p:nvSpPr>
        <p:spPr>
          <a:xfrm>
            <a:off x="12070080" y="6336792"/>
            <a:ext cx="4572000" cy="411480"/>
          </a:xfrm>
          <a:prstGeom prst="rect">
            <a:avLst/>
          </a:prstGeom>
          <a:noFill/>
          <a:ln/>
        </p:spPr>
        <p:txBody>
          <a:bodyPr wrap="square" lIns="0" tIns="0" rIns="0" bIns="0" rtlCol="0" anchor="ctr"/>
          <a:lstStyle/>
          <a:p>
            <a:pPr marL="0" indent="0">
              <a:buNone/>
            </a:pPr>
            <a:r>
              <a:rPr lang="en-US" sz="1900" dirty="0">
                <a:solidFill>
                  <a:srgbClr val="FFFFFF"/>
                </a:solidFill>
                <a:latin typeface="Bahnschrift SemiBold" pitchFamily="34" charset="0"/>
                <a:ea typeface="Bahnschrift SemiBold" pitchFamily="34" charset="-122"/>
                <a:cs typeface="Bahnschrift SemiBold" pitchFamily="34" charset="-120"/>
              </a:rPr>
              <a:t>PLC automation</a:t>
            </a:r>
            <a:endParaRPr lang="en-US" sz="1900" dirty="0"/>
          </a:p>
        </p:txBody>
      </p:sp>
      <p:sp>
        <p:nvSpPr>
          <p:cNvPr id="26" name="Text 24"/>
          <p:cNvSpPr txBox="1"/>
          <p:nvPr/>
        </p:nvSpPr>
        <p:spPr>
          <a:xfrm>
            <a:off x="12070080" y="6775704"/>
            <a:ext cx="4754880" cy="365760"/>
          </a:xfrm>
          <a:prstGeom prst="rect">
            <a:avLst/>
          </a:prstGeom>
          <a:noFill/>
          <a:ln/>
        </p:spPr>
        <p:txBody>
          <a:bodyPr wrap="square" lIns="0" tIns="0" rIns="0" bIns="0" rtlCol="0" anchor="ctr"/>
          <a:lstStyle/>
          <a:p>
            <a:pPr marL="0" indent="0">
              <a:buNone/>
            </a:pPr>
            <a:r>
              <a:rPr lang="en-US" sz="1400" dirty="0">
                <a:solidFill>
                  <a:srgbClr val="B9C2D4"/>
                </a:solidFill>
                <a:latin typeface="Calibri" pitchFamily="34" charset="0"/>
                <a:ea typeface="Calibri" pitchFamily="34" charset="-122"/>
                <a:cs typeface="Calibri" pitchFamily="34" charset="-120"/>
              </a:rPr>
              <a:t>Salina, KS pizza</a:t>
            </a:r>
            <a:endParaRPr lang="en-US" sz="1400" dirty="0"/>
          </a:p>
        </p:txBody>
      </p:sp>
      <p:sp>
        <p:nvSpPr>
          <p:cNvPr id="27" name="Shape 25"/>
          <p:cNvSpPr/>
          <p:nvPr/>
        </p:nvSpPr>
        <p:spPr>
          <a:xfrm>
            <a:off x="11064240" y="7306056"/>
            <a:ext cx="5760720" cy="0"/>
          </a:xfrm>
          <a:prstGeom prst="line">
            <a:avLst/>
          </a:prstGeom>
          <a:noFill/>
          <a:ln w="12700">
            <a:solidFill>
              <a:srgbClr val="44528A"/>
            </a:solidFill>
            <a:prstDash val="solid"/>
          </a:ln>
        </p:spPr>
        <p:txBody>
          <a:bodyPr/>
          <a:lstStyle/>
          <a:p>
            <a:endParaRPr lang="en-US"/>
          </a:p>
        </p:txBody>
      </p:sp>
      <p:sp>
        <p:nvSpPr>
          <p:cNvPr id="28" name="Text 26"/>
          <p:cNvSpPr txBox="1"/>
          <p:nvPr/>
        </p:nvSpPr>
        <p:spPr>
          <a:xfrm>
            <a:off x="11064240" y="7525512"/>
            <a:ext cx="914400" cy="914400"/>
          </a:xfrm>
          <a:prstGeom prst="rect">
            <a:avLst/>
          </a:prstGeom>
          <a:noFill/>
          <a:ln/>
        </p:spPr>
        <p:txBody>
          <a:bodyPr wrap="square" lIns="0" tIns="0" rIns="0" bIns="0" rtlCol="0" anchor="ctr"/>
          <a:lstStyle/>
          <a:p>
            <a:pPr marL="0" indent="0">
              <a:buNone/>
            </a:pPr>
            <a:r>
              <a:rPr lang="en-US" sz="4600" dirty="0">
                <a:solidFill>
                  <a:srgbClr val="FFFFFF"/>
                </a:solidFill>
                <a:latin typeface="Bahnschrift SemiBold" pitchFamily="34" charset="0"/>
                <a:ea typeface="Bahnschrift SemiBold" pitchFamily="34" charset="-122"/>
                <a:cs typeface="Bahnschrift SemiBold" pitchFamily="34" charset="-120"/>
              </a:rPr>
              <a:t>3</a:t>
            </a:r>
            <a:endParaRPr lang="en-US" sz="4600" dirty="0"/>
          </a:p>
        </p:txBody>
      </p:sp>
      <p:sp>
        <p:nvSpPr>
          <p:cNvPr id="29" name="Text 27"/>
          <p:cNvSpPr txBox="1"/>
          <p:nvPr/>
        </p:nvSpPr>
        <p:spPr>
          <a:xfrm>
            <a:off x="12070080" y="7653528"/>
            <a:ext cx="4572000" cy="411480"/>
          </a:xfrm>
          <a:prstGeom prst="rect">
            <a:avLst/>
          </a:prstGeom>
          <a:noFill/>
          <a:ln/>
        </p:spPr>
        <p:txBody>
          <a:bodyPr wrap="square" lIns="0" tIns="0" rIns="0" bIns="0" rtlCol="0" anchor="ctr"/>
          <a:lstStyle/>
          <a:p>
            <a:pPr marL="0" indent="0">
              <a:buNone/>
            </a:pPr>
            <a:r>
              <a:rPr lang="en-US" sz="1900" dirty="0">
                <a:solidFill>
                  <a:srgbClr val="FFFFFF"/>
                </a:solidFill>
                <a:latin typeface="Bahnschrift SemiBold" pitchFamily="34" charset="0"/>
                <a:ea typeface="Bahnschrift SemiBold" pitchFamily="34" charset="-122"/>
                <a:cs typeface="Bahnschrift SemiBold" pitchFamily="34" charset="-120"/>
              </a:rPr>
              <a:t>Culinary consulting</a:t>
            </a:r>
            <a:endParaRPr lang="en-US" sz="1900" dirty="0"/>
          </a:p>
        </p:txBody>
      </p:sp>
      <p:sp>
        <p:nvSpPr>
          <p:cNvPr id="30" name="Text 28"/>
          <p:cNvSpPr txBox="1"/>
          <p:nvPr/>
        </p:nvSpPr>
        <p:spPr>
          <a:xfrm>
            <a:off x="12070080" y="8092440"/>
            <a:ext cx="4754880" cy="365760"/>
          </a:xfrm>
          <a:prstGeom prst="rect">
            <a:avLst/>
          </a:prstGeom>
          <a:noFill/>
          <a:ln/>
        </p:spPr>
        <p:txBody>
          <a:bodyPr wrap="square" lIns="0" tIns="0" rIns="0" bIns="0" rtlCol="0" anchor="ctr"/>
          <a:lstStyle/>
          <a:p>
            <a:pPr marL="0" indent="0">
              <a:buNone/>
            </a:pPr>
            <a:r>
              <a:rPr lang="en-US" sz="1400" dirty="0">
                <a:solidFill>
                  <a:srgbClr val="B9C2D4"/>
                </a:solidFill>
                <a:latin typeface="Calibri" pitchFamily="34" charset="0"/>
                <a:ea typeface="Calibri" pitchFamily="34" charset="-122"/>
                <a:cs typeface="Calibri" pitchFamily="34" charset="-120"/>
              </a:rPr>
              <a:t>Field, national</a:t>
            </a:r>
            <a:endParaRPr lang="en-US" sz="1400" dirty="0"/>
          </a:p>
        </p:txBody>
      </p:sp>
      <p:sp>
        <p:nvSpPr>
          <p:cNvPr id="31" name="Shape 29"/>
          <p:cNvSpPr/>
          <p:nvPr/>
        </p:nvSpPr>
        <p:spPr>
          <a:xfrm>
            <a:off x="1280160" y="9189720"/>
            <a:ext cx="15727680" cy="0"/>
          </a:xfrm>
          <a:prstGeom prst="line">
            <a:avLst/>
          </a:prstGeom>
          <a:noFill/>
          <a:ln w="12700">
            <a:solidFill>
              <a:srgbClr val="324070"/>
            </a:solidFill>
            <a:prstDash val="solid"/>
          </a:ln>
        </p:spPr>
        <p:txBody>
          <a:bodyPr/>
          <a:lstStyle/>
          <a:p>
            <a:endParaRPr lang="en-US"/>
          </a:p>
        </p:txBody>
      </p:sp>
      <p:sp>
        <p:nvSpPr>
          <p:cNvPr id="32" name="Text 30"/>
          <p:cNvSpPr txBox="1"/>
          <p:nvPr/>
        </p:nvSpPr>
        <p:spPr>
          <a:xfrm>
            <a:off x="1280160" y="9372600"/>
            <a:ext cx="8138160" cy="411480"/>
          </a:xfrm>
          <a:prstGeom prst="rect">
            <a:avLst/>
          </a:prstGeom>
          <a:noFill/>
          <a:ln/>
        </p:spPr>
        <p:txBody>
          <a:bodyPr wrap="square" lIns="0" tIns="0" rIns="0" bIns="0" rtlCol="0" anchor="ctr"/>
          <a:lstStyle/>
          <a:p>
            <a:pPr marL="0" indent="0">
              <a:buNone/>
            </a:pPr>
            <a:r>
              <a:rPr lang="en-US" sz="1400" b="1" kern="0" spc="200" dirty="0">
                <a:solidFill>
                  <a:srgbClr val="8E98AE"/>
                </a:solidFill>
                <a:latin typeface="Calibri" pitchFamily="34" charset="0"/>
                <a:ea typeface="Calibri" pitchFamily="34" charset="-122"/>
                <a:cs typeface="Calibri" pitchFamily="34" charset="-120"/>
              </a:rPr>
              <a:t>IN THE APP   </a:t>
            </a:r>
            <a:r>
              <a:rPr lang="en-US" sz="1400" dirty="0">
                <a:solidFill>
                  <a:srgbClr val="FFFFFF"/>
                </a:solidFill>
                <a:latin typeface="Calibri" pitchFamily="34" charset="0"/>
                <a:ea typeface="Calibri" pitchFamily="34" charset="-122"/>
                <a:cs typeface="Calibri" pitchFamily="34" charset="-120"/>
              </a:rPr>
              <a:t>Succession risk tab</a:t>
            </a:r>
            <a:endParaRPr lang="en-US" sz="1400" dirty="0"/>
          </a:p>
        </p:txBody>
      </p:sp>
      <p:sp>
        <p:nvSpPr>
          <p:cNvPr id="33" name="Text 31"/>
          <p:cNvSpPr txBox="1"/>
          <p:nvPr/>
        </p:nvSpPr>
        <p:spPr>
          <a:xfrm>
            <a:off x="9418320" y="9372600"/>
            <a:ext cx="7589520" cy="411480"/>
          </a:xfrm>
          <a:prstGeom prst="rect">
            <a:avLst/>
          </a:prstGeom>
          <a:noFill/>
          <a:ln/>
        </p:spPr>
        <p:txBody>
          <a:bodyPr wrap="square" lIns="0" tIns="0" rIns="0" bIns="0" rtlCol="0" anchor="ctr"/>
          <a:lstStyle/>
          <a:p>
            <a:pPr marL="0" indent="0">
              <a:buNone/>
            </a:pPr>
            <a:r>
              <a:rPr lang="en-US" sz="1400" b="1" kern="0" spc="200" dirty="0">
                <a:solidFill>
                  <a:srgbClr val="8E98AE"/>
                </a:solidFill>
                <a:latin typeface="Calibri" pitchFamily="34" charset="0"/>
                <a:ea typeface="Calibri" pitchFamily="34" charset="-122"/>
                <a:cs typeface="Calibri" pitchFamily="34" charset="-120"/>
              </a:rPr>
              <a:t>NUMBERS FROM   </a:t>
            </a:r>
            <a:r>
              <a:rPr lang="en-US" sz="1400" dirty="0">
                <a:solidFill>
                  <a:srgbClr val="FFFFFF"/>
                </a:solidFill>
                <a:latin typeface="Calibri" pitchFamily="34" charset="0"/>
                <a:ea typeface="Calibri" pitchFamily="34" charset="-122"/>
                <a:cs typeface="Calibri" pitchFamily="34" charset="-120"/>
              </a:rPr>
              <a:t>Demo headcounts. The ammonia roster exists by law: OSHA 1910.119.</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1280160" y="914400"/>
            <a:ext cx="8229600" cy="365760"/>
          </a:xfrm>
          <a:prstGeom prst="rect">
            <a:avLst/>
          </a:prstGeom>
          <a:noFill/>
          <a:ln/>
        </p:spPr>
        <p:txBody>
          <a:bodyPr wrap="square" lIns="0" tIns="0" rIns="0" bIns="0" rtlCol="0" anchor="ctr"/>
          <a:lstStyle/>
          <a:p>
            <a:pPr marL="0" indent="0">
              <a:buNone/>
            </a:pPr>
            <a:r>
              <a:rPr lang="en-US" sz="1300" b="1" kern="0" spc="300" dirty="0">
                <a:solidFill>
                  <a:srgbClr val="6E7788"/>
                </a:solidFill>
                <a:latin typeface="Calibri" pitchFamily="34" charset="0"/>
                <a:ea typeface="Calibri" pitchFamily="34" charset="-122"/>
                <a:cs typeface="Calibri" pitchFamily="34" charset="-120"/>
              </a:rPr>
              <a:t>THE PART THAT MATTERS</a:t>
            </a:r>
            <a:endParaRPr lang="en-US" sz="1300" dirty="0"/>
          </a:p>
        </p:txBody>
      </p:sp>
      <p:sp>
        <p:nvSpPr>
          <p:cNvPr id="3" name="Text 1"/>
          <p:cNvSpPr txBox="1"/>
          <p:nvPr/>
        </p:nvSpPr>
        <p:spPr>
          <a:xfrm>
            <a:off x="1280160" y="1371600"/>
            <a:ext cx="14081760" cy="1828800"/>
          </a:xfrm>
          <a:prstGeom prst="rect">
            <a:avLst/>
          </a:prstGeom>
          <a:noFill/>
          <a:ln/>
        </p:spPr>
        <p:txBody>
          <a:bodyPr wrap="square" lIns="0" tIns="0" rIns="0" bIns="0" rtlCol="0" anchor="ctr"/>
          <a:lstStyle/>
          <a:p>
            <a:pPr marL="0" indent="0">
              <a:lnSpc>
                <a:spcPct val="106000"/>
              </a:lnSpc>
              <a:buNone/>
            </a:pPr>
            <a:r>
              <a:rPr lang="en-US" sz="4000" dirty="0">
                <a:solidFill>
                  <a:srgbClr val="232E54"/>
                </a:solidFill>
                <a:latin typeface="Bahnschrift SemiBold" pitchFamily="34" charset="0"/>
                <a:ea typeface="Bahnschrift SemiBold" pitchFamily="34" charset="-122"/>
                <a:cs typeface="Bahnschrift SemiBold" pitchFamily="34" charset="-120"/>
              </a:rPr>
              <a:t>Most dashboards show numbers and stop.</a:t>
            </a:r>
            <a:endParaRPr lang="en-US" sz="4000" dirty="0"/>
          </a:p>
          <a:p>
            <a:pPr marL="0" indent="0">
              <a:lnSpc>
                <a:spcPct val="106000"/>
              </a:lnSpc>
              <a:buNone/>
            </a:pPr>
            <a:r>
              <a:rPr lang="en-US" sz="4000" dirty="0">
                <a:solidFill>
                  <a:srgbClr val="232E54"/>
                </a:solidFill>
                <a:latin typeface="Bahnschrift SemiBold" pitchFamily="34" charset="0"/>
                <a:ea typeface="Bahnschrift SemiBold" pitchFamily="34" charset="-122"/>
                <a:cs typeface="Bahnschrift SemiBold" pitchFamily="34" charset="-120"/>
              </a:rPr>
              <a:t>This one puts them in an order of work.</a:t>
            </a:r>
            <a:endParaRPr lang="en-US" sz="4000" dirty="0"/>
          </a:p>
        </p:txBody>
      </p:sp>
      <p:sp>
        <p:nvSpPr>
          <p:cNvPr id="4" name="Shape 2"/>
          <p:cNvSpPr/>
          <p:nvPr/>
        </p:nvSpPr>
        <p:spPr>
          <a:xfrm>
            <a:off x="1280160" y="3931920"/>
            <a:ext cx="4754880" cy="1371600"/>
          </a:xfrm>
          <a:prstGeom prst="rect">
            <a:avLst/>
          </a:prstGeom>
          <a:solidFill>
            <a:srgbClr val="EEF2F5"/>
          </a:solidFill>
          <a:ln w="12700">
            <a:solidFill>
              <a:srgbClr val="EEF2F5"/>
            </a:solidFill>
            <a:prstDash val="solid"/>
          </a:ln>
        </p:spPr>
        <p:txBody>
          <a:bodyPr/>
          <a:lstStyle/>
          <a:p>
            <a:endParaRPr lang="en-US"/>
          </a:p>
        </p:txBody>
      </p:sp>
      <p:sp>
        <p:nvSpPr>
          <p:cNvPr id="5" name="Text 3"/>
          <p:cNvSpPr txBox="1"/>
          <p:nvPr/>
        </p:nvSpPr>
        <p:spPr>
          <a:xfrm>
            <a:off x="1554480" y="4114800"/>
            <a:ext cx="4206240" cy="457200"/>
          </a:xfrm>
          <a:prstGeom prst="rect">
            <a:avLst/>
          </a:prstGeom>
          <a:noFill/>
          <a:ln/>
        </p:spPr>
        <p:txBody>
          <a:bodyPr wrap="square" lIns="0" tIns="0" rIns="0" bIns="0" rtlCol="0" anchor="ctr"/>
          <a:lstStyle/>
          <a:p>
            <a:pPr marL="0" indent="0">
              <a:buNone/>
            </a:pPr>
            <a:r>
              <a:rPr lang="en-US" sz="2000" dirty="0">
                <a:solidFill>
                  <a:srgbClr val="232E54"/>
                </a:solidFill>
                <a:latin typeface="Bahnschrift SemiBold" pitchFamily="34" charset="0"/>
                <a:ea typeface="Bahnschrift SemiBold" pitchFamily="34" charset="-122"/>
                <a:cs typeface="Bahnschrift SemiBold" pitchFamily="34" charset="-120"/>
              </a:rPr>
              <a:t>How much it hurts</a:t>
            </a:r>
            <a:endParaRPr lang="en-US" sz="2000" dirty="0"/>
          </a:p>
        </p:txBody>
      </p:sp>
      <p:sp>
        <p:nvSpPr>
          <p:cNvPr id="6" name="Text 4"/>
          <p:cNvSpPr txBox="1"/>
          <p:nvPr/>
        </p:nvSpPr>
        <p:spPr>
          <a:xfrm>
            <a:off x="1554480" y="4572000"/>
            <a:ext cx="4206240" cy="457200"/>
          </a:xfrm>
          <a:prstGeom prst="rect">
            <a:avLst/>
          </a:prstGeom>
          <a:noFill/>
          <a:ln/>
        </p:spPr>
        <p:txBody>
          <a:bodyPr wrap="square" lIns="0" tIns="0" rIns="0" bIns="0" rtlCol="0" anchor="ctr"/>
          <a:lstStyle/>
          <a:p>
            <a:pPr marL="0" indent="0">
              <a:buNone/>
            </a:pPr>
            <a:r>
              <a:rPr lang="en-US" sz="1500" dirty="0">
                <a:solidFill>
                  <a:srgbClr val="6E7788"/>
                </a:solidFill>
                <a:latin typeface="Calibri" pitchFamily="34" charset="0"/>
                <a:ea typeface="Calibri" pitchFamily="34" charset="-122"/>
                <a:cs typeface="Calibri" pitchFamily="34" charset="-120"/>
              </a:rPr>
              <a:t>impact if the knowledge is lost</a:t>
            </a:r>
            <a:endParaRPr lang="en-US" sz="1500" dirty="0"/>
          </a:p>
        </p:txBody>
      </p:sp>
      <p:sp>
        <p:nvSpPr>
          <p:cNvPr id="7" name="Shape 5"/>
          <p:cNvSpPr/>
          <p:nvPr/>
        </p:nvSpPr>
        <p:spPr>
          <a:xfrm>
            <a:off x="6583680" y="3931920"/>
            <a:ext cx="4754880" cy="1371600"/>
          </a:xfrm>
          <a:prstGeom prst="rect">
            <a:avLst/>
          </a:prstGeom>
          <a:solidFill>
            <a:srgbClr val="EEF2F5"/>
          </a:solidFill>
          <a:ln w="12700">
            <a:solidFill>
              <a:srgbClr val="EEF2F5"/>
            </a:solidFill>
            <a:prstDash val="solid"/>
          </a:ln>
        </p:spPr>
        <p:txBody>
          <a:bodyPr/>
          <a:lstStyle/>
          <a:p>
            <a:endParaRPr lang="en-US"/>
          </a:p>
        </p:txBody>
      </p:sp>
      <p:sp>
        <p:nvSpPr>
          <p:cNvPr id="8" name="Text 6"/>
          <p:cNvSpPr txBox="1"/>
          <p:nvPr/>
        </p:nvSpPr>
        <p:spPr>
          <a:xfrm>
            <a:off x="6858000" y="4114800"/>
            <a:ext cx="4206240" cy="457200"/>
          </a:xfrm>
          <a:prstGeom prst="rect">
            <a:avLst/>
          </a:prstGeom>
          <a:noFill/>
          <a:ln/>
        </p:spPr>
        <p:txBody>
          <a:bodyPr wrap="square" lIns="0" tIns="0" rIns="0" bIns="0" rtlCol="0" anchor="ctr"/>
          <a:lstStyle/>
          <a:p>
            <a:pPr marL="0" indent="0">
              <a:buNone/>
            </a:pPr>
            <a:r>
              <a:rPr lang="en-US" sz="2000" dirty="0">
                <a:solidFill>
                  <a:srgbClr val="232E54"/>
                </a:solidFill>
                <a:latin typeface="Bahnschrift SemiBold" pitchFamily="34" charset="0"/>
                <a:ea typeface="Bahnschrift SemiBold" pitchFamily="34" charset="-122"/>
                <a:cs typeface="Bahnschrift SemiBold" pitchFamily="34" charset="-120"/>
              </a:rPr>
              <a:t>How few hold it</a:t>
            </a:r>
            <a:endParaRPr lang="en-US" sz="2000" dirty="0"/>
          </a:p>
        </p:txBody>
      </p:sp>
      <p:sp>
        <p:nvSpPr>
          <p:cNvPr id="9" name="Text 7"/>
          <p:cNvSpPr txBox="1"/>
          <p:nvPr/>
        </p:nvSpPr>
        <p:spPr>
          <a:xfrm>
            <a:off x="6858000" y="4572000"/>
            <a:ext cx="4206240" cy="457200"/>
          </a:xfrm>
          <a:prstGeom prst="rect">
            <a:avLst/>
          </a:prstGeom>
          <a:noFill/>
          <a:ln/>
        </p:spPr>
        <p:txBody>
          <a:bodyPr wrap="square" lIns="0" tIns="0" rIns="0" bIns="0" rtlCol="0" anchor="ctr"/>
          <a:lstStyle/>
          <a:p>
            <a:pPr marL="0" indent="0">
              <a:buNone/>
            </a:pPr>
            <a:r>
              <a:rPr lang="en-US" sz="1500" dirty="0">
                <a:solidFill>
                  <a:srgbClr val="6E7788"/>
                </a:solidFill>
                <a:latin typeface="Calibri" pitchFamily="34" charset="0"/>
                <a:ea typeface="Calibri" pitchFamily="34" charset="-122"/>
                <a:cs typeface="Calibri" pitchFamily="34" charset="-120"/>
              </a:rPr>
              <a:t>one person, or a handful</a:t>
            </a:r>
            <a:endParaRPr lang="en-US" sz="1500" dirty="0"/>
          </a:p>
        </p:txBody>
      </p:sp>
      <p:sp>
        <p:nvSpPr>
          <p:cNvPr id="10" name="Shape 8"/>
          <p:cNvSpPr/>
          <p:nvPr/>
        </p:nvSpPr>
        <p:spPr>
          <a:xfrm>
            <a:off x="11887200" y="3931920"/>
            <a:ext cx="4754880" cy="1371600"/>
          </a:xfrm>
          <a:prstGeom prst="rect">
            <a:avLst/>
          </a:prstGeom>
          <a:solidFill>
            <a:srgbClr val="EEF2F5"/>
          </a:solidFill>
          <a:ln w="12700">
            <a:solidFill>
              <a:srgbClr val="EEF2F5"/>
            </a:solidFill>
            <a:prstDash val="solid"/>
          </a:ln>
        </p:spPr>
        <p:txBody>
          <a:bodyPr/>
          <a:lstStyle/>
          <a:p>
            <a:endParaRPr lang="en-US"/>
          </a:p>
        </p:txBody>
      </p:sp>
      <p:sp>
        <p:nvSpPr>
          <p:cNvPr id="11" name="Text 9"/>
          <p:cNvSpPr txBox="1"/>
          <p:nvPr/>
        </p:nvSpPr>
        <p:spPr>
          <a:xfrm>
            <a:off x="12161520" y="4114800"/>
            <a:ext cx="4206240" cy="457200"/>
          </a:xfrm>
          <a:prstGeom prst="rect">
            <a:avLst/>
          </a:prstGeom>
          <a:noFill/>
          <a:ln/>
        </p:spPr>
        <p:txBody>
          <a:bodyPr wrap="square" lIns="0" tIns="0" rIns="0" bIns="0" rtlCol="0" anchor="ctr"/>
          <a:lstStyle/>
          <a:p>
            <a:pPr marL="0" indent="0">
              <a:buNone/>
            </a:pPr>
            <a:r>
              <a:rPr lang="en-US" sz="2000" dirty="0">
                <a:solidFill>
                  <a:srgbClr val="232E54"/>
                </a:solidFill>
                <a:latin typeface="Bahnschrift SemiBold" pitchFamily="34" charset="0"/>
                <a:ea typeface="Bahnschrift SemiBold" pitchFamily="34" charset="-122"/>
                <a:cs typeface="Bahnschrift SemiBold" pitchFamily="34" charset="-120"/>
              </a:rPr>
              <a:t>How big the gap is</a:t>
            </a:r>
            <a:endParaRPr lang="en-US" sz="2000" dirty="0"/>
          </a:p>
        </p:txBody>
      </p:sp>
      <p:sp>
        <p:nvSpPr>
          <p:cNvPr id="12" name="Text 10"/>
          <p:cNvSpPr txBox="1"/>
          <p:nvPr/>
        </p:nvSpPr>
        <p:spPr>
          <a:xfrm>
            <a:off x="12161520" y="4572000"/>
            <a:ext cx="4206240" cy="457200"/>
          </a:xfrm>
          <a:prstGeom prst="rect">
            <a:avLst/>
          </a:prstGeom>
          <a:noFill/>
          <a:ln/>
        </p:spPr>
        <p:txBody>
          <a:bodyPr wrap="square" lIns="0" tIns="0" rIns="0" bIns="0" rtlCol="0" anchor="ctr"/>
          <a:lstStyle/>
          <a:p>
            <a:pPr marL="0" indent="0">
              <a:buNone/>
            </a:pPr>
            <a:r>
              <a:rPr lang="en-US" sz="1500" dirty="0">
                <a:solidFill>
                  <a:srgbClr val="6E7788"/>
                </a:solidFill>
                <a:latin typeface="Calibri" pitchFamily="34" charset="0"/>
                <a:ea typeface="Calibri" pitchFamily="34" charset="-122"/>
                <a:cs typeface="Calibri" pitchFamily="34" charset="-120"/>
              </a:rPr>
              <a:t>distance from where it needs to be</a:t>
            </a:r>
            <a:endParaRPr lang="en-US" sz="1500" dirty="0"/>
          </a:p>
        </p:txBody>
      </p:sp>
      <p:sp>
        <p:nvSpPr>
          <p:cNvPr id="13" name="Text 11"/>
          <p:cNvSpPr txBox="1"/>
          <p:nvPr/>
        </p:nvSpPr>
        <p:spPr>
          <a:xfrm>
            <a:off x="1280160" y="5751576"/>
            <a:ext cx="914400" cy="548640"/>
          </a:xfrm>
          <a:prstGeom prst="rect">
            <a:avLst/>
          </a:prstGeom>
          <a:noFill/>
          <a:ln/>
        </p:spPr>
        <p:txBody>
          <a:bodyPr wrap="square" lIns="0" tIns="0" rIns="0" bIns="0" rtlCol="0" anchor="ctr"/>
          <a:lstStyle/>
          <a:p>
            <a:pPr marL="0" indent="0">
              <a:buNone/>
            </a:pPr>
            <a:r>
              <a:rPr lang="en-US" sz="3000" dirty="0">
                <a:solidFill>
                  <a:srgbClr val="232E54"/>
                </a:solidFill>
                <a:latin typeface="Bahnschrift Light" pitchFamily="34" charset="0"/>
                <a:ea typeface="Bahnschrift Light" pitchFamily="34" charset="-122"/>
                <a:cs typeface="Bahnschrift Light" pitchFamily="34" charset="-120"/>
              </a:rPr>
              <a:t>01</a:t>
            </a:r>
            <a:endParaRPr lang="en-US" sz="3000" dirty="0"/>
          </a:p>
        </p:txBody>
      </p:sp>
      <p:sp>
        <p:nvSpPr>
          <p:cNvPr id="14" name="Text 12"/>
          <p:cNvSpPr txBox="1"/>
          <p:nvPr/>
        </p:nvSpPr>
        <p:spPr>
          <a:xfrm>
            <a:off x="2377440" y="5843016"/>
            <a:ext cx="3840480" cy="411480"/>
          </a:xfrm>
          <a:prstGeom prst="rect">
            <a:avLst/>
          </a:prstGeom>
          <a:noFill/>
          <a:ln/>
        </p:spPr>
        <p:txBody>
          <a:bodyPr wrap="square" lIns="0" tIns="0" rIns="0" bIns="0" rtlCol="0" anchor="ctr"/>
          <a:lstStyle/>
          <a:p>
            <a:pPr marL="0" indent="0">
              <a:buNone/>
            </a:pPr>
            <a:r>
              <a:rPr lang="en-US" sz="1900" dirty="0">
                <a:solidFill>
                  <a:srgbClr val="18212F"/>
                </a:solidFill>
                <a:latin typeface="Bahnschrift SemiBold" pitchFamily="34" charset="0"/>
                <a:ea typeface="Bahnschrift SemiBold" pitchFamily="34" charset="-122"/>
                <a:cs typeface="Bahnschrift SemiBold" pitchFamily="34" charset="-120"/>
              </a:rPr>
              <a:t>R&amp;D, frozen dough</a:t>
            </a:r>
            <a:endParaRPr lang="en-US" sz="1900" dirty="0"/>
          </a:p>
        </p:txBody>
      </p:sp>
      <p:sp>
        <p:nvSpPr>
          <p:cNvPr id="15" name="Text 13"/>
          <p:cNvSpPr txBox="1"/>
          <p:nvPr/>
        </p:nvSpPr>
        <p:spPr>
          <a:xfrm>
            <a:off x="6400800" y="5861304"/>
            <a:ext cx="10607040" cy="411480"/>
          </a:xfrm>
          <a:prstGeom prst="rect">
            <a:avLst/>
          </a:prstGeom>
          <a:noFill/>
          <a:ln/>
        </p:spPr>
        <p:txBody>
          <a:bodyPr wrap="square" lIns="0" tIns="0" rIns="0" bIns="0" rtlCol="0" anchor="ctr"/>
          <a:lstStyle/>
          <a:p>
            <a:pPr marL="0" indent="0">
              <a:buNone/>
            </a:pPr>
            <a:r>
              <a:rPr lang="en-US" sz="1600" dirty="0">
                <a:solidFill>
                  <a:srgbClr val="6E7788"/>
                </a:solidFill>
                <a:latin typeface="Calibri" pitchFamily="34" charset="0"/>
                <a:ea typeface="Calibri" pitchFamily="34" charset="-122"/>
                <a:cs typeface="Calibri" pitchFamily="34" charset="-120"/>
              </a:rPr>
              <a:t>One person holds it. Pair the expert with two mentees.</a:t>
            </a:r>
            <a:endParaRPr lang="en-US" sz="1600" dirty="0"/>
          </a:p>
        </p:txBody>
      </p:sp>
      <p:sp>
        <p:nvSpPr>
          <p:cNvPr id="16" name="Shape 14"/>
          <p:cNvSpPr/>
          <p:nvPr/>
        </p:nvSpPr>
        <p:spPr>
          <a:xfrm>
            <a:off x="1280160" y="6409944"/>
            <a:ext cx="15727680" cy="0"/>
          </a:xfrm>
          <a:prstGeom prst="line">
            <a:avLst/>
          </a:prstGeom>
          <a:noFill/>
          <a:ln w="12700">
            <a:solidFill>
              <a:srgbClr val="D9D9D9"/>
            </a:solidFill>
            <a:prstDash val="solid"/>
          </a:ln>
        </p:spPr>
        <p:txBody>
          <a:bodyPr/>
          <a:lstStyle/>
          <a:p>
            <a:endParaRPr lang="en-US"/>
          </a:p>
        </p:txBody>
      </p:sp>
      <p:sp>
        <p:nvSpPr>
          <p:cNvPr id="17" name="Text 15"/>
          <p:cNvSpPr txBox="1"/>
          <p:nvPr/>
        </p:nvSpPr>
        <p:spPr>
          <a:xfrm>
            <a:off x="1280160" y="6528816"/>
            <a:ext cx="914400" cy="548640"/>
          </a:xfrm>
          <a:prstGeom prst="rect">
            <a:avLst/>
          </a:prstGeom>
          <a:noFill/>
          <a:ln/>
        </p:spPr>
        <p:txBody>
          <a:bodyPr wrap="square" lIns="0" tIns="0" rIns="0" bIns="0" rtlCol="0" anchor="ctr"/>
          <a:lstStyle/>
          <a:p>
            <a:pPr marL="0" indent="0">
              <a:buNone/>
            </a:pPr>
            <a:r>
              <a:rPr lang="en-US" sz="3000" dirty="0">
                <a:solidFill>
                  <a:srgbClr val="C3CCDA"/>
                </a:solidFill>
                <a:latin typeface="Bahnschrift Light" pitchFamily="34" charset="0"/>
                <a:ea typeface="Bahnschrift Light" pitchFamily="34" charset="-122"/>
                <a:cs typeface="Bahnschrift Light" pitchFamily="34" charset="-120"/>
              </a:rPr>
              <a:t>02</a:t>
            </a:r>
            <a:endParaRPr lang="en-US" sz="3000" dirty="0"/>
          </a:p>
        </p:txBody>
      </p:sp>
      <p:sp>
        <p:nvSpPr>
          <p:cNvPr id="18" name="Text 16"/>
          <p:cNvSpPr txBox="1"/>
          <p:nvPr/>
        </p:nvSpPr>
        <p:spPr>
          <a:xfrm>
            <a:off x="2377440" y="6620256"/>
            <a:ext cx="3840480" cy="411480"/>
          </a:xfrm>
          <a:prstGeom prst="rect">
            <a:avLst/>
          </a:prstGeom>
          <a:noFill/>
          <a:ln/>
        </p:spPr>
        <p:txBody>
          <a:bodyPr wrap="square" lIns="0" tIns="0" rIns="0" bIns="0" rtlCol="0" anchor="ctr"/>
          <a:lstStyle/>
          <a:p>
            <a:pPr marL="0" indent="0">
              <a:buNone/>
            </a:pPr>
            <a:r>
              <a:rPr lang="en-US" sz="1900" dirty="0">
                <a:solidFill>
                  <a:srgbClr val="18212F"/>
                </a:solidFill>
                <a:latin typeface="Bahnschrift SemiBold" pitchFamily="34" charset="0"/>
                <a:ea typeface="Bahnschrift SemiBold" pitchFamily="34" charset="-122"/>
                <a:cs typeface="Bahnschrift SemiBold" pitchFamily="34" charset="-120"/>
              </a:rPr>
              <a:t>Food labeling</a:t>
            </a:r>
            <a:endParaRPr lang="en-US" sz="1900" dirty="0"/>
          </a:p>
        </p:txBody>
      </p:sp>
      <p:sp>
        <p:nvSpPr>
          <p:cNvPr id="19" name="Text 17"/>
          <p:cNvSpPr txBox="1"/>
          <p:nvPr/>
        </p:nvSpPr>
        <p:spPr>
          <a:xfrm>
            <a:off x="6400800" y="6638544"/>
            <a:ext cx="10607040" cy="411480"/>
          </a:xfrm>
          <a:prstGeom prst="rect">
            <a:avLst/>
          </a:prstGeom>
          <a:noFill/>
          <a:ln/>
        </p:spPr>
        <p:txBody>
          <a:bodyPr wrap="square" lIns="0" tIns="0" rIns="0" bIns="0" rtlCol="0" anchor="ctr"/>
          <a:lstStyle/>
          <a:p>
            <a:pPr marL="0" indent="0">
              <a:buNone/>
            </a:pPr>
            <a:r>
              <a:rPr lang="en-US" sz="1600" dirty="0">
                <a:solidFill>
                  <a:srgbClr val="6E7788"/>
                </a:solidFill>
                <a:latin typeface="Calibri" pitchFamily="34" charset="0"/>
                <a:ea typeface="Calibri" pitchFamily="34" charset="-122"/>
                <a:cs typeface="Calibri" pitchFamily="34" charset="-120"/>
              </a:rPr>
              <a:t>Two people. Run a cross-border labeling workshop.</a:t>
            </a:r>
            <a:endParaRPr lang="en-US" sz="1600" dirty="0"/>
          </a:p>
        </p:txBody>
      </p:sp>
      <p:sp>
        <p:nvSpPr>
          <p:cNvPr id="20" name="Shape 18"/>
          <p:cNvSpPr/>
          <p:nvPr/>
        </p:nvSpPr>
        <p:spPr>
          <a:xfrm>
            <a:off x="1280160" y="7187184"/>
            <a:ext cx="15727680" cy="0"/>
          </a:xfrm>
          <a:prstGeom prst="line">
            <a:avLst/>
          </a:prstGeom>
          <a:noFill/>
          <a:ln w="12700">
            <a:solidFill>
              <a:srgbClr val="D9D9D9"/>
            </a:solidFill>
            <a:prstDash val="solid"/>
          </a:ln>
        </p:spPr>
        <p:txBody>
          <a:bodyPr/>
          <a:lstStyle/>
          <a:p>
            <a:endParaRPr lang="en-US"/>
          </a:p>
        </p:txBody>
      </p:sp>
      <p:sp>
        <p:nvSpPr>
          <p:cNvPr id="21" name="Text 19"/>
          <p:cNvSpPr txBox="1"/>
          <p:nvPr/>
        </p:nvSpPr>
        <p:spPr>
          <a:xfrm>
            <a:off x="1280160" y="7306056"/>
            <a:ext cx="914400" cy="548640"/>
          </a:xfrm>
          <a:prstGeom prst="rect">
            <a:avLst/>
          </a:prstGeom>
          <a:noFill/>
          <a:ln/>
        </p:spPr>
        <p:txBody>
          <a:bodyPr wrap="square" lIns="0" tIns="0" rIns="0" bIns="0" rtlCol="0" anchor="ctr"/>
          <a:lstStyle/>
          <a:p>
            <a:pPr marL="0" indent="0">
              <a:buNone/>
            </a:pPr>
            <a:r>
              <a:rPr lang="en-US" sz="3000" dirty="0">
                <a:solidFill>
                  <a:srgbClr val="C3CCDA"/>
                </a:solidFill>
                <a:latin typeface="Bahnschrift Light" pitchFamily="34" charset="0"/>
                <a:ea typeface="Bahnschrift Light" pitchFamily="34" charset="-122"/>
                <a:cs typeface="Bahnschrift Light" pitchFamily="34" charset="-120"/>
              </a:rPr>
              <a:t>03</a:t>
            </a:r>
            <a:endParaRPr lang="en-US" sz="3000" dirty="0"/>
          </a:p>
        </p:txBody>
      </p:sp>
      <p:sp>
        <p:nvSpPr>
          <p:cNvPr id="22" name="Text 20"/>
          <p:cNvSpPr txBox="1"/>
          <p:nvPr/>
        </p:nvSpPr>
        <p:spPr>
          <a:xfrm>
            <a:off x="2377440" y="7397496"/>
            <a:ext cx="3840480" cy="411480"/>
          </a:xfrm>
          <a:prstGeom prst="rect">
            <a:avLst/>
          </a:prstGeom>
          <a:noFill/>
          <a:ln/>
        </p:spPr>
        <p:txBody>
          <a:bodyPr wrap="square" lIns="0" tIns="0" rIns="0" bIns="0" rtlCol="0" anchor="ctr"/>
          <a:lstStyle/>
          <a:p>
            <a:pPr marL="0" indent="0">
              <a:buNone/>
            </a:pPr>
            <a:r>
              <a:rPr lang="en-US" sz="1900" dirty="0">
                <a:solidFill>
                  <a:srgbClr val="18212F"/>
                </a:solidFill>
                <a:latin typeface="Bahnschrift SemiBold" pitchFamily="34" charset="0"/>
                <a:ea typeface="Bahnschrift SemiBold" pitchFamily="34" charset="-122"/>
                <a:cs typeface="Bahnschrift SemiBold" pitchFamily="34" charset="-120"/>
              </a:rPr>
              <a:t>Ammonia refrigeration</a:t>
            </a:r>
            <a:endParaRPr lang="en-US" sz="1900" dirty="0"/>
          </a:p>
        </p:txBody>
      </p:sp>
      <p:sp>
        <p:nvSpPr>
          <p:cNvPr id="23" name="Text 21"/>
          <p:cNvSpPr txBox="1"/>
          <p:nvPr/>
        </p:nvSpPr>
        <p:spPr>
          <a:xfrm>
            <a:off x="6400800" y="7415784"/>
            <a:ext cx="10607040" cy="411480"/>
          </a:xfrm>
          <a:prstGeom prst="rect">
            <a:avLst/>
          </a:prstGeom>
          <a:noFill/>
          <a:ln/>
        </p:spPr>
        <p:txBody>
          <a:bodyPr wrap="square" lIns="0" tIns="0" rIns="0" bIns="0" rtlCol="0" anchor="ctr"/>
          <a:lstStyle/>
          <a:p>
            <a:pPr marL="0" indent="0">
              <a:buNone/>
            </a:pPr>
            <a:r>
              <a:rPr lang="en-US" sz="1600" dirty="0">
                <a:solidFill>
                  <a:srgbClr val="6E7788"/>
                </a:solidFill>
                <a:latin typeface="Calibri" pitchFamily="34" charset="0"/>
                <a:ea typeface="Calibri" pitchFamily="34" charset="-122"/>
                <a:cs typeface="Calibri" pitchFamily="34" charset="-120"/>
              </a:rPr>
              <a:t>Two people, both near retirement. Sponsor certification now.</a:t>
            </a:r>
            <a:endParaRPr lang="en-US" sz="1600" dirty="0"/>
          </a:p>
        </p:txBody>
      </p:sp>
      <p:sp>
        <p:nvSpPr>
          <p:cNvPr id="24" name="Shape 22"/>
          <p:cNvSpPr/>
          <p:nvPr/>
        </p:nvSpPr>
        <p:spPr>
          <a:xfrm>
            <a:off x="1280160" y="7964424"/>
            <a:ext cx="15727680" cy="0"/>
          </a:xfrm>
          <a:prstGeom prst="line">
            <a:avLst/>
          </a:prstGeom>
          <a:noFill/>
          <a:ln w="12700">
            <a:solidFill>
              <a:srgbClr val="D9D9D9"/>
            </a:solidFill>
            <a:prstDash val="solid"/>
          </a:ln>
        </p:spPr>
        <p:txBody>
          <a:bodyPr/>
          <a:lstStyle/>
          <a:p>
            <a:endParaRPr lang="en-US"/>
          </a:p>
        </p:txBody>
      </p:sp>
      <p:sp>
        <p:nvSpPr>
          <p:cNvPr id="25" name="Text 23"/>
          <p:cNvSpPr txBox="1"/>
          <p:nvPr/>
        </p:nvSpPr>
        <p:spPr>
          <a:xfrm>
            <a:off x="1280160" y="8083296"/>
            <a:ext cx="914400" cy="548640"/>
          </a:xfrm>
          <a:prstGeom prst="rect">
            <a:avLst/>
          </a:prstGeom>
          <a:noFill/>
          <a:ln/>
        </p:spPr>
        <p:txBody>
          <a:bodyPr wrap="square" lIns="0" tIns="0" rIns="0" bIns="0" rtlCol="0" anchor="ctr"/>
          <a:lstStyle/>
          <a:p>
            <a:pPr marL="0" indent="0">
              <a:buNone/>
            </a:pPr>
            <a:r>
              <a:rPr lang="en-US" sz="3000" dirty="0">
                <a:solidFill>
                  <a:srgbClr val="C3CCDA"/>
                </a:solidFill>
                <a:latin typeface="Bahnschrift Light" pitchFamily="34" charset="0"/>
                <a:ea typeface="Bahnschrift Light" pitchFamily="34" charset="-122"/>
                <a:cs typeface="Bahnschrift Light" pitchFamily="34" charset="-120"/>
              </a:rPr>
              <a:t>04</a:t>
            </a:r>
            <a:endParaRPr lang="en-US" sz="3000" dirty="0"/>
          </a:p>
        </p:txBody>
      </p:sp>
      <p:sp>
        <p:nvSpPr>
          <p:cNvPr id="26" name="Text 24"/>
          <p:cNvSpPr txBox="1"/>
          <p:nvPr/>
        </p:nvSpPr>
        <p:spPr>
          <a:xfrm>
            <a:off x="2377440" y="8174736"/>
            <a:ext cx="3840480" cy="411480"/>
          </a:xfrm>
          <a:prstGeom prst="rect">
            <a:avLst/>
          </a:prstGeom>
          <a:noFill/>
          <a:ln/>
        </p:spPr>
        <p:txBody>
          <a:bodyPr wrap="square" lIns="0" tIns="0" rIns="0" bIns="0" rtlCol="0" anchor="ctr"/>
          <a:lstStyle/>
          <a:p>
            <a:pPr marL="0" indent="0">
              <a:buNone/>
            </a:pPr>
            <a:r>
              <a:rPr lang="en-US" sz="1900" dirty="0">
                <a:solidFill>
                  <a:srgbClr val="18212F"/>
                </a:solidFill>
                <a:latin typeface="Bahnschrift SemiBold" pitchFamily="34" charset="0"/>
                <a:ea typeface="Bahnschrift SemiBold" pitchFamily="34" charset="-122"/>
                <a:cs typeface="Bahnschrift SemiBold" pitchFamily="34" charset="-120"/>
              </a:rPr>
              <a:t>Salina line setup</a:t>
            </a:r>
            <a:endParaRPr lang="en-US" sz="1900" dirty="0"/>
          </a:p>
        </p:txBody>
      </p:sp>
      <p:sp>
        <p:nvSpPr>
          <p:cNvPr id="27" name="Text 25"/>
          <p:cNvSpPr txBox="1"/>
          <p:nvPr/>
        </p:nvSpPr>
        <p:spPr>
          <a:xfrm>
            <a:off x="6400800" y="8193024"/>
            <a:ext cx="10607040" cy="411480"/>
          </a:xfrm>
          <a:prstGeom prst="rect">
            <a:avLst/>
          </a:prstGeom>
          <a:noFill/>
          <a:ln/>
        </p:spPr>
        <p:txBody>
          <a:bodyPr wrap="square" lIns="0" tIns="0" rIns="0" bIns="0" rtlCol="0" anchor="ctr"/>
          <a:lstStyle/>
          <a:p>
            <a:pPr marL="0" indent="0">
              <a:buNone/>
            </a:pPr>
            <a:r>
              <a:rPr lang="en-US" sz="1600" dirty="0">
                <a:solidFill>
                  <a:srgbClr val="6E7788"/>
                </a:solidFill>
                <a:latin typeface="Calibri" pitchFamily="34" charset="0"/>
                <a:ea typeface="Calibri" pitchFamily="34" charset="-122"/>
                <a:cs typeface="Calibri" pitchFamily="34" charset="-120"/>
              </a:rPr>
              <a:t>Two people, nothing written down. Write it down, then mentor backups.</a:t>
            </a:r>
            <a:endParaRPr lang="en-US" sz="1600" dirty="0"/>
          </a:p>
        </p:txBody>
      </p:sp>
      <p:sp>
        <p:nvSpPr>
          <p:cNvPr id="28" name="Shape 26"/>
          <p:cNvSpPr/>
          <p:nvPr/>
        </p:nvSpPr>
        <p:spPr>
          <a:xfrm>
            <a:off x="1280160" y="9189720"/>
            <a:ext cx="15727680" cy="0"/>
          </a:xfrm>
          <a:prstGeom prst="line">
            <a:avLst/>
          </a:prstGeom>
          <a:noFill/>
          <a:ln w="12700">
            <a:solidFill>
              <a:srgbClr val="D9D9D9"/>
            </a:solidFill>
            <a:prstDash val="solid"/>
          </a:ln>
        </p:spPr>
        <p:txBody>
          <a:bodyPr/>
          <a:lstStyle/>
          <a:p>
            <a:endParaRPr lang="en-US"/>
          </a:p>
        </p:txBody>
      </p:sp>
      <p:sp>
        <p:nvSpPr>
          <p:cNvPr id="29" name="Text 27"/>
          <p:cNvSpPr txBox="1"/>
          <p:nvPr/>
        </p:nvSpPr>
        <p:spPr>
          <a:xfrm>
            <a:off x="1280160" y="9372600"/>
            <a:ext cx="8138160" cy="411480"/>
          </a:xfrm>
          <a:prstGeom prst="rect">
            <a:avLst/>
          </a:prstGeom>
          <a:noFill/>
          <a:ln/>
        </p:spPr>
        <p:txBody>
          <a:bodyPr wrap="square" lIns="0" tIns="0" rIns="0" bIns="0" rtlCol="0" anchor="ctr"/>
          <a:lstStyle/>
          <a:p>
            <a:pPr marL="0" indent="0">
              <a:buNone/>
            </a:pPr>
            <a:r>
              <a:rPr lang="en-US" sz="1400" b="1" kern="0" spc="200" dirty="0">
                <a:solidFill>
                  <a:srgbClr val="6E7788"/>
                </a:solidFill>
                <a:latin typeface="Calibri" pitchFamily="34" charset="0"/>
                <a:ea typeface="Calibri" pitchFamily="34" charset="-122"/>
                <a:cs typeface="Calibri" pitchFamily="34" charset="-120"/>
              </a:rPr>
              <a:t>IN THE APP   </a:t>
            </a:r>
            <a:r>
              <a:rPr lang="en-US" sz="1400" dirty="0">
                <a:solidFill>
                  <a:srgbClr val="18212F"/>
                </a:solidFill>
                <a:latin typeface="Calibri" pitchFamily="34" charset="0"/>
                <a:ea typeface="Calibri" pitchFamily="34" charset="-122"/>
                <a:cs typeface="Calibri" pitchFamily="34" charset="-120"/>
              </a:rPr>
              <a:t>Overview tab, Do this first</a:t>
            </a:r>
            <a:endParaRPr lang="en-US" sz="1400" dirty="0"/>
          </a:p>
        </p:txBody>
      </p:sp>
      <p:sp>
        <p:nvSpPr>
          <p:cNvPr id="30" name="Text 28"/>
          <p:cNvSpPr txBox="1"/>
          <p:nvPr/>
        </p:nvSpPr>
        <p:spPr>
          <a:xfrm>
            <a:off x="9418320" y="9372600"/>
            <a:ext cx="7589520" cy="411480"/>
          </a:xfrm>
          <a:prstGeom prst="rect">
            <a:avLst/>
          </a:prstGeom>
          <a:noFill/>
          <a:ln/>
        </p:spPr>
        <p:txBody>
          <a:bodyPr wrap="square" lIns="0" tIns="0" rIns="0" bIns="0" rtlCol="0" anchor="ctr"/>
          <a:lstStyle/>
          <a:p>
            <a:pPr marL="0" indent="0">
              <a:buNone/>
            </a:pPr>
            <a:r>
              <a:rPr lang="en-US" sz="1400" b="1" kern="0" spc="200" dirty="0">
                <a:solidFill>
                  <a:srgbClr val="6E7788"/>
                </a:solidFill>
                <a:latin typeface="Calibri" pitchFamily="34" charset="0"/>
                <a:ea typeface="Calibri" pitchFamily="34" charset="-122"/>
                <a:cs typeface="Calibri" pitchFamily="34" charset="-120"/>
              </a:rPr>
              <a:t>NUMBERS FROM   </a:t>
            </a:r>
            <a:r>
              <a:rPr lang="en-US" sz="1400" dirty="0">
                <a:solidFill>
                  <a:srgbClr val="18212F"/>
                </a:solidFill>
                <a:latin typeface="Calibri" pitchFamily="34" charset="0"/>
                <a:ea typeface="Calibri" pitchFamily="34" charset="-122"/>
                <a:cs typeface="Calibri" pitchFamily="34" charset="-120"/>
              </a:rPr>
              <a:t>score = impact × scarcity × gap size, shown on screen.</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EEF2F5"/>
          </a:solidFill>
          <a:ln w="12700">
            <a:solidFill>
              <a:srgbClr val="EEF2F5"/>
            </a:solidFill>
            <a:prstDash val="solid"/>
          </a:ln>
        </p:spPr>
        <p:txBody>
          <a:bodyPr/>
          <a:lstStyle/>
          <a:p>
            <a:endParaRPr lang="en-US"/>
          </a:p>
        </p:txBody>
      </p:sp>
      <p:sp>
        <p:nvSpPr>
          <p:cNvPr id="3" name="Shape 1"/>
          <p:cNvSpPr/>
          <p:nvPr/>
        </p:nvSpPr>
        <p:spPr>
          <a:xfrm>
            <a:off x="10058400" y="0"/>
            <a:ext cx="8229600" cy="10286999"/>
          </a:xfrm>
          <a:prstGeom prst="rect">
            <a:avLst/>
          </a:prstGeom>
          <a:solidFill>
            <a:srgbClr val="FFFFFF"/>
          </a:solidFill>
          <a:ln w="12700">
            <a:solidFill>
              <a:srgbClr val="FFFFFF"/>
            </a:solidFill>
            <a:prstDash val="solid"/>
          </a:ln>
        </p:spPr>
        <p:txBody>
          <a:bodyPr/>
          <a:lstStyle/>
          <a:p>
            <a:endParaRPr lang="en-US"/>
          </a:p>
        </p:txBody>
      </p:sp>
      <p:sp>
        <p:nvSpPr>
          <p:cNvPr id="4" name="Text 2"/>
          <p:cNvSpPr txBox="1"/>
          <p:nvPr/>
        </p:nvSpPr>
        <p:spPr>
          <a:xfrm>
            <a:off x="1280160" y="914400"/>
            <a:ext cx="8229600" cy="365760"/>
          </a:xfrm>
          <a:prstGeom prst="rect">
            <a:avLst/>
          </a:prstGeom>
          <a:noFill/>
          <a:ln/>
        </p:spPr>
        <p:txBody>
          <a:bodyPr wrap="square" lIns="0" tIns="0" rIns="0" bIns="0" rtlCol="0" anchor="ctr"/>
          <a:lstStyle/>
          <a:p>
            <a:pPr marL="0" indent="0">
              <a:buNone/>
            </a:pPr>
            <a:r>
              <a:rPr lang="en-US" sz="1300" b="1" kern="0" spc="300" dirty="0">
                <a:solidFill>
                  <a:srgbClr val="6E7788"/>
                </a:solidFill>
                <a:latin typeface="Calibri" pitchFamily="34" charset="0"/>
                <a:ea typeface="Calibri" pitchFamily="34" charset="-122"/>
                <a:cs typeface="Calibri" pitchFamily="34" charset="-120"/>
              </a:rPr>
              <a:t>THE OTHER SIDE OF IT</a:t>
            </a:r>
            <a:endParaRPr lang="en-US" sz="1300" dirty="0"/>
          </a:p>
        </p:txBody>
      </p:sp>
      <p:sp>
        <p:nvSpPr>
          <p:cNvPr id="5" name="Text 3"/>
          <p:cNvSpPr txBox="1"/>
          <p:nvPr/>
        </p:nvSpPr>
        <p:spPr>
          <a:xfrm>
            <a:off x="1280160" y="1371600"/>
            <a:ext cx="8412480" cy="1828800"/>
          </a:xfrm>
          <a:prstGeom prst="rect">
            <a:avLst/>
          </a:prstGeom>
          <a:noFill/>
          <a:ln/>
        </p:spPr>
        <p:txBody>
          <a:bodyPr wrap="square" lIns="0" tIns="0" rIns="0" bIns="0" rtlCol="0" anchor="ctr"/>
          <a:lstStyle/>
          <a:p>
            <a:pPr marL="0" indent="0">
              <a:lnSpc>
                <a:spcPct val="106000"/>
              </a:lnSpc>
              <a:buNone/>
            </a:pPr>
            <a:r>
              <a:rPr lang="en-US" sz="3800" dirty="0">
                <a:solidFill>
                  <a:srgbClr val="232E54"/>
                </a:solidFill>
                <a:latin typeface="Bahnschrift SemiBold" pitchFamily="34" charset="0"/>
                <a:ea typeface="Bahnschrift SemiBold" pitchFamily="34" charset="-122"/>
                <a:cs typeface="Bahnschrift SemiBold" pitchFamily="34" charset="-120"/>
              </a:rPr>
              <a:t>The challenge says employees</a:t>
            </a:r>
            <a:endParaRPr lang="en-US" sz="3800" dirty="0"/>
          </a:p>
          <a:p>
            <a:pPr marL="0" indent="0">
              <a:lnSpc>
                <a:spcPct val="106000"/>
              </a:lnSpc>
              <a:buNone/>
            </a:pPr>
            <a:r>
              <a:rPr lang="en-US" sz="3800" dirty="0">
                <a:solidFill>
                  <a:srgbClr val="232E54"/>
                </a:solidFill>
                <a:latin typeface="Bahnschrift SemiBold" pitchFamily="34" charset="0"/>
                <a:ea typeface="Bahnschrift SemiBold" pitchFamily="34" charset="-122"/>
                <a:cs typeface="Bahnschrift SemiBold" pitchFamily="34" charset="-120"/>
              </a:rPr>
              <a:t>close skill gaps.</a:t>
            </a:r>
            <a:endParaRPr lang="en-US" sz="3800" dirty="0"/>
          </a:p>
        </p:txBody>
      </p:sp>
      <p:sp>
        <p:nvSpPr>
          <p:cNvPr id="6" name="Text 4"/>
          <p:cNvSpPr txBox="1"/>
          <p:nvPr/>
        </p:nvSpPr>
        <p:spPr>
          <a:xfrm>
            <a:off x="1280160" y="3840480"/>
            <a:ext cx="8046720" cy="1097280"/>
          </a:xfrm>
          <a:prstGeom prst="rect">
            <a:avLst/>
          </a:prstGeom>
          <a:noFill/>
          <a:ln/>
        </p:spPr>
        <p:txBody>
          <a:bodyPr wrap="square" lIns="0" tIns="0" rIns="0" bIns="0" rtlCol="0" anchor="ctr"/>
          <a:lstStyle/>
          <a:p>
            <a:pPr marL="0" indent="0">
              <a:lnSpc>
                <a:spcPct val="140000"/>
              </a:lnSpc>
              <a:buNone/>
            </a:pPr>
            <a:r>
              <a:rPr lang="en-US" sz="1900" dirty="0">
                <a:solidFill>
                  <a:srgbClr val="6E7788"/>
                </a:solidFill>
                <a:latin typeface="Calibri" pitchFamily="34" charset="0"/>
                <a:ea typeface="Calibri" pitchFamily="34" charset="-122"/>
                <a:cs typeface="Calibri" pitchFamily="34" charset="-120"/>
              </a:rPr>
              <a:t>So one screen speaks to the employee, not only about them. Same data, same saved state as the manager's view.</a:t>
            </a:r>
            <a:endParaRPr lang="en-US" sz="1900" dirty="0"/>
          </a:p>
        </p:txBody>
      </p:sp>
      <p:sp>
        <p:nvSpPr>
          <p:cNvPr id="7" name="Text 5"/>
          <p:cNvSpPr txBox="1"/>
          <p:nvPr/>
        </p:nvSpPr>
        <p:spPr>
          <a:xfrm>
            <a:off x="1280160" y="5074920"/>
            <a:ext cx="8046720" cy="365760"/>
          </a:xfrm>
          <a:prstGeom prst="rect">
            <a:avLst/>
          </a:prstGeom>
          <a:noFill/>
          <a:ln/>
        </p:spPr>
        <p:txBody>
          <a:bodyPr wrap="square" lIns="0" tIns="0" rIns="0" bIns="0" rtlCol="0" anchor="ctr"/>
          <a:lstStyle/>
          <a:p>
            <a:pPr marL="0" indent="0">
              <a:buNone/>
            </a:pPr>
            <a:r>
              <a:rPr lang="en-US" sz="1300" b="1" kern="0" spc="200" dirty="0">
                <a:solidFill>
                  <a:srgbClr val="6E7788"/>
                </a:solidFill>
                <a:latin typeface="Calibri" pitchFamily="34" charset="0"/>
                <a:ea typeface="Calibri" pitchFamily="34" charset="-122"/>
                <a:cs typeface="Calibri" pitchFamily="34" charset="-120"/>
              </a:rPr>
              <a:t>TEN FIRST STEPS, SIXTEEN BACKUPS, ACROSS ALL FIVE METHODS</a:t>
            </a:r>
            <a:endParaRPr lang="en-US" sz="1300" dirty="0"/>
          </a:p>
        </p:txBody>
      </p:sp>
      <p:sp>
        <p:nvSpPr>
          <p:cNvPr id="8" name="Text 6"/>
          <p:cNvSpPr txBox="1"/>
          <p:nvPr/>
        </p:nvSpPr>
        <p:spPr>
          <a:xfrm>
            <a:off x="1280160" y="5660136"/>
            <a:ext cx="731520" cy="548640"/>
          </a:xfrm>
          <a:prstGeom prst="rect">
            <a:avLst/>
          </a:prstGeom>
          <a:noFill/>
          <a:ln/>
        </p:spPr>
        <p:txBody>
          <a:bodyPr wrap="square" lIns="0" tIns="0" rIns="0" bIns="0" rtlCol="0" anchor="ctr"/>
          <a:lstStyle/>
          <a:p>
            <a:pPr marL="0" indent="0">
              <a:buNone/>
            </a:pPr>
            <a:r>
              <a:rPr lang="en-US" sz="2800" dirty="0">
                <a:solidFill>
                  <a:srgbClr val="232E54"/>
                </a:solidFill>
                <a:latin typeface="Bahnschrift SemiBold" pitchFamily="34" charset="0"/>
                <a:ea typeface="Bahnschrift SemiBold" pitchFamily="34" charset="-122"/>
                <a:cs typeface="Bahnschrift SemiBold" pitchFamily="34" charset="-120"/>
              </a:rPr>
              <a:t>8</a:t>
            </a:r>
            <a:endParaRPr lang="en-US" sz="2800" dirty="0"/>
          </a:p>
        </p:txBody>
      </p:sp>
      <p:sp>
        <p:nvSpPr>
          <p:cNvPr id="9" name="Text 7"/>
          <p:cNvSpPr txBox="1"/>
          <p:nvPr/>
        </p:nvSpPr>
        <p:spPr>
          <a:xfrm>
            <a:off x="2103120" y="5751576"/>
            <a:ext cx="3657600" cy="411480"/>
          </a:xfrm>
          <a:prstGeom prst="rect">
            <a:avLst/>
          </a:prstGeom>
          <a:noFill/>
          <a:ln/>
        </p:spPr>
        <p:txBody>
          <a:bodyPr wrap="square" lIns="0" tIns="0" rIns="0" bIns="0" rtlCol="0" anchor="ctr"/>
          <a:lstStyle/>
          <a:p>
            <a:pPr marL="0" indent="0">
              <a:buNone/>
            </a:pPr>
            <a:r>
              <a:rPr lang="en-US" sz="1900" dirty="0">
                <a:solidFill>
                  <a:srgbClr val="18212F"/>
                </a:solidFill>
                <a:latin typeface="Bahnschrift SemiBold" pitchFamily="34" charset="0"/>
                <a:ea typeface="Bahnschrift SemiBold" pitchFamily="34" charset="-122"/>
                <a:cs typeface="Bahnschrift SemiBold" pitchFamily="34" charset="-120"/>
              </a:rPr>
              <a:t>Training</a:t>
            </a:r>
            <a:endParaRPr lang="en-US" sz="1900" dirty="0"/>
          </a:p>
        </p:txBody>
      </p:sp>
      <p:sp>
        <p:nvSpPr>
          <p:cNvPr id="10" name="Shape 8"/>
          <p:cNvSpPr/>
          <p:nvPr/>
        </p:nvSpPr>
        <p:spPr>
          <a:xfrm>
            <a:off x="1280160" y="6281928"/>
            <a:ext cx="8046720" cy="0"/>
          </a:xfrm>
          <a:prstGeom prst="line">
            <a:avLst/>
          </a:prstGeom>
          <a:noFill/>
          <a:ln w="12700">
            <a:solidFill>
              <a:srgbClr val="DCE3EA"/>
            </a:solidFill>
            <a:prstDash val="solid"/>
          </a:ln>
        </p:spPr>
        <p:txBody>
          <a:bodyPr/>
          <a:lstStyle/>
          <a:p>
            <a:endParaRPr lang="en-US"/>
          </a:p>
        </p:txBody>
      </p:sp>
      <p:sp>
        <p:nvSpPr>
          <p:cNvPr id="11" name="Text 9"/>
          <p:cNvSpPr txBox="1"/>
          <p:nvPr/>
        </p:nvSpPr>
        <p:spPr>
          <a:xfrm>
            <a:off x="1280160" y="6391656"/>
            <a:ext cx="731520" cy="548640"/>
          </a:xfrm>
          <a:prstGeom prst="rect">
            <a:avLst/>
          </a:prstGeom>
          <a:noFill/>
          <a:ln/>
        </p:spPr>
        <p:txBody>
          <a:bodyPr wrap="square" lIns="0" tIns="0" rIns="0" bIns="0" rtlCol="0" anchor="ctr"/>
          <a:lstStyle/>
          <a:p>
            <a:pPr marL="0" indent="0">
              <a:buNone/>
            </a:pPr>
            <a:r>
              <a:rPr lang="en-US" sz="2800" dirty="0">
                <a:solidFill>
                  <a:srgbClr val="232E54"/>
                </a:solidFill>
                <a:latin typeface="Bahnschrift SemiBold" pitchFamily="34" charset="0"/>
                <a:ea typeface="Bahnschrift SemiBold" pitchFamily="34" charset="-122"/>
                <a:cs typeface="Bahnschrift SemiBold" pitchFamily="34" charset="-120"/>
              </a:rPr>
              <a:t>6</a:t>
            </a:r>
            <a:endParaRPr lang="en-US" sz="2800" dirty="0"/>
          </a:p>
        </p:txBody>
      </p:sp>
      <p:sp>
        <p:nvSpPr>
          <p:cNvPr id="12" name="Text 10"/>
          <p:cNvSpPr txBox="1"/>
          <p:nvPr/>
        </p:nvSpPr>
        <p:spPr>
          <a:xfrm>
            <a:off x="2103120" y="6483096"/>
            <a:ext cx="3657600" cy="411480"/>
          </a:xfrm>
          <a:prstGeom prst="rect">
            <a:avLst/>
          </a:prstGeom>
          <a:noFill/>
          <a:ln/>
        </p:spPr>
        <p:txBody>
          <a:bodyPr wrap="square" lIns="0" tIns="0" rIns="0" bIns="0" rtlCol="0" anchor="ctr"/>
          <a:lstStyle/>
          <a:p>
            <a:pPr marL="0" indent="0">
              <a:buNone/>
            </a:pPr>
            <a:r>
              <a:rPr lang="en-US" sz="1900" dirty="0">
                <a:solidFill>
                  <a:srgbClr val="18212F"/>
                </a:solidFill>
                <a:latin typeface="Bahnschrift SemiBold" pitchFamily="34" charset="0"/>
                <a:ea typeface="Bahnschrift SemiBold" pitchFamily="34" charset="-122"/>
                <a:cs typeface="Bahnschrift SemiBold" pitchFamily="34" charset="-120"/>
              </a:rPr>
              <a:t>Mentoring</a:t>
            </a:r>
            <a:endParaRPr lang="en-US" sz="1900" dirty="0"/>
          </a:p>
        </p:txBody>
      </p:sp>
      <p:sp>
        <p:nvSpPr>
          <p:cNvPr id="13" name="Shape 11"/>
          <p:cNvSpPr/>
          <p:nvPr/>
        </p:nvSpPr>
        <p:spPr>
          <a:xfrm>
            <a:off x="1280160" y="7013448"/>
            <a:ext cx="8046720" cy="0"/>
          </a:xfrm>
          <a:prstGeom prst="line">
            <a:avLst/>
          </a:prstGeom>
          <a:noFill/>
          <a:ln w="12700">
            <a:solidFill>
              <a:srgbClr val="DCE3EA"/>
            </a:solidFill>
            <a:prstDash val="solid"/>
          </a:ln>
        </p:spPr>
        <p:txBody>
          <a:bodyPr/>
          <a:lstStyle/>
          <a:p>
            <a:endParaRPr lang="en-US"/>
          </a:p>
        </p:txBody>
      </p:sp>
      <p:sp>
        <p:nvSpPr>
          <p:cNvPr id="14" name="Text 12"/>
          <p:cNvSpPr txBox="1"/>
          <p:nvPr/>
        </p:nvSpPr>
        <p:spPr>
          <a:xfrm>
            <a:off x="1280160" y="7123176"/>
            <a:ext cx="731520" cy="548640"/>
          </a:xfrm>
          <a:prstGeom prst="rect">
            <a:avLst/>
          </a:prstGeom>
          <a:noFill/>
          <a:ln/>
        </p:spPr>
        <p:txBody>
          <a:bodyPr wrap="square" lIns="0" tIns="0" rIns="0" bIns="0" rtlCol="0" anchor="ctr"/>
          <a:lstStyle/>
          <a:p>
            <a:pPr marL="0" indent="0">
              <a:buNone/>
            </a:pPr>
            <a:r>
              <a:rPr lang="en-US" sz="2800" dirty="0">
                <a:solidFill>
                  <a:srgbClr val="232E54"/>
                </a:solidFill>
                <a:latin typeface="Bahnschrift SemiBold" pitchFamily="34" charset="0"/>
                <a:ea typeface="Bahnschrift SemiBold" pitchFamily="34" charset="-122"/>
                <a:cs typeface="Bahnschrift SemiBold" pitchFamily="34" charset="-120"/>
              </a:rPr>
              <a:t>5</a:t>
            </a:r>
            <a:endParaRPr lang="en-US" sz="2800" dirty="0"/>
          </a:p>
        </p:txBody>
      </p:sp>
      <p:sp>
        <p:nvSpPr>
          <p:cNvPr id="15" name="Text 13"/>
          <p:cNvSpPr txBox="1"/>
          <p:nvPr/>
        </p:nvSpPr>
        <p:spPr>
          <a:xfrm>
            <a:off x="2103120" y="7214616"/>
            <a:ext cx="3657600" cy="411480"/>
          </a:xfrm>
          <a:prstGeom prst="rect">
            <a:avLst/>
          </a:prstGeom>
          <a:noFill/>
          <a:ln/>
        </p:spPr>
        <p:txBody>
          <a:bodyPr wrap="square" lIns="0" tIns="0" rIns="0" bIns="0" rtlCol="0" anchor="ctr"/>
          <a:lstStyle/>
          <a:p>
            <a:pPr marL="0" indent="0">
              <a:buNone/>
            </a:pPr>
            <a:r>
              <a:rPr lang="en-US" sz="1900" dirty="0">
                <a:solidFill>
                  <a:srgbClr val="18212F"/>
                </a:solidFill>
                <a:latin typeface="Bahnschrift SemiBold" pitchFamily="34" charset="0"/>
                <a:ea typeface="Bahnschrift SemiBold" pitchFamily="34" charset="-122"/>
                <a:cs typeface="Bahnschrift SemiBold" pitchFamily="34" charset="-120"/>
              </a:rPr>
              <a:t>Project experience</a:t>
            </a:r>
            <a:endParaRPr lang="en-US" sz="1900" dirty="0"/>
          </a:p>
        </p:txBody>
      </p:sp>
      <p:sp>
        <p:nvSpPr>
          <p:cNvPr id="16" name="Shape 14"/>
          <p:cNvSpPr/>
          <p:nvPr/>
        </p:nvSpPr>
        <p:spPr>
          <a:xfrm>
            <a:off x="1280160" y="7744968"/>
            <a:ext cx="8046720" cy="0"/>
          </a:xfrm>
          <a:prstGeom prst="line">
            <a:avLst/>
          </a:prstGeom>
          <a:noFill/>
          <a:ln w="12700">
            <a:solidFill>
              <a:srgbClr val="DCE3EA"/>
            </a:solidFill>
            <a:prstDash val="solid"/>
          </a:ln>
        </p:spPr>
        <p:txBody>
          <a:bodyPr/>
          <a:lstStyle/>
          <a:p>
            <a:endParaRPr lang="en-US"/>
          </a:p>
        </p:txBody>
      </p:sp>
      <p:sp>
        <p:nvSpPr>
          <p:cNvPr id="17" name="Text 15"/>
          <p:cNvSpPr txBox="1"/>
          <p:nvPr/>
        </p:nvSpPr>
        <p:spPr>
          <a:xfrm>
            <a:off x="1280160" y="7854696"/>
            <a:ext cx="731520" cy="548640"/>
          </a:xfrm>
          <a:prstGeom prst="rect">
            <a:avLst/>
          </a:prstGeom>
          <a:noFill/>
          <a:ln/>
        </p:spPr>
        <p:txBody>
          <a:bodyPr wrap="square" lIns="0" tIns="0" rIns="0" bIns="0" rtlCol="0" anchor="ctr"/>
          <a:lstStyle/>
          <a:p>
            <a:pPr marL="0" indent="0">
              <a:buNone/>
            </a:pPr>
            <a:r>
              <a:rPr lang="en-US" sz="2800" dirty="0">
                <a:solidFill>
                  <a:srgbClr val="232E54"/>
                </a:solidFill>
                <a:latin typeface="Bahnschrift SemiBold" pitchFamily="34" charset="0"/>
                <a:ea typeface="Bahnschrift SemiBold" pitchFamily="34" charset="-122"/>
                <a:cs typeface="Bahnschrift SemiBold" pitchFamily="34" charset="-120"/>
              </a:rPr>
              <a:t>4</a:t>
            </a:r>
            <a:endParaRPr lang="en-US" sz="2800" dirty="0"/>
          </a:p>
        </p:txBody>
      </p:sp>
      <p:sp>
        <p:nvSpPr>
          <p:cNvPr id="18" name="Text 16"/>
          <p:cNvSpPr txBox="1"/>
          <p:nvPr/>
        </p:nvSpPr>
        <p:spPr>
          <a:xfrm>
            <a:off x="2103120" y="7946136"/>
            <a:ext cx="3657600" cy="411480"/>
          </a:xfrm>
          <a:prstGeom prst="rect">
            <a:avLst/>
          </a:prstGeom>
          <a:noFill/>
          <a:ln/>
        </p:spPr>
        <p:txBody>
          <a:bodyPr wrap="square" lIns="0" tIns="0" rIns="0" bIns="0" rtlCol="0" anchor="ctr"/>
          <a:lstStyle/>
          <a:p>
            <a:pPr marL="0" indent="0">
              <a:buNone/>
            </a:pPr>
            <a:r>
              <a:rPr lang="en-US" sz="1900" dirty="0">
                <a:solidFill>
                  <a:srgbClr val="18212F"/>
                </a:solidFill>
                <a:latin typeface="Bahnschrift SemiBold" pitchFamily="34" charset="0"/>
                <a:ea typeface="Bahnschrift SemiBold" pitchFamily="34" charset="-122"/>
                <a:cs typeface="Bahnschrift SemiBold" pitchFamily="34" charset="-120"/>
              </a:rPr>
              <a:t>Certification</a:t>
            </a:r>
            <a:endParaRPr lang="en-US" sz="1900" dirty="0"/>
          </a:p>
        </p:txBody>
      </p:sp>
      <p:sp>
        <p:nvSpPr>
          <p:cNvPr id="19" name="Shape 17"/>
          <p:cNvSpPr/>
          <p:nvPr/>
        </p:nvSpPr>
        <p:spPr>
          <a:xfrm>
            <a:off x="1280160" y="8476488"/>
            <a:ext cx="8046720" cy="0"/>
          </a:xfrm>
          <a:prstGeom prst="line">
            <a:avLst/>
          </a:prstGeom>
          <a:noFill/>
          <a:ln w="12700">
            <a:solidFill>
              <a:srgbClr val="DCE3EA"/>
            </a:solidFill>
            <a:prstDash val="solid"/>
          </a:ln>
        </p:spPr>
        <p:txBody>
          <a:bodyPr/>
          <a:lstStyle/>
          <a:p>
            <a:endParaRPr lang="en-US"/>
          </a:p>
        </p:txBody>
      </p:sp>
      <p:sp>
        <p:nvSpPr>
          <p:cNvPr id="20" name="Text 18"/>
          <p:cNvSpPr txBox="1"/>
          <p:nvPr/>
        </p:nvSpPr>
        <p:spPr>
          <a:xfrm>
            <a:off x="1280160" y="8586216"/>
            <a:ext cx="731520" cy="548640"/>
          </a:xfrm>
          <a:prstGeom prst="rect">
            <a:avLst/>
          </a:prstGeom>
          <a:noFill/>
          <a:ln/>
        </p:spPr>
        <p:txBody>
          <a:bodyPr wrap="square" lIns="0" tIns="0" rIns="0" bIns="0" rtlCol="0" anchor="ctr"/>
          <a:lstStyle/>
          <a:p>
            <a:pPr marL="0" indent="0">
              <a:buNone/>
            </a:pPr>
            <a:r>
              <a:rPr lang="en-US" sz="2800" dirty="0">
                <a:solidFill>
                  <a:srgbClr val="232E54"/>
                </a:solidFill>
                <a:latin typeface="Bahnschrift SemiBold" pitchFamily="34" charset="0"/>
                <a:ea typeface="Bahnschrift SemiBold" pitchFamily="34" charset="-122"/>
                <a:cs typeface="Bahnschrift SemiBold" pitchFamily="34" charset="-120"/>
              </a:rPr>
              <a:t>3</a:t>
            </a:r>
            <a:endParaRPr lang="en-US" sz="2800" dirty="0"/>
          </a:p>
        </p:txBody>
      </p:sp>
      <p:sp>
        <p:nvSpPr>
          <p:cNvPr id="21" name="Text 19"/>
          <p:cNvSpPr txBox="1"/>
          <p:nvPr/>
        </p:nvSpPr>
        <p:spPr>
          <a:xfrm>
            <a:off x="2103120" y="8677656"/>
            <a:ext cx="3657600" cy="411480"/>
          </a:xfrm>
          <a:prstGeom prst="rect">
            <a:avLst/>
          </a:prstGeom>
          <a:noFill/>
          <a:ln/>
        </p:spPr>
        <p:txBody>
          <a:bodyPr wrap="square" lIns="0" tIns="0" rIns="0" bIns="0" rtlCol="0" anchor="ctr"/>
          <a:lstStyle/>
          <a:p>
            <a:pPr marL="0" indent="0">
              <a:buNone/>
            </a:pPr>
            <a:r>
              <a:rPr lang="en-US" sz="1900" dirty="0">
                <a:solidFill>
                  <a:srgbClr val="18212F"/>
                </a:solidFill>
                <a:latin typeface="Bahnschrift SemiBold" pitchFamily="34" charset="0"/>
                <a:ea typeface="Bahnschrift SemiBold" pitchFamily="34" charset="-122"/>
                <a:cs typeface="Bahnschrift SemiBold" pitchFamily="34" charset="-120"/>
              </a:rPr>
              <a:t>Job rotation</a:t>
            </a:r>
            <a:endParaRPr lang="en-US" sz="1900" dirty="0"/>
          </a:p>
        </p:txBody>
      </p:sp>
      <p:sp>
        <p:nvSpPr>
          <p:cNvPr id="22" name="Text 20"/>
          <p:cNvSpPr txBox="1"/>
          <p:nvPr/>
        </p:nvSpPr>
        <p:spPr>
          <a:xfrm>
            <a:off x="10881360" y="2286000"/>
            <a:ext cx="5486400" cy="365760"/>
          </a:xfrm>
          <a:prstGeom prst="rect">
            <a:avLst/>
          </a:prstGeom>
          <a:noFill/>
          <a:ln/>
        </p:spPr>
        <p:txBody>
          <a:bodyPr wrap="square" lIns="0" tIns="0" rIns="0" bIns="0" rtlCol="0" anchor="ctr"/>
          <a:lstStyle/>
          <a:p>
            <a:pPr marL="0" indent="0">
              <a:buNone/>
            </a:pPr>
            <a:r>
              <a:rPr lang="en-US" sz="1300" b="1" kern="0" spc="300" dirty="0">
                <a:solidFill>
                  <a:srgbClr val="6E7788"/>
                </a:solidFill>
                <a:latin typeface="Calibri" pitchFamily="34" charset="0"/>
                <a:ea typeface="Calibri" pitchFamily="34" charset="-122"/>
                <a:cs typeface="Calibri" pitchFamily="34" charset="-120"/>
              </a:rPr>
              <a:t>SEEN FROM THE OTHER SIDE</a:t>
            </a:r>
            <a:endParaRPr lang="en-US" sz="1300" dirty="0"/>
          </a:p>
        </p:txBody>
      </p:sp>
      <p:sp>
        <p:nvSpPr>
          <p:cNvPr id="23" name="Text 21"/>
          <p:cNvSpPr txBox="1"/>
          <p:nvPr/>
        </p:nvSpPr>
        <p:spPr>
          <a:xfrm>
            <a:off x="10881360" y="2788920"/>
            <a:ext cx="5486400" cy="822960"/>
          </a:xfrm>
          <a:prstGeom prst="rect">
            <a:avLst/>
          </a:prstGeom>
          <a:noFill/>
          <a:ln/>
        </p:spPr>
        <p:txBody>
          <a:bodyPr wrap="square" lIns="0" tIns="0" rIns="0" bIns="0" rtlCol="0" anchor="ctr"/>
          <a:lstStyle/>
          <a:p>
            <a:pPr marL="0" indent="0">
              <a:buNone/>
            </a:pPr>
            <a:r>
              <a:rPr lang="en-US" sz="4400" dirty="0">
                <a:solidFill>
                  <a:srgbClr val="232E54"/>
                </a:solidFill>
                <a:latin typeface="Bahnschrift SemiBold" pitchFamily="34" charset="0"/>
                <a:ea typeface="Bahnschrift SemiBold" pitchFamily="34" charset="-122"/>
                <a:cs typeface="Bahnschrift SemiBold" pitchFamily="34" charset="-120"/>
              </a:rPr>
              <a:t>Sam K.</a:t>
            </a:r>
            <a:endParaRPr lang="en-US" sz="4400" dirty="0"/>
          </a:p>
        </p:txBody>
      </p:sp>
      <p:sp>
        <p:nvSpPr>
          <p:cNvPr id="24" name="Text 22"/>
          <p:cNvSpPr txBox="1"/>
          <p:nvPr/>
        </p:nvSpPr>
        <p:spPr>
          <a:xfrm>
            <a:off x="10881360" y="3703320"/>
            <a:ext cx="5394960" cy="457200"/>
          </a:xfrm>
          <a:prstGeom prst="rect">
            <a:avLst/>
          </a:prstGeom>
          <a:noFill/>
          <a:ln/>
        </p:spPr>
        <p:txBody>
          <a:bodyPr wrap="square" lIns="0" tIns="0" rIns="0" bIns="0" rtlCol="0" anchor="ctr"/>
          <a:lstStyle/>
          <a:p>
            <a:pPr marL="0" indent="0">
              <a:buNone/>
            </a:pPr>
            <a:r>
              <a:rPr lang="en-US" sz="1600" dirty="0">
                <a:solidFill>
                  <a:srgbClr val="6E7788"/>
                </a:solidFill>
                <a:latin typeface="Calibri" pitchFamily="34" charset="0"/>
                <a:ea typeface="Calibri" pitchFamily="34" charset="-122"/>
                <a:cs typeface="Calibri" pitchFamily="34" charset="-120"/>
              </a:rPr>
              <a:t>Refrigeration technician, Marshall. Fourteen years.</a:t>
            </a:r>
            <a:endParaRPr lang="en-US" sz="1600" dirty="0"/>
          </a:p>
        </p:txBody>
      </p:sp>
      <p:sp>
        <p:nvSpPr>
          <p:cNvPr id="25" name="Shape 23"/>
          <p:cNvSpPr/>
          <p:nvPr/>
        </p:nvSpPr>
        <p:spPr>
          <a:xfrm>
            <a:off x="10881360" y="4343400"/>
            <a:ext cx="5394960" cy="0"/>
          </a:xfrm>
          <a:prstGeom prst="line">
            <a:avLst/>
          </a:prstGeom>
          <a:noFill/>
          <a:ln w="12700">
            <a:solidFill>
              <a:srgbClr val="D9D9D9"/>
            </a:solidFill>
            <a:prstDash val="solid"/>
          </a:ln>
        </p:spPr>
        <p:txBody>
          <a:bodyPr/>
          <a:lstStyle/>
          <a:p>
            <a:endParaRPr lang="en-US"/>
          </a:p>
        </p:txBody>
      </p:sp>
      <p:sp>
        <p:nvSpPr>
          <p:cNvPr id="26" name="Text 24"/>
          <p:cNvSpPr txBox="1"/>
          <p:nvPr/>
        </p:nvSpPr>
        <p:spPr>
          <a:xfrm>
            <a:off x="10881360" y="4617720"/>
            <a:ext cx="5394960" cy="1463040"/>
          </a:xfrm>
          <a:prstGeom prst="rect">
            <a:avLst/>
          </a:prstGeom>
          <a:noFill/>
          <a:ln/>
        </p:spPr>
        <p:txBody>
          <a:bodyPr wrap="square" lIns="0" tIns="0" rIns="0" bIns="0" rtlCol="0" anchor="ctr"/>
          <a:lstStyle/>
          <a:p>
            <a:pPr marL="0" indent="0">
              <a:lnSpc>
                <a:spcPct val="140000"/>
              </a:lnSpc>
              <a:buNone/>
            </a:pPr>
            <a:r>
              <a:rPr lang="en-US" sz="1900" dirty="0">
                <a:solidFill>
                  <a:srgbClr val="18212F"/>
                </a:solidFill>
                <a:latin typeface="Calibri" pitchFamily="34" charset="0"/>
                <a:ea typeface="Calibri" pitchFamily="34" charset="-122"/>
                <a:cs typeface="Calibri" pitchFamily="34" charset="-120"/>
              </a:rPr>
              <a:t>One of two people who hold the ammonia certification, so his step is to pass it on.</a:t>
            </a:r>
            <a:endParaRPr lang="en-US" sz="1900" dirty="0"/>
          </a:p>
        </p:txBody>
      </p:sp>
      <p:sp>
        <p:nvSpPr>
          <p:cNvPr id="27" name="Text 25"/>
          <p:cNvSpPr txBox="1"/>
          <p:nvPr/>
        </p:nvSpPr>
        <p:spPr>
          <a:xfrm>
            <a:off x="10881360" y="6309360"/>
            <a:ext cx="5394960" cy="1828800"/>
          </a:xfrm>
          <a:prstGeom prst="rect">
            <a:avLst/>
          </a:prstGeom>
          <a:noFill/>
          <a:ln/>
        </p:spPr>
        <p:txBody>
          <a:bodyPr wrap="square" lIns="0" tIns="0" rIns="0" bIns="0" rtlCol="0" anchor="ctr"/>
          <a:lstStyle/>
          <a:p>
            <a:pPr marL="0" indent="0">
              <a:lnSpc>
                <a:spcPct val="140000"/>
              </a:lnSpc>
              <a:buNone/>
            </a:pPr>
            <a:r>
              <a:rPr lang="en-US" sz="1700" dirty="0">
                <a:solidFill>
                  <a:srgbClr val="6E7788"/>
                </a:solidFill>
                <a:latin typeface="Calibri" pitchFamily="34" charset="0"/>
                <a:ea typeface="Calibri" pitchFamily="34" charset="-122"/>
                <a:cs typeface="Calibri" pitchFamily="34" charset="-120"/>
              </a:rPr>
              <a:t>He ticks the same box his manager sees. The manager starts the plan, the employee sees it, and the count in the corner goes up.</a:t>
            </a:r>
            <a:endParaRPr lang="en-US" sz="1700" dirty="0"/>
          </a:p>
        </p:txBody>
      </p:sp>
      <p:sp>
        <p:nvSpPr>
          <p:cNvPr id="28" name="Shape 26"/>
          <p:cNvSpPr/>
          <p:nvPr/>
        </p:nvSpPr>
        <p:spPr>
          <a:xfrm>
            <a:off x="1280160" y="9189720"/>
            <a:ext cx="15727680" cy="0"/>
          </a:xfrm>
          <a:prstGeom prst="line">
            <a:avLst/>
          </a:prstGeom>
          <a:noFill/>
          <a:ln w="12700">
            <a:solidFill>
              <a:srgbClr val="D9D9D9"/>
            </a:solidFill>
            <a:prstDash val="solid"/>
          </a:ln>
        </p:spPr>
        <p:txBody>
          <a:bodyPr/>
          <a:lstStyle/>
          <a:p>
            <a:endParaRPr lang="en-US"/>
          </a:p>
        </p:txBody>
      </p:sp>
      <p:sp>
        <p:nvSpPr>
          <p:cNvPr id="29" name="Text 27"/>
          <p:cNvSpPr txBox="1"/>
          <p:nvPr/>
        </p:nvSpPr>
        <p:spPr>
          <a:xfrm>
            <a:off x="1280160" y="9372600"/>
            <a:ext cx="8138160" cy="411480"/>
          </a:xfrm>
          <a:prstGeom prst="rect">
            <a:avLst/>
          </a:prstGeom>
          <a:noFill/>
          <a:ln/>
        </p:spPr>
        <p:txBody>
          <a:bodyPr wrap="square" lIns="0" tIns="0" rIns="0" bIns="0" rtlCol="0" anchor="ctr"/>
          <a:lstStyle/>
          <a:p>
            <a:pPr marL="0" indent="0">
              <a:buNone/>
            </a:pPr>
            <a:r>
              <a:rPr lang="en-US" sz="1400" b="1" kern="0" spc="200" dirty="0">
                <a:solidFill>
                  <a:srgbClr val="6E7788"/>
                </a:solidFill>
                <a:latin typeface="Calibri" pitchFamily="34" charset="0"/>
                <a:ea typeface="Calibri" pitchFamily="34" charset="-122"/>
                <a:cs typeface="Calibri" pitchFamily="34" charset="-120"/>
              </a:rPr>
              <a:t>IN THE APP   </a:t>
            </a:r>
            <a:r>
              <a:rPr lang="en-US" sz="1400" dirty="0">
                <a:solidFill>
                  <a:srgbClr val="18212F"/>
                </a:solidFill>
                <a:latin typeface="Calibri" pitchFamily="34" charset="0"/>
                <a:ea typeface="Calibri" pitchFamily="34" charset="-122"/>
                <a:cs typeface="Calibri" pitchFamily="34" charset="-120"/>
              </a:rPr>
              <a:t>Employee view tab</a:t>
            </a:r>
            <a:endParaRPr lang="en-US" sz="1400" dirty="0"/>
          </a:p>
        </p:txBody>
      </p:sp>
      <p:sp>
        <p:nvSpPr>
          <p:cNvPr id="30" name="Text 28"/>
          <p:cNvSpPr txBox="1"/>
          <p:nvPr/>
        </p:nvSpPr>
        <p:spPr>
          <a:xfrm>
            <a:off x="9418320" y="9372600"/>
            <a:ext cx="7589520" cy="411480"/>
          </a:xfrm>
          <a:prstGeom prst="rect">
            <a:avLst/>
          </a:prstGeom>
          <a:noFill/>
          <a:ln/>
        </p:spPr>
        <p:txBody>
          <a:bodyPr wrap="square" lIns="0" tIns="0" rIns="0" bIns="0" rtlCol="0" anchor="ctr"/>
          <a:lstStyle/>
          <a:p>
            <a:pPr marL="0" indent="0">
              <a:buNone/>
            </a:pPr>
            <a:r>
              <a:rPr lang="en-US" sz="1400" b="1" kern="0" spc="200" dirty="0">
                <a:solidFill>
                  <a:srgbClr val="6E7788"/>
                </a:solidFill>
                <a:latin typeface="Calibri" pitchFamily="34" charset="0"/>
                <a:ea typeface="Calibri" pitchFamily="34" charset="-122"/>
                <a:cs typeface="Calibri" pitchFamily="34" charset="-120"/>
              </a:rPr>
              <a:t>NUMBERS FROM   </a:t>
            </a:r>
            <a:r>
              <a:rPr lang="en-US" sz="1400" dirty="0">
                <a:solidFill>
                  <a:srgbClr val="18212F"/>
                </a:solidFill>
                <a:latin typeface="Calibri" pitchFamily="34" charset="0"/>
                <a:ea typeface="Calibri" pitchFamily="34" charset="-122"/>
                <a:cs typeface="Calibri" pitchFamily="34" charset="-120"/>
              </a:rPr>
              <a:t>Demo profiles. Methods are the five the challenge names.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1280160" y="914400"/>
            <a:ext cx="8229600" cy="365760"/>
          </a:xfrm>
          <a:prstGeom prst="rect">
            <a:avLst/>
          </a:prstGeom>
          <a:noFill/>
          <a:ln/>
        </p:spPr>
        <p:txBody>
          <a:bodyPr wrap="square" lIns="0" tIns="0" rIns="0" bIns="0" rtlCol="0" anchor="ctr"/>
          <a:lstStyle/>
          <a:p>
            <a:pPr marL="0" indent="0">
              <a:buNone/>
            </a:pPr>
            <a:r>
              <a:rPr lang="en-US" sz="1300" b="1" kern="0" spc="300" dirty="0">
                <a:solidFill>
                  <a:srgbClr val="6E7788"/>
                </a:solidFill>
                <a:latin typeface="Calibri" pitchFamily="34" charset="0"/>
                <a:ea typeface="Calibri" pitchFamily="34" charset="-122"/>
                <a:cs typeface="Calibri" pitchFamily="34" charset="-120"/>
              </a:rPr>
              <a:t>HOW IT IS BUILT, AND WHAT TO ASK</a:t>
            </a:r>
            <a:endParaRPr lang="en-US" sz="1300" dirty="0"/>
          </a:p>
        </p:txBody>
      </p:sp>
      <p:sp>
        <p:nvSpPr>
          <p:cNvPr id="3" name="Text 1"/>
          <p:cNvSpPr txBox="1"/>
          <p:nvPr/>
        </p:nvSpPr>
        <p:spPr>
          <a:xfrm>
            <a:off x="1280160" y="1371600"/>
            <a:ext cx="14081760" cy="1828800"/>
          </a:xfrm>
          <a:prstGeom prst="rect">
            <a:avLst/>
          </a:prstGeom>
          <a:noFill/>
          <a:ln/>
        </p:spPr>
        <p:txBody>
          <a:bodyPr wrap="square" lIns="0" tIns="0" rIns="0" bIns="0" rtlCol="0" anchor="ctr"/>
          <a:lstStyle/>
          <a:p>
            <a:pPr marL="0" indent="0">
              <a:lnSpc>
                <a:spcPct val="106000"/>
              </a:lnSpc>
              <a:buNone/>
            </a:pPr>
            <a:r>
              <a:rPr lang="en-US" sz="3800" dirty="0">
                <a:solidFill>
                  <a:srgbClr val="232E54"/>
                </a:solidFill>
                <a:latin typeface="Bahnschrift SemiBold" pitchFamily="34" charset="0"/>
                <a:ea typeface="Bahnschrift SemiBold" pitchFamily="34" charset="-122"/>
                <a:cs typeface="Bahnschrift SemiBold" pitchFamily="34" charset="-120"/>
              </a:rPr>
              <a:t>Four files. No framework, no build step,</a:t>
            </a:r>
            <a:endParaRPr lang="en-US" sz="3800" dirty="0"/>
          </a:p>
          <a:p>
            <a:pPr marL="0" indent="0">
              <a:lnSpc>
                <a:spcPct val="106000"/>
              </a:lnSpc>
              <a:buNone/>
            </a:pPr>
            <a:r>
              <a:rPr lang="en-US" sz="3800" dirty="0">
                <a:solidFill>
                  <a:srgbClr val="232E54"/>
                </a:solidFill>
                <a:latin typeface="Bahnschrift SemiBold" pitchFamily="34" charset="0"/>
                <a:ea typeface="Bahnschrift SemiBold" pitchFamily="34" charset="-122"/>
                <a:cs typeface="Bahnschrift SemiBold" pitchFamily="34" charset="-120"/>
              </a:rPr>
              <a:t>nothing loaded from the internet.</a:t>
            </a:r>
            <a:endParaRPr lang="en-US" sz="3800" dirty="0"/>
          </a:p>
        </p:txBody>
      </p:sp>
      <p:sp>
        <p:nvSpPr>
          <p:cNvPr id="4" name="Text 2"/>
          <p:cNvSpPr txBox="1"/>
          <p:nvPr/>
        </p:nvSpPr>
        <p:spPr>
          <a:xfrm>
            <a:off x="1280160" y="3200400"/>
            <a:ext cx="12801600" cy="548640"/>
          </a:xfrm>
          <a:prstGeom prst="rect">
            <a:avLst/>
          </a:prstGeom>
          <a:noFill/>
          <a:ln/>
        </p:spPr>
        <p:txBody>
          <a:bodyPr wrap="square" lIns="0" tIns="0" rIns="0" bIns="0" rtlCol="0" anchor="ctr"/>
          <a:lstStyle/>
          <a:p>
            <a:pPr marL="0" indent="0">
              <a:buNone/>
            </a:pPr>
            <a:r>
              <a:rPr lang="en-US" sz="1800" dirty="0">
                <a:solidFill>
                  <a:srgbClr val="6E7788"/>
                </a:solidFill>
                <a:latin typeface="Calibri" pitchFamily="34" charset="0"/>
                <a:ea typeface="Calibri" pitchFamily="34" charset="-122"/>
                <a:cs typeface="Calibri" pitchFamily="34" charset="-120"/>
              </a:rPr>
              <a:t>Every outside number is sourced, and three claims were cut after checking because they only traced back to blogs. FACTS.md lists all of it.</a:t>
            </a:r>
            <a:endParaRPr lang="en-US" sz="1800" dirty="0"/>
          </a:p>
        </p:txBody>
      </p:sp>
      <p:sp>
        <p:nvSpPr>
          <p:cNvPr id="5" name="Shape 3"/>
          <p:cNvSpPr/>
          <p:nvPr/>
        </p:nvSpPr>
        <p:spPr>
          <a:xfrm>
            <a:off x="1280160" y="3977640"/>
            <a:ext cx="15727680" cy="0"/>
          </a:xfrm>
          <a:prstGeom prst="line">
            <a:avLst/>
          </a:prstGeom>
          <a:noFill/>
          <a:ln w="12700">
            <a:solidFill>
              <a:srgbClr val="D9D9D9"/>
            </a:solidFill>
            <a:prstDash val="solid"/>
          </a:ln>
        </p:spPr>
        <p:txBody>
          <a:bodyPr/>
          <a:lstStyle/>
          <a:p>
            <a:endParaRPr lang="en-US"/>
          </a:p>
        </p:txBody>
      </p:sp>
      <p:sp>
        <p:nvSpPr>
          <p:cNvPr id="6" name="Text 4"/>
          <p:cNvSpPr txBox="1"/>
          <p:nvPr/>
        </p:nvSpPr>
        <p:spPr>
          <a:xfrm>
            <a:off x="1280160" y="4343400"/>
            <a:ext cx="6858000" cy="548640"/>
          </a:xfrm>
          <a:prstGeom prst="rect">
            <a:avLst/>
          </a:prstGeom>
          <a:noFill/>
          <a:ln/>
        </p:spPr>
        <p:txBody>
          <a:bodyPr wrap="square" lIns="0" tIns="0" rIns="0" bIns="0" rtlCol="0" anchor="ctr"/>
          <a:lstStyle/>
          <a:p>
            <a:pPr marL="0" indent="0">
              <a:buNone/>
            </a:pPr>
            <a:r>
              <a:rPr lang="en-US" sz="2100" dirty="0">
                <a:solidFill>
                  <a:srgbClr val="232E54"/>
                </a:solidFill>
                <a:latin typeface="Bahnschrift SemiBold" pitchFamily="34" charset="0"/>
                <a:ea typeface="Bahnschrift SemiBold" pitchFamily="34" charset="-122"/>
                <a:cs typeface="Bahnschrift SemiBold" pitchFamily="34" charset="-120"/>
              </a:rPr>
              <a:t>Are these real numbers?</a:t>
            </a:r>
            <a:endParaRPr lang="en-US" sz="2100" dirty="0"/>
          </a:p>
        </p:txBody>
      </p:sp>
      <p:sp>
        <p:nvSpPr>
          <p:cNvPr id="7" name="Text 5"/>
          <p:cNvSpPr txBox="1"/>
          <p:nvPr/>
        </p:nvSpPr>
        <p:spPr>
          <a:xfrm>
            <a:off x="1280160" y="4965192"/>
            <a:ext cx="6858000" cy="914400"/>
          </a:xfrm>
          <a:prstGeom prst="rect">
            <a:avLst/>
          </a:prstGeom>
          <a:noFill/>
          <a:ln/>
        </p:spPr>
        <p:txBody>
          <a:bodyPr wrap="square" lIns="0" tIns="0" rIns="0" bIns="0" rtlCol="0" anchor="ctr"/>
          <a:lstStyle/>
          <a:p>
            <a:pPr marL="0" indent="0">
              <a:lnSpc>
                <a:spcPct val="130000"/>
              </a:lnSpc>
              <a:buNone/>
            </a:pPr>
            <a:r>
              <a:rPr lang="en-US" sz="1600" dirty="0">
                <a:solidFill>
                  <a:srgbClr val="6E7788"/>
                </a:solidFill>
                <a:latin typeface="Calibri" pitchFamily="34" charset="0"/>
                <a:ea typeface="Calibri" pitchFamily="34" charset="-122"/>
                <a:cs typeface="Calibri" pitchFamily="34" charset="-120"/>
              </a:rPr>
              <a:t>Coverage and headcounts are demo data. Sites, job groups and the regulations are sourced.</a:t>
            </a:r>
            <a:endParaRPr lang="en-US" sz="1600" dirty="0"/>
          </a:p>
        </p:txBody>
      </p:sp>
      <p:sp>
        <p:nvSpPr>
          <p:cNvPr id="8" name="Shape 6"/>
          <p:cNvSpPr/>
          <p:nvPr/>
        </p:nvSpPr>
        <p:spPr>
          <a:xfrm>
            <a:off x="8595360" y="4206240"/>
            <a:ext cx="0" cy="1645920"/>
          </a:xfrm>
          <a:prstGeom prst="line">
            <a:avLst/>
          </a:prstGeom>
          <a:noFill/>
          <a:ln w="12700">
            <a:solidFill>
              <a:srgbClr val="D9D9D9"/>
            </a:solidFill>
            <a:prstDash val="solid"/>
          </a:ln>
        </p:spPr>
        <p:txBody>
          <a:bodyPr/>
          <a:lstStyle/>
          <a:p>
            <a:endParaRPr lang="en-US"/>
          </a:p>
        </p:txBody>
      </p:sp>
      <p:sp>
        <p:nvSpPr>
          <p:cNvPr id="9" name="Shape 7"/>
          <p:cNvSpPr/>
          <p:nvPr/>
        </p:nvSpPr>
        <p:spPr>
          <a:xfrm>
            <a:off x="1280160" y="6035040"/>
            <a:ext cx="6858000" cy="0"/>
          </a:xfrm>
          <a:prstGeom prst="line">
            <a:avLst/>
          </a:prstGeom>
          <a:noFill/>
          <a:ln w="12700">
            <a:solidFill>
              <a:srgbClr val="D9D9D9"/>
            </a:solidFill>
            <a:prstDash val="solid"/>
          </a:ln>
        </p:spPr>
        <p:txBody>
          <a:bodyPr/>
          <a:lstStyle/>
          <a:p>
            <a:endParaRPr lang="en-US"/>
          </a:p>
        </p:txBody>
      </p:sp>
      <p:sp>
        <p:nvSpPr>
          <p:cNvPr id="10" name="Text 8"/>
          <p:cNvSpPr txBox="1"/>
          <p:nvPr/>
        </p:nvSpPr>
        <p:spPr>
          <a:xfrm>
            <a:off x="9235440" y="4343400"/>
            <a:ext cx="6858000" cy="548640"/>
          </a:xfrm>
          <a:prstGeom prst="rect">
            <a:avLst/>
          </a:prstGeom>
          <a:noFill/>
          <a:ln/>
        </p:spPr>
        <p:txBody>
          <a:bodyPr wrap="square" lIns="0" tIns="0" rIns="0" bIns="0" rtlCol="0" anchor="ctr"/>
          <a:lstStyle/>
          <a:p>
            <a:pPr marL="0" indent="0">
              <a:buNone/>
            </a:pPr>
            <a:r>
              <a:rPr lang="en-US" sz="2100" dirty="0">
                <a:solidFill>
                  <a:srgbClr val="232E54"/>
                </a:solidFill>
                <a:latin typeface="Bahnschrift SemiBold" pitchFamily="34" charset="0"/>
                <a:ea typeface="Bahnschrift SemiBold" pitchFamily="34" charset="-122"/>
                <a:cs typeface="Bahnschrift SemiBold" pitchFamily="34" charset="-120"/>
              </a:rPr>
              <a:t>Where would the data come from?</a:t>
            </a:r>
            <a:endParaRPr lang="en-US" sz="2100" dirty="0"/>
          </a:p>
        </p:txBody>
      </p:sp>
      <p:sp>
        <p:nvSpPr>
          <p:cNvPr id="11" name="Text 9"/>
          <p:cNvSpPr txBox="1"/>
          <p:nvPr/>
        </p:nvSpPr>
        <p:spPr>
          <a:xfrm>
            <a:off x="9235440" y="4965192"/>
            <a:ext cx="6858000" cy="914400"/>
          </a:xfrm>
          <a:prstGeom prst="rect">
            <a:avLst/>
          </a:prstGeom>
          <a:noFill/>
          <a:ln/>
        </p:spPr>
        <p:txBody>
          <a:bodyPr wrap="square" lIns="0" tIns="0" rIns="0" bIns="0" rtlCol="0" anchor="ctr"/>
          <a:lstStyle/>
          <a:p>
            <a:pPr marL="0" indent="0">
              <a:lnSpc>
                <a:spcPct val="130000"/>
              </a:lnSpc>
              <a:buNone/>
            </a:pPr>
            <a:r>
              <a:rPr lang="en-US" sz="1600" dirty="0">
                <a:solidFill>
                  <a:srgbClr val="6E7788"/>
                </a:solidFill>
                <a:latin typeface="Calibri" pitchFamily="34" charset="0"/>
                <a:ea typeface="Calibri" pitchFamily="34" charset="-122"/>
                <a:cs typeface="Calibri" pitchFamily="34" charset="-120"/>
              </a:rPr>
              <a:t>Training records, certifications, maintenance sign-offs. OSHA keeps the ammonia roster by law.</a:t>
            </a:r>
            <a:endParaRPr lang="en-US" sz="1600" dirty="0"/>
          </a:p>
        </p:txBody>
      </p:sp>
      <p:sp>
        <p:nvSpPr>
          <p:cNvPr id="12" name="Shape 10"/>
          <p:cNvSpPr/>
          <p:nvPr/>
        </p:nvSpPr>
        <p:spPr>
          <a:xfrm>
            <a:off x="9235440" y="6035040"/>
            <a:ext cx="6858000" cy="0"/>
          </a:xfrm>
          <a:prstGeom prst="line">
            <a:avLst/>
          </a:prstGeom>
          <a:noFill/>
          <a:ln w="12700">
            <a:solidFill>
              <a:srgbClr val="D9D9D9"/>
            </a:solidFill>
            <a:prstDash val="solid"/>
          </a:ln>
        </p:spPr>
        <p:txBody>
          <a:bodyPr/>
          <a:lstStyle/>
          <a:p>
            <a:endParaRPr lang="en-US"/>
          </a:p>
        </p:txBody>
      </p:sp>
      <p:sp>
        <p:nvSpPr>
          <p:cNvPr id="13" name="Text 11"/>
          <p:cNvSpPr txBox="1"/>
          <p:nvPr/>
        </p:nvSpPr>
        <p:spPr>
          <a:xfrm>
            <a:off x="1280160" y="6309360"/>
            <a:ext cx="6858000" cy="548640"/>
          </a:xfrm>
          <a:prstGeom prst="rect">
            <a:avLst/>
          </a:prstGeom>
          <a:noFill/>
          <a:ln/>
        </p:spPr>
        <p:txBody>
          <a:bodyPr wrap="square" lIns="0" tIns="0" rIns="0" bIns="0" rtlCol="0" anchor="ctr"/>
          <a:lstStyle/>
          <a:p>
            <a:pPr marL="0" indent="0">
              <a:buNone/>
            </a:pPr>
            <a:r>
              <a:rPr lang="en-US" sz="2100" dirty="0">
                <a:solidFill>
                  <a:srgbClr val="232E54"/>
                </a:solidFill>
                <a:latin typeface="Bahnschrift SemiBold" pitchFamily="34" charset="0"/>
                <a:ea typeface="Bahnschrift SemiBold" pitchFamily="34" charset="-122"/>
                <a:cs typeface="Bahnschrift SemiBold" pitchFamily="34" charset="-120"/>
              </a:rPr>
              <a:t>How is the order decided?</a:t>
            </a:r>
            <a:endParaRPr lang="en-US" sz="2100" dirty="0"/>
          </a:p>
        </p:txBody>
      </p:sp>
      <p:sp>
        <p:nvSpPr>
          <p:cNvPr id="14" name="Text 12"/>
          <p:cNvSpPr txBox="1"/>
          <p:nvPr/>
        </p:nvSpPr>
        <p:spPr>
          <a:xfrm>
            <a:off x="1280160" y="6931152"/>
            <a:ext cx="6858000" cy="914400"/>
          </a:xfrm>
          <a:prstGeom prst="rect">
            <a:avLst/>
          </a:prstGeom>
          <a:noFill/>
          <a:ln/>
        </p:spPr>
        <p:txBody>
          <a:bodyPr wrap="square" lIns="0" tIns="0" rIns="0" bIns="0" rtlCol="0" anchor="ctr"/>
          <a:lstStyle/>
          <a:p>
            <a:pPr marL="0" indent="0">
              <a:lnSpc>
                <a:spcPct val="130000"/>
              </a:lnSpc>
              <a:buNone/>
            </a:pPr>
            <a:r>
              <a:rPr lang="en-US" sz="1600" dirty="0">
                <a:solidFill>
                  <a:srgbClr val="6E7788"/>
                </a:solidFill>
                <a:latin typeface="Calibri" pitchFamily="34" charset="0"/>
                <a:ea typeface="Calibri" pitchFamily="34" charset="-122"/>
                <a:cs typeface="Calibri" pitchFamily="34" charset="-120"/>
              </a:rPr>
              <a:t>Impact, times how few hold it, times gap size. The formula is on screen.</a:t>
            </a:r>
            <a:endParaRPr lang="en-US" sz="1600" dirty="0"/>
          </a:p>
        </p:txBody>
      </p:sp>
      <p:sp>
        <p:nvSpPr>
          <p:cNvPr id="15" name="Shape 13"/>
          <p:cNvSpPr/>
          <p:nvPr/>
        </p:nvSpPr>
        <p:spPr>
          <a:xfrm>
            <a:off x="8595360" y="6172200"/>
            <a:ext cx="0" cy="1645920"/>
          </a:xfrm>
          <a:prstGeom prst="line">
            <a:avLst/>
          </a:prstGeom>
          <a:noFill/>
          <a:ln w="12700">
            <a:solidFill>
              <a:srgbClr val="D9D9D9"/>
            </a:solidFill>
            <a:prstDash val="solid"/>
          </a:ln>
        </p:spPr>
        <p:txBody>
          <a:bodyPr/>
          <a:lstStyle/>
          <a:p>
            <a:endParaRPr lang="en-US"/>
          </a:p>
        </p:txBody>
      </p:sp>
      <p:sp>
        <p:nvSpPr>
          <p:cNvPr id="16" name="Text 14"/>
          <p:cNvSpPr txBox="1"/>
          <p:nvPr/>
        </p:nvSpPr>
        <p:spPr>
          <a:xfrm>
            <a:off x="9235440" y="6309360"/>
            <a:ext cx="6858000" cy="548640"/>
          </a:xfrm>
          <a:prstGeom prst="rect">
            <a:avLst/>
          </a:prstGeom>
          <a:noFill/>
          <a:ln/>
        </p:spPr>
        <p:txBody>
          <a:bodyPr wrap="square" lIns="0" tIns="0" rIns="0" bIns="0" rtlCol="0" anchor="ctr"/>
          <a:lstStyle/>
          <a:p>
            <a:pPr marL="0" indent="0">
              <a:buNone/>
            </a:pPr>
            <a:r>
              <a:rPr lang="en-US" sz="2100" dirty="0">
                <a:solidFill>
                  <a:srgbClr val="232E54"/>
                </a:solidFill>
                <a:latin typeface="Bahnschrift SemiBold" pitchFamily="34" charset="0"/>
                <a:ea typeface="Bahnschrift SemiBold" pitchFamily="34" charset="-122"/>
                <a:cs typeface="Bahnschrift SemiBold" pitchFamily="34" charset="-120"/>
              </a:rPr>
              <a:t>Did you use AI to build it?</a:t>
            </a:r>
            <a:endParaRPr lang="en-US" sz="2100" dirty="0"/>
          </a:p>
        </p:txBody>
      </p:sp>
      <p:sp>
        <p:nvSpPr>
          <p:cNvPr id="17" name="Text 15"/>
          <p:cNvSpPr txBox="1"/>
          <p:nvPr/>
        </p:nvSpPr>
        <p:spPr>
          <a:xfrm>
            <a:off x="9235440" y="6931152"/>
            <a:ext cx="6858000" cy="914400"/>
          </a:xfrm>
          <a:prstGeom prst="rect">
            <a:avLst/>
          </a:prstGeom>
          <a:noFill/>
          <a:ln/>
        </p:spPr>
        <p:txBody>
          <a:bodyPr wrap="square" lIns="0" tIns="0" rIns="0" bIns="0" rtlCol="0" anchor="ctr"/>
          <a:lstStyle/>
          <a:p>
            <a:pPr marL="0" indent="0">
              <a:lnSpc>
                <a:spcPct val="130000"/>
              </a:lnSpc>
              <a:buNone/>
            </a:pPr>
            <a:r>
              <a:rPr lang="en-US" sz="1600" dirty="0">
                <a:solidFill>
                  <a:srgbClr val="6E7788"/>
                </a:solidFill>
                <a:latin typeface="Calibri" pitchFamily="34" charset="0"/>
                <a:ea typeface="Calibri" pitchFamily="34" charset="-122"/>
                <a:cs typeface="Calibri" pitchFamily="34" charset="-120"/>
              </a:rPr>
              <a:t>Yes, the rules allow it. The architecture is mine and I can explain any line.</a:t>
            </a:r>
            <a:endParaRPr lang="en-US" sz="1600" dirty="0"/>
          </a:p>
        </p:txBody>
      </p:sp>
      <p:sp>
        <p:nvSpPr>
          <p:cNvPr id="18" name="Shape 16"/>
          <p:cNvSpPr/>
          <p:nvPr/>
        </p:nvSpPr>
        <p:spPr>
          <a:xfrm>
            <a:off x="1280160" y="9189720"/>
            <a:ext cx="15727680" cy="0"/>
          </a:xfrm>
          <a:prstGeom prst="line">
            <a:avLst/>
          </a:prstGeom>
          <a:noFill/>
          <a:ln w="12700">
            <a:solidFill>
              <a:srgbClr val="D9D9D9"/>
            </a:solidFill>
            <a:prstDash val="solid"/>
          </a:ln>
        </p:spPr>
        <p:txBody>
          <a:bodyPr/>
          <a:lstStyle/>
          <a:p>
            <a:endParaRPr lang="en-US"/>
          </a:p>
        </p:txBody>
      </p:sp>
      <p:sp>
        <p:nvSpPr>
          <p:cNvPr id="19" name="Text 17"/>
          <p:cNvSpPr txBox="1"/>
          <p:nvPr/>
        </p:nvSpPr>
        <p:spPr>
          <a:xfrm>
            <a:off x="1280160" y="9372600"/>
            <a:ext cx="8138160" cy="411480"/>
          </a:xfrm>
          <a:prstGeom prst="rect">
            <a:avLst/>
          </a:prstGeom>
          <a:noFill/>
          <a:ln/>
        </p:spPr>
        <p:txBody>
          <a:bodyPr wrap="square" lIns="0" tIns="0" rIns="0" bIns="0" rtlCol="0" anchor="ctr"/>
          <a:lstStyle/>
          <a:p>
            <a:pPr marL="0" indent="0">
              <a:buNone/>
            </a:pPr>
            <a:r>
              <a:rPr lang="en-US" sz="1400" b="1" kern="0" spc="200" dirty="0">
                <a:solidFill>
                  <a:srgbClr val="6E7788"/>
                </a:solidFill>
                <a:latin typeface="Calibri" pitchFamily="34" charset="0"/>
                <a:ea typeface="Calibri" pitchFamily="34" charset="-122"/>
                <a:cs typeface="Calibri" pitchFamily="34" charset="-120"/>
              </a:rPr>
              <a:t>IN THE APP   </a:t>
            </a:r>
            <a:r>
              <a:rPr lang="en-US" sz="1400" dirty="0">
                <a:solidFill>
                  <a:srgbClr val="18212F"/>
                </a:solidFill>
                <a:latin typeface="Calibri" pitchFamily="34" charset="0"/>
                <a:ea typeface="Calibri" pitchFamily="34" charset="-122"/>
                <a:cs typeface="Calibri" pitchFamily="34" charset="-120"/>
              </a:rPr>
              <a:t>github.com/Aj-Networks/schwan_s</a:t>
            </a:r>
            <a:endParaRPr lang="en-US" sz="1400" dirty="0"/>
          </a:p>
        </p:txBody>
      </p:sp>
      <p:sp>
        <p:nvSpPr>
          <p:cNvPr id="20" name="Text 18"/>
          <p:cNvSpPr txBox="1"/>
          <p:nvPr/>
        </p:nvSpPr>
        <p:spPr>
          <a:xfrm>
            <a:off x="9418320" y="9372600"/>
            <a:ext cx="7589520" cy="411480"/>
          </a:xfrm>
          <a:prstGeom prst="rect">
            <a:avLst/>
          </a:prstGeom>
          <a:noFill/>
          <a:ln/>
        </p:spPr>
        <p:txBody>
          <a:bodyPr wrap="square" lIns="0" tIns="0" rIns="0" bIns="0" rtlCol="0" anchor="ctr"/>
          <a:lstStyle/>
          <a:p>
            <a:pPr marL="0" indent="0">
              <a:buNone/>
            </a:pPr>
            <a:r>
              <a:rPr lang="en-US" sz="1400" b="1" kern="0" spc="200" dirty="0">
                <a:solidFill>
                  <a:srgbClr val="6E7788"/>
                </a:solidFill>
                <a:latin typeface="Calibri" pitchFamily="34" charset="0"/>
                <a:ea typeface="Calibri" pitchFamily="34" charset="-122"/>
                <a:cs typeface="Calibri" pitchFamily="34" charset="-120"/>
              </a:rPr>
              <a:t>NUMBERS FROM   </a:t>
            </a:r>
            <a:r>
              <a:rPr lang="en-US" sz="1400" dirty="0">
                <a:solidFill>
                  <a:srgbClr val="18212F"/>
                </a:solidFill>
                <a:latin typeface="Calibri" pitchFamily="34" charset="0"/>
                <a:ea typeface="Calibri" pitchFamily="34" charset="-122"/>
                <a:cs typeface="Calibri" pitchFamily="34" charset="-120"/>
              </a:rPr>
              <a:t>Q&amp;A.html has the full sheet. FACTS.md has every source.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60339-09A9-071D-84C8-E7B7FC4AE87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C43EB58-73C4-49BB-2165-5FDBF41F33C9}"/>
              </a:ext>
            </a:extLst>
          </p:cNvPr>
          <p:cNvSpPr/>
          <p:nvPr/>
        </p:nvSpPr>
        <p:spPr>
          <a:xfrm>
            <a:off x="0" y="0"/>
            <a:ext cx="18288000" cy="10287000"/>
          </a:xfrm>
          <a:prstGeom prst="rect">
            <a:avLst/>
          </a:prstGeom>
          <a:solidFill>
            <a:srgbClr val="232E54"/>
          </a:solidFill>
          <a:ln w="12700">
            <a:solidFill>
              <a:srgbClr val="232E54"/>
            </a:solidFill>
            <a:prstDash val="solid"/>
          </a:ln>
        </p:spPr>
        <p:txBody>
          <a:bodyPr/>
          <a:lstStyle/>
          <a:p>
            <a:endParaRPr lang="en-US"/>
          </a:p>
        </p:txBody>
      </p:sp>
      <p:sp>
        <p:nvSpPr>
          <p:cNvPr id="3" name="Shape 1">
            <a:extLst>
              <a:ext uri="{FF2B5EF4-FFF2-40B4-BE49-F238E27FC236}">
                <a16:creationId xmlns:a16="http://schemas.microsoft.com/office/drawing/2014/main" id="{A5A59A27-37FF-EF7F-1034-410C72E39F0D}"/>
              </a:ext>
            </a:extLst>
          </p:cNvPr>
          <p:cNvSpPr/>
          <p:nvPr/>
        </p:nvSpPr>
        <p:spPr>
          <a:xfrm>
            <a:off x="0" y="9182636"/>
            <a:ext cx="18288000" cy="1104363"/>
          </a:xfrm>
          <a:prstGeom prst="rect">
            <a:avLst/>
          </a:prstGeom>
          <a:solidFill>
            <a:srgbClr val="324070"/>
          </a:solidFill>
          <a:ln w="12700">
            <a:solidFill>
              <a:srgbClr val="324070"/>
            </a:solidFill>
            <a:prstDash val="solid"/>
          </a:ln>
        </p:spPr>
        <p:txBody>
          <a:bodyPr/>
          <a:lstStyle/>
          <a:p>
            <a:endParaRPr lang="en-US"/>
          </a:p>
        </p:txBody>
      </p:sp>
      <p:sp>
        <p:nvSpPr>
          <p:cNvPr id="4" name="Text 2">
            <a:extLst>
              <a:ext uri="{FF2B5EF4-FFF2-40B4-BE49-F238E27FC236}">
                <a16:creationId xmlns:a16="http://schemas.microsoft.com/office/drawing/2014/main" id="{97698546-F9C7-F70D-7750-1BC89EEA285A}"/>
              </a:ext>
            </a:extLst>
          </p:cNvPr>
          <p:cNvSpPr txBox="1"/>
          <p:nvPr/>
        </p:nvSpPr>
        <p:spPr>
          <a:xfrm>
            <a:off x="4937760" y="3297314"/>
            <a:ext cx="8412480" cy="2103120"/>
          </a:xfrm>
          <a:prstGeom prst="rect">
            <a:avLst/>
          </a:prstGeom>
          <a:noFill/>
          <a:ln/>
        </p:spPr>
        <p:txBody>
          <a:bodyPr wrap="square" lIns="0" tIns="0" rIns="0" bIns="0" rtlCol="0" anchor="ctr"/>
          <a:lstStyle/>
          <a:p>
            <a:pPr marL="0" indent="0" algn="ctr">
              <a:lnSpc>
                <a:spcPct val="90000"/>
              </a:lnSpc>
              <a:buNone/>
            </a:pPr>
            <a:r>
              <a:rPr lang="en-US" sz="11600" dirty="0">
                <a:solidFill>
                  <a:srgbClr val="FFFFFF"/>
                </a:solidFill>
                <a:latin typeface="Bahnschrift SemiBold" pitchFamily="34" charset="0"/>
                <a:ea typeface="Bahnschrift SemiBold" pitchFamily="34" charset="-122"/>
                <a:cs typeface="Bahnschrift SemiBold" pitchFamily="34" charset="-120"/>
              </a:rPr>
              <a:t>THANK YOU</a:t>
            </a:r>
            <a:endParaRPr lang="en-US" sz="11600" dirty="0"/>
          </a:p>
        </p:txBody>
      </p:sp>
      <p:sp>
        <p:nvSpPr>
          <p:cNvPr id="5" name="Shape 3">
            <a:extLst>
              <a:ext uri="{FF2B5EF4-FFF2-40B4-BE49-F238E27FC236}">
                <a16:creationId xmlns:a16="http://schemas.microsoft.com/office/drawing/2014/main" id="{81F81FF6-8524-41E0-7F88-84371AA2DFAF}"/>
              </a:ext>
            </a:extLst>
          </p:cNvPr>
          <p:cNvSpPr/>
          <p:nvPr/>
        </p:nvSpPr>
        <p:spPr>
          <a:xfrm>
            <a:off x="2446986" y="5356322"/>
            <a:ext cx="13084935" cy="0"/>
          </a:xfrm>
          <a:prstGeom prst="line">
            <a:avLst/>
          </a:prstGeom>
          <a:noFill/>
          <a:ln w="25400">
            <a:solidFill>
              <a:srgbClr val="44528A"/>
            </a:solidFill>
            <a:prstDash val="solid"/>
          </a:ln>
        </p:spPr>
        <p:txBody>
          <a:bodyPr/>
          <a:lstStyle/>
          <a:p>
            <a:endParaRPr lang="en-US"/>
          </a:p>
        </p:txBody>
      </p:sp>
      <p:sp>
        <p:nvSpPr>
          <p:cNvPr id="6" name="Text 4">
            <a:extLst>
              <a:ext uri="{FF2B5EF4-FFF2-40B4-BE49-F238E27FC236}">
                <a16:creationId xmlns:a16="http://schemas.microsoft.com/office/drawing/2014/main" id="{64BCBE2E-6BB5-E28D-A70E-28237DDEA8CD}"/>
              </a:ext>
            </a:extLst>
          </p:cNvPr>
          <p:cNvSpPr txBox="1"/>
          <p:nvPr/>
        </p:nvSpPr>
        <p:spPr>
          <a:xfrm>
            <a:off x="5638370" y="5727556"/>
            <a:ext cx="7011259" cy="548640"/>
          </a:xfrm>
          <a:prstGeom prst="rect">
            <a:avLst/>
          </a:prstGeom>
          <a:noFill/>
          <a:ln/>
        </p:spPr>
        <p:txBody>
          <a:bodyPr wrap="square" lIns="0" tIns="0" rIns="0" bIns="0" rtlCol="0" anchor="ctr"/>
          <a:lstStyle/>
          <a:p>
            <a:pPr marL="0" indent="0">
              <a:buNone/>
            </a:pPr>
            <a:r>
              <a:rPr lang="en-US" sz="2000" b="1" kern="0" spc="600" dirty="0">
                <a:solidFill>
                  <a:srgbClr val="FFFFFF"/>
                </a:solidFill>
                <a:latin typeface="Calibri" pitchFamily="34" charset="0"/>
                <a:ea typeface="Calibri" pitchFamily="34" charset="-122"/>
                <a:cs typeface="Calibri" pitchFamily="34" charset="-120"/>
              </a:rPr>
              <a:t>I am happy to answer any questions</a:t>
            </a:r>
            <a:endParaRPr lang="en-US" sz="2000" dirty="0"/>
          </a:p>
        </p:txBody>
      </p:sp>
      <p:sp>
        <p:nvSpPr>
          <p:cNvPr id="12" name="Text 10">
            <a:extLst>
              <a:ext uri="{FF2B5EF4-FFF2-40B4-BE49-F238E27FC236}">
                <a16:creationId xmlns:a16="http://schemas.microsoft.com/office/drawing/2014/main" id="{E0FD87FF-FAA9-33A1-3962-112A150ABC9A}"/>
              </a:ext>
            </a:extLst>
          </p:cNvPr>
          <p:cNvSpPr txBox="1"/>
          <p:nvPr/>
        </p:nvSpPr>
        <p:spPr>
          <a:xfrm>
            <a:off x="1280160" y="9594117"/>
            <a:ext cx="5674432" cy="365760"/>
          </a:xfrm>
          <a:prstGeom prst="rect">
            <a:avLst/>
          </a:prstGeom>
          <a:noFill/>
          <a:ln/>
        </p:spPr>
        <p:txBody>
          <a:bodyPr wrap="square" lIns="0" tIns="0" rIns="0" bIns="0" rtlCol="0" anchor="ctr"/>
          <a:lstStyle/>
          <a:p>
            <a:pPr marL="0" indent="0">
              <a:buNone/>
            </a:pPr>
            <a:r>
              <a:rPr lang="en-US" sz="1300" b="1" kern="0" spc="300" dirty="0">
                <a:solidFill>
                  <a:srgbClr val="8E98AE"/>
                </a:solidFill>
                <a:latin typeface="Calibri" pitchFamily="34" charset="0"/>
                <a:ea typeface="Calibri" pitchFamily="34" charset="-122"/>
                <a:cs typeface="Calibri" pitchFamily="34" charset="-120"/>
              </a:rPr>
              <a:t>SOUTHWEST MN HACKS 2026  ·  SCHWAN'S PROMPT 01</a:t>
            </a:r>
            <a:endParaRPr lang="en-US" sz="1300" dirty="0"/>
          </a:p>
        </p:txBody>
      </p:sp>
    </p:spTree>
    <p:extLst>
      <p:ext uri="{BB962C8B-B14F-4D97-AF65-F5344CB8AC3E}">
        <p14:creationId xmlns:p14="http://schemas.microsoft.com/office/powerpoint/2010/main" val="35779026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1440</Words>
  <Application>Microsoft Office PowerPoint</Application>
  <PresentationFormat>Custom</PresentationFormat>
  <Paragraphs>129</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Bahnschrift Light</vt:lpstr>
      <vt:lpstr>Bahnschrift SemiBold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SkillSight</dc:title>
  <dc:subject>PptxGenJS Presentation</dc:subject>
  <dc:creator>Ajay Angdembe</dc:creator>
  <cp:lastModifiedBy>Mr Aj</cp:lastModifiedBy>
  <cp:revision>1</cp:revision>
  <dcterms:created xsi:type="dcterms:W3CDTF">2026-09-13T06:28:10Z</dcterms:created>
  <dcterms:modified xsi:type="dcterms:W3CDTF">2026-09-13T06:33:14Z</dcterms:modified>
</cp:coreProperties>
</file>